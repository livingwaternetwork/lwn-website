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1811000" cy="12001500"/>
  <p:notesSz cx="12001500" cy="11811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11000" cy="8153400"/>
          </a:xfrm>
          <a:prstGeom prst="roundRect">
            <a:avLst>
              <a:gd name="adj" fmla="val 584"/>
            </a:avLst>
          </a:prstGeom>
          <a:gradFill rotWithShape="1">
            <a:gsLst>
              <a:gs pos="0">
                <a:srgbClr val="0E3A60">
                  <a:alpha val="100000"/>
                </a:srgbClr>
              </a:gs>
              <a:gs pos="52000">
                <a:srgbClr val="0A2A47">
                  <a:alpha val="100000"/>
                </a:srgbClr>
              </a:gs>
              <a:gs pos="100000">
                <a:srgbClr val="071E33">
                  <a:alpha val="100000"/>
                </a:srgbClr>
              </a:gs>
            </a:gsLst>
            <a:path path="circle">
              <a:fillToRect l="50000" t="18000" r="50000" b="82000"/>
            </a:path>
          </a:gradFill>
          <a:ln/>
          <a:effectLst>
            <a:outerShdw sx="100000" sy="100000" kx="0" ky="0" algn="bl" rotWithShape="0" blurRad="666750" dist="285750" dir="5400000">
              <a:srgbClr val="071E33">
                <a:alpha val="6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11811000" cy="8153400"/>
          </a:xfrm>
          <a:prstGeom prst="rect">
            <a:avLst/>
          </a:prstGeom>
          <a:gradFill rotWithShape="1">
            <a:gsLst>
              <a:gs pos="0">
                <a:srgbClr val="1FA6D6">
                  <a:alpha val="20000"/>
                </a:srgbClr>
              </a:gs>
              <a:gs pos="70000">
                <a:srgbClr val="1FA6D6">
                  <a:alpha val="0"/>
                </a:srgbClr>
              </a:gs>
            </a:gsLst>
            <a:path path="circle">
              <a:fillToRect l="50000" t="88000" r="50000" b="12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533400" y="438150"/>
            <a:ext cx="192065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306" kern="0" dirty="0">
                <a:solidFill>
                  <a:srgbClr val="7CC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GUIDELINES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38630" y="438150"/>
            <a:ext cx="180286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306" kern="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EDITION 01 ·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600" y="1632198"/>
            <a:ext cx="3733800" cy="28099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35624" y="4689797"/>
            <a:ext cx="4739677" cy="593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4650" b="1" spc="9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WATER</a:t>
            </a:r>
            <a:endParaRPr lang="en-US" sz="4650" dirty="0"/>
          </a:p>
        </p:txBody>
      </p:sp>
      <p:sp>
        <p:nvSpPr>
          <p:cNvPr id="8" name="Text 5"/>
          <p:cNvSpPr/>
          <p:nvPr/>
        </p:nvSpPr>
        <p:spPr>
          <a:xfrm>
            <a:off x="4815085" y="5378202"/>
            <a:ext cx="23045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spc="975" kern="0" dirty="0">
                <a:solidFill>
                  <a:srgbClr val="7CC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3158490" y="5978277"/>
            <a:ext cx="549402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i="1" dirty="0">
                <a:solidFill>
                  <a:srgbClr val="FFFFFF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Equipping Kingdom leaders to disrupt darkness and disciple nations.</a:t>
            </a:r>
            <a:endParaRPr lang="en-US" sz="1725" dirty="0"/>
          </a:p>
        </p:txBody>
      </p:sp>
      <p:sp>
        <p:nvSpPr>
          <p:cNvPr id="10" name="Text 7"/>
          <p:cNvSpPr/>
          <p:nvPr/>
        </p:nvSpPr>
        <p:spPr>
          <a:xfrm>
            <a:off x="3349228" y="7553325"/>
            <a:ext cx="562379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spc="215" kern="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IDENTITY · LOGO · COLOR · TYPE · APPLICATIONS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11000" cy="8153400"/>
          </a:xfrm>
          <a:prstGeom prst="roundRect">
            <a:avLst>
              <a:gd name="adj" fmla="val 584"/>
            </a:avLst>
          </a:prstGeom>
          <a:ln w="9525">
            <a:solidFill>
              <a:srgbClr val="0A2A47">
                <a:alpha val="7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0A2A47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85825" y="809625"/>
            <a:ext cx="25360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56" kern="0" dirty="0">
                <a:solidFill>
                  <a:srgbClr val="0A7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1196578" y="866775"/>
            <a:ext cx="342900" cy="9525"/>
          </a:xfrm>
          <a:prstGeom prst="rect">
            <a:avLst/>
          </a:prstGeom>
          <a:solidFill>
            <a:srgbClr val="0A77BC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2828" y="809625"/>
            <a:ext cx="105303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215" kern="0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STORY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885825" y="1803202"/>
            <a:ext cx="5057902" cy="1437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spc="-81" kern="0" dirty="0">
                <a:solidFill>
                  <a:srgbClr val="0A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Rivers of living water.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885825" y="3487936"/>
            <a:ext cx="28575" cy="945282"/>
          </a:xfrm>
          <a:prstGeom prst="rect">
            <a:avLst/>
          </a:prstGeom>
          <a:solidFill>
            <a:srgbClr val="1FA6D6"/>
          </a:solidFill>
          <a:ln/>
        </p:spPr>
      </p:sp>
      <p:sp>
        <p:nvSpPr>
          <p:cNvPr id="8" name="Text 6"/>
          <p:cNvSpPr/>
          <p:nvPr/>
        </p:nvSpPr>
        <p:spPr>
          <a:xfrm>
            <a:off x="1123950" y="3526036"/>
            <a:ext cx="4611972" cy="576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i="1" dirty="0">
                <a:solidFill>
                  <a:srgbClr val="0A77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“Whoever believes in me, as the Scripture has said, rivers of living water will flow from within them.”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123950" y="4241304"/>
            <a:ext cx="5139705" cy="230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b="1" spc="176" kern="0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7:38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85825" y="4699918"/>
            <a:ext cx="5057902" cy="888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75" dirty="0">
                <a:solidFill>
                  <a:srgbClr val="44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our world is made of water — yet almost none of it is clean enough to drink, or to live on. Our planet thirsts in the middle of an ocean. So does the human heart.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885825" y="5721474"/>
            <a:ext cx="5057902" cy="117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75" dirty="0">
                <a:solidFill>
                  <a:srgbClr val="44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Water Network exists for that thirst. As leaders walk with us, they are immersed in the true water of Jesus — and sent back out as rivers themselves, carrying life to the people and places around them.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6482209" y="1662113"/>
            <a:ext cx="4442892" cy="5334000"/>
          </a:xfrm>
          <a:prstGeom prst="roundRect">
            <a:avLst>
              <a:gd name="adj" fmla="val 858"/>
            </a:avLst>
          </a:prstGeom>
          <a:gradFill rotWithShape="1">
            <a:gsLst>
              <a:gs pos="0">
                <a:srgbClr val="0E3A60">
                  <a:alpha val="100000"/>
                </a:srgbClr>
              </a:gs>
              <a:gs pos="60000">
                <a:srgbClr val="0A2A47">
                  <a:alpha val="100000"/>
                </a:srgbClr>
              </a:gs>
              <a:gs pos="100000">
                <a:srgbClr val="071E33">
                  <a:alpha val="100000"/>
                </a:srgbClr>
              </a:gs>
            </a:gsLst>
            <a:path path="circle">
              <a:fillToRect l="50000" t="22000" r="50000" b="78000"/>
            </a:path>
          </a:gradFill>
          <a:ln/>
        </p:spPr>
      </p:sp>
      <p:sp>
        <p:nvSpPr>
          <p:cNvPr id="13" name="Shape 11"/>
          <p:cNvSpPr/>
          <p:nvPr/>
        </p:nvSpPr>
        <p:spPr>
          <a:xfrm>
            <a:off x="6482209" y="1662113"/>
            <a:ext cx="4442892" cy="5334000"/>
          </a:xfrm>
          <a:prstGeom prst="rect">
            <a:avLst/>
          </a:prstGeom>
          <a:gradFill rotWithShape="1">
            <a:gsLst>
              <a:gs pos="0">
                <a:srgbClr val="1FA6D6">
                  <a:alpha val="22000"/>
                </a:srgbClr>
              </a:gs>
              <a:gs pos="70000">
                <a:srgbClr val="1FA6D6">
                  <a:alpha val="0"/>
                </a:srgbClr>
              </a:gs>
            </a:gsLst>
            <a:path path="circle">
              <a:fillToRect l="50000" t="84000" r="50000" b="16000"/>
            </a:path>
          </a:gra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1993" y="3146375"/>
            <a:ext cx="3143250" cy="23654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11000" cy="8153400"/>
          </a:xfrm>
          <a:prstGeom prst="roundRect">
            <a:avLst>
              <a:gd name="adj" fmla="val 584"/>
            </a:avLst>
          </a:prstGeom>
          <a:ln/>
          <a:effectLst>
            <a:outerShdw sx="100000" sy="100000" kx="0" ky="0" algn="bl" rotWithShape="0" blurRad="571500" dist="228600" dir="5400000">
              <a:srgbClr val="0A2A47">
                <a:alpha val="5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382000" y="-1143000"/>
            <a:ext cx="4953000" cy="4953000"/>
          </a:xfrm>
          <a:prstGeom prst="ellipse">
            <a:avLst/>
          </a:prstGeom>
          <a:gradFill rotWithShape="1">
            <a:gsLst>
              <a:gs pos="0">
                <a:srgbClr val="1FA6D6">
                  <a:alpha val="18000"/>
                </a:srgbClr>
              </a:gs>
              <a:gs pos="65000">
                <a:srgbClr val="1FA6D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876300" y="800100"/>
            <a:ext cx="25360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56" kern="0" dirty="0">
                <a:solidFill>
                  <a:srgbClr val="7CC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1187053" y="857250"/>
            <a:ext cx="342900" cy="9525"/>
          </a:xfrm>
          <a:prstGeom prst="rect">
            <a:avLst/>
          </a:prstGeom>
          <a:solidFill>
            <a:srgbClr val="7CCBE6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63303" y="800100"/>
            <a:ext cx="190698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215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&amp; MANDATE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876300" y="1304925"/>
            <a:ext cx="8633460" cy="2281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50" spc="-34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impact </a:t>
            </a:r>
            <a:pPr algn="l" indent="0" marL="0">
              <a:lnSpc>
                <a:spcPct val="128000"/>
              </a:lnSpc>
              <a:buNone/>
            </a:pPr>
            <a:r>
              <a:rPr lang="en-US" sz="3450" spc="-34" kern="0" dirty="0">
                <a:solidFill>
                  <a:srgbClr val="1FA6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100,000 Kingdom leaders </a:t>
            </a:r>
            <a:pPr algn="l" indent="0" marL="0">
              <a:lnSpc>
                <a:spcPct val="128000"/>
              </a:lnSpc>
              <a:buNone/>
            </a:pPr>
            <a:r>
              <a:rPr lang="en-US" sz="3450" spc="-34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 the next five years through transformative spiritual formation, intentional discipleship, and leadership development.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876300" y="4081463"/>
            <a:ext cx="519684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215" kern="0" dirty="0">
                <a:solidFill>
                  <a:srgbClr val="7CC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SERVE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76300" y="4414838"/>
            <a:ext cx="4866132" cy="863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75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called to lead with purpose and integrity — emerging pastors, lay leaders, high-capacity church volunteers, and marketplace influencers, in ministry and the marketplace alike.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6210300" y="4081463"/>
            <a:ext cx="519684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215" kern="0" dirty="0">
                <a:solidFill>
                  <a:srgbClr val="7CC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DO IT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6210300" y="4505325"/>
            <a:ext cx="57150" cy="57150"/>
          </a:xfrm>
          <a:prstGeom prst="ellipse">
            <a:avLst/>
          </a:prstGeom>
          <a:solidFill>
            <a:srgbClr val="C05A1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4429125"/>
            <a:ext cx="209297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Immersive leadership cohorts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0300" y="4857750"/>
            <a:ext cx="57150" cy="57150"/>
          </a:xfrm>
          <a:prstGeom prst="ellipse">
            <a:avLst/>
          </a:prstGeom>
          <a:solidFill>
            <a:srgbClr val="C05A1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4781550"/>
            <a:ext cx="264001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counseling &amp; restoration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0300" y="5210175"/>
            <a:ext cx="57150" cy="57150"/>
          </a:xfrm>
          <a:prstGeom prst="ellipse">
            <a:avLst/>
          </a:prstGeom>
          <a:solidFill>
            <a:srgbClr val="C05A1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5133975"/>
            <a:ext cx="15586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mentorships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0300" y="5562600"/>
            <a:ext cx="57150" cy="57150"/>
          </a:xfrm>
          <a:prstGeom prst="ellipse">
            <a:avLst/>
          </a:prstGeom>
          <a:solidFill>
            <a:srgbClr val="C05A1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5486400"/>
            <a:ext cx="206975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speaking engagements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0300" y="5915025"/>
            <a:ext cx="57150" cy="57150"/>
          </a:xfrm>
          <a:prstGeom prst="ellipse">
            <a:avLst/>
          </a:prstGeom>
          <a:solidFill>
            <a:srgbClr val="C05A1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5838825"/>
            <a:ext cx="183862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mission trips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6300" y="6865739"/>
            <a:ext cx="7456170" cy="52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return to their communities restored, equipped, and inspired — ready to spark meaningful change and deepen global Kingdom impact.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11000" cy="8153400"/>
          </a:xfrm>
          <a:prstGeom prst="roundRect">
            <a:avLst>
              <a:gd name="adj" fmla="val 584"/>
            </a:avLst>
          </a:prstGeom>
          <a:ln w="9525">
            <a:solidFill>
              <a:srgbClr val="0A2A47">
                <a:alpha val="7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0A2A47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85825" y="809625"/>
            <a:ext cx="25360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56" kern="0" dirty="0">
                <a:solidFill>
                  <a:srgbClr val="0A7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1196578" y="866775"/>
            <a:ext cx="342900" cy="9525"/>
          </a:xfrm>
          <a:prstGeom prst="rect">
            <a:avLst/>
          </a:prstGeom>
          <a:solidFill>
            <a:srgbClr val="0A77BC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2828" y="809625"/>
            <a:ext cx="197779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215" kern="0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PERSONALITY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885825" y="1314450"/>
            <a:ext cx="1104328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750" spc="-37" kern="0" dirty="0">
                <a:solidFill>
                  <a:srgbClr val="0A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words we live by.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885825" y="1971675"/>
            <a:ext cx="5886450" cy="5886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75" dirty="0">
                <a:solidFill>
                  <a:srgbClr val="44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word we write and every room we lead should feel like these. They are the tone of the network.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885825" y="2998440"/>
            <a:ext cx="10039350" cy="9525"/>
          </a:xfrm>
          <a:prstGeom prst="rect">
            <a:avLst/>
          </a:prstGeom>
          <a:solidFill>
            <a:srgbClr val="0A2A47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85825" y="3865215"/>
            <a:ext cx="10039350" cy="9525"/>
          </a:xfrm>
          <a:prstGeom prst="rect">
            <a:avLst/>
          </a:prstGeom>
          <a:solidFill>
            <a:srgbClr val="0A2A47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85825" y="3255615"/>
            <a:ext cx="33528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A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Life-giving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4314825" y="3350865"/>
            <a:ext cx="7271385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restore and refresh. People leave any encounter with us more alive than they arrived.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5825" y="4731990"/>
            <a:ext cx="10039350" cy="9525"/>
          </a:xfrm>
          <a:prstGeom prst="rect">
            <a:avLst/>
          </a:prstGeom>
          <a:solidFill>
            <a:srgbClr val="0A2A47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85825" y="4122390"/>
            <a:ext cx="33528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A77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Transformational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4314825" y="4217640"/>
            <a:ext cx="7271385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aren't after information transfer. We are after deep, lasting change in character and calling.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5825" y="5598765"/>
            <a:ext cx="10039350" cy="9525"/>
          </a:xfrm>
          <a:prstGeom prst="rect">
            <a:avLst/>
          </a:prstGeom>
          <a:solidFill>
            <a:srgbClr val="0A2A47">
              <a:alpha val="1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85825" y="4989165"/>
            <a:ext cx="33528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1FA6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Catalytic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4314825" y="5084415"/>
            <a:ext cx="7271385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start movements. One restored leader becomes a river to thousands.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5825" y="6465540"/>
            <a:ext cx="10039350" cy="9525"/>
          </a:xfrm>
          <a:prstGeom prst="rect">
            <a:avLst/>
          </a:prstGeom>
          <a:solidFill>
            <a:srgbClr val="0A2A47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85825" y="5855940"/>
            <a:ext cx="33528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C05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Integral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4314825" y="5951190"/>
            <a:ext cx="7271385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Whole, undivided, and trustworthy. What we say in private holds up in public.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5825" y="7332315"/>
            <a:ext cx="10039350" cy="9525"/>
          </a:xfrm>
          <a:prstGeom prst="rect">
            <a:avLst/>
          </a:prstGeom>
          <a:solidFill>
            <a:srgbClr val="0A2A47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85825" y="6722715"/>
            <a:ext cx="33528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046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Honorable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4314825" y="6817965"/>
            <a:ext cx="7271385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carry people and their stories with dignity, respect, and grace.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11000" cy="8153400"/>
          </a:xfrm>
          <a:prstGeom prst="roundRect">
            <a:avLst>
              <a:gd name="adj" fmla="val 584"/>
            </a:avLst>
          </a:prstGeom>
          <a:ln w="9525">
            <a:solidFill>
              <a:srgbClr val="0A2A47">
                <a:alpha val="7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0A2A47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85825" y="809625"/>
            <a:ext cx="25360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56" kern="0" dirty="0">
                <a:solidFill>
                  <a:srgbClr val="0A7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1196578" y="866775"/>
            <a:ext cx="342900" cy="9525"/>
          </a:xfrm>
          <a:prstGeom prst="rect">
            <a:avLst/>
          </a:prstGeom>
          <a:solidFill>
            <a:srgbClr val="0A77BC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2828" y="809625"/>
            <a:ext cx="93404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215" kern="0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LOGO</a:t>
            </a:r>
            <a:endParaRPr lang="en-US" sz="975" dirty="0"/>
          </a:p>
        </p:txBody>
      </p:sp>
      <p:sp>
        <p:nvSpPr>
          <p:cNvPr id="6" name="Shape 4"/>
          <p:cNvSpPr/>
          <p:nvPr/>
        </p:nvSpPr>
        <p:spPr>
          <a:xfrm>
            <a:off x="885825" y="1652588"/>
            <a:ext cx="6000750" cy="5353050"/>
          </a:xfrm>
          <a:prstGeom prst="roundRect">
            <a:avLst>
              <a:gd name="adj" fmla="val 712"/>
            </a:avLst>
          </a:prstGeom>
          <a:solidFill>
            <a:srgbClr val="EAF1F6"/>
          </a:solidFill>
          <a:ln w="9525">
            <a:solidFill>
              <a:srgbClr val="0A2A47">
                <a:alpha val="8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700" y="2233613"/>
            <a:ext cx="4191000" cy="4191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6175" y="2553742"/>
            <a:ext cx="37719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0A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primary lockup.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496175" y="3182392"/>
            <a:ext cx="3531870" cy="1074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44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globe rising out of living water, anchored by the wordmark. This is the preferred, full-color signature — use it whenever space and reproduction allow.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96175" y="4485233"/>
            <a:ext cx="3429000" cy="9525"/>
          </a:xfrm>
          <a:prstGeom prst="rect">
            <a:avLst/>
          </a:prstGeom>
          <a:solidFill>
            <a:srgbClr val="0A2A47">
              <a:alpha val="1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496175" y="4723358"/>
            <a:ext cx="37719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62" kern="0" dirty="0">
                <a:solidFill>
                  <a:srgbClr val="0A7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496175" y="4894808"/>
            <a:ext cx="353187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Globe mark stacked above the two-line wordmark, optically centered.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7496175" y="5490121"/>
            <a:ext cx="37719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62" kern="0" dirty="0">
                <a:solidFill>
                  <a:srgbClr val="0A7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496175" y="5661571"/>
            <a:ext cx="353187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the backdrop with the </a:t>
            </a:r>
            <a:pPr algn="l" indent="0" marL="0">
              <a:lnSpc>
                <a:spcPct val="155000"/>
              </a:lnSpc>
              <a:buNone/>
            </a:pPr>
            <a:r>
              <a:rPr lang="en-US" sz="1125" i="1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showcase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to test Light, Mist, and Dark.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11000" cy="11106150"/>
          </a:xfrm>
          <a:prstGeom prst="roundRect">
            <a:avLst>
              <a:gd name="adj" fmla="val 429"/>
            </a:avLst>
          </a:prstGeom>
          <a:ln w="9525">
            <a:solidFill>
              <a:srgbClr val="0A2A47">
                <a:alpha val="7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0A2A47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85825" y="809625"/>
            <a:ext cx="25360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56" kern="0" dirty="0">
                <a:solidFill>
                  <a:srgbClr val="0A7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1196578" y="866775"/>
            <a:ext cx="342900" cy="9525"/>
          </a:xfrm>
          <a:prstGeom prst="rect">
            <a:avLst/>
          </a:prstGeom>
          <a:solidFill>
            <a:srgbClr val="0A77BC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2828" y="809625"/>
            <a:ext cx="28508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215" kern="0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SYSTEM &amp; CLEAR SPACE</a:t>
            </a:r>
            <a:endParaRPr lang="en-US" sz="975" dirty="0"/>
          </a:p>
        </p:txBody>
      </p:sp>
      <p:sp>
        <p:nvSpPr>
          <p:cNvPr id="6" name="Shape 4"/>
          <p:cNvSpPr/>
          <p:nvPr/>
        </p:nvSpPr>
        <p:spPr>
          <a:xfrm>
            <a:off x="885825" y="1314450"/>
            <a:ext cx="4886325" cy="2362200"/>
          </a:xfrm>
          <a:prstGeom prst="roundRect">
            <a:avLst>
              <a:gd name="adj" fmla="val 1613"/>
            </a:avLst>
          </a:prstGeom>
          <a:solidFill>
            <a:srgbClr val="EAF1F6"/>
          </a:solidFill>
          <a:ln w="9525">
            <a:solidFill>
              <a:srgbClr val="0A2A47">
                <a:alpha val="8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3638" y="1481138"/>
            <a:ext cx="1790700" cy="1790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41774" y="3405188"/>
            <a:ext cx="151187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149" kern="0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· STACKED</a:t>
            </a:r>
            <a:endParaRPr lang="en-US" sz="825" dirty="0"/>
          </a:p>
        </p:txBody>
      </p:sp>
      <p:sp>
        <p:nvSpPr>
          <p:cNvPr id="9" name="Shape 6"/>
          <p:cNvSpPr/>
          <p:nvPr/>
        </p:nvSpPr>
        <p:spPr>
          <a:xfrm>
            <a:off x="6038850" y="1314450"/>
            <a:ext cx="4886325" cy="2362200"/>
          </a:xfrm>
          <a:prstGeom prst="roundRect">
            <a:avLst>
              <a:gd name="adj" fmla="val 1613"/>
            </a:avLst>
          </a:prstGeom>
          <a:solidFill>
            <a:srgbClr val="0A2A4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637" y="1829321"/>
            <a:ext cx="1428750" cy="107520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13836" y="3056930"/>
            <a:ext cx="168998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149" kern="0" dirty="0">
                <a:solidFill>
                  <a:srgbClr val="7CC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ONLY · ON DARK</a:t>
            </a:r>
            <a:endParaRPr lang="en-US" sz="825" dirty="0"/>
          </a:p>
        </p:txBody>
      </p:sp>
      <p:sp>
        <p:nvSpPr>
          <p:cNvPr id="12" name="Shape 8"/>
          <p:cNvSpPr/>
          <p:nvPr/>
        </p:nvSpPr>
        <p:spPr>
          <a:xfrm>
            <a:off x="885825" y="3943350"/>
            <a:ext cx="4886325" cy="198120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0A2A47">
                <a:alpha val="1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388" y="4356125"/>
            <a:ext cx="1219200" cy="9175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42654" y="5407000"/>
            <a:ext cx="172985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149" kern="0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ONLY · ON LIGHT</a:t>
            </a:r>
            <a:endParaRPr lang="en-US" sz="825" dirty="0"/>
          </a:p>
        </p:txBody>
      </p:sp>
      <p:sp>
        <p:nvSpPr>
          <p:cNvPr id="15" name="Shape 10"/>
          <p:cNvSpPr/>
          <p:nvPr/>
        </p:nvSpPr>
        <p:spPr>
          <a:xfrm>
            <a:off x="6038850" y="3943350"/>
            <a:ext cx="4886325" cy="1981200"/>
          </a:xfrm>
          <a:prstGeom prst="roundRect">
            <a:avLst>
              <a:gd name="adj" fmla="val 1923"/>
            </a:avLst>
          </a:prstGeom>
          <a:solidFill>
            <a:srgbClr val="0A77BC"/>
          </a:solidFill>
          <a:ln/>
        </p:spPr>
      </p:sp>
      <p:sp>
        <p:nvSpPr>
          <p:cNvPr id="16" name="Text 11"/>
          <p:cNvSpPr/>
          <p:nvPr/>
        </p:nvSpPr>
        <p:spPr>
          <a:xfrm>
            <a:off x="7564658" y="4602659"/>
            <a:ext cx="1834708" cy="252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800" b="1" spc="3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WATER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7612855" y="4884167"/>
            <a:ext cx="178651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spc="380" kern="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825" dirty="0"/>
          </a:p>
        </p:txBody>
      </p:sp>
      <p:sp>
        <p:nvSpPr>
          <p:cNvPr id="18" name="Text 13"/>
          <p:cNvSpPr/>
          <p:nvPr/>
        </p:nvSpPr>
        <p:spPr>
          <a:xfrm>
            <a:off x="7650807" y="5160392"/>
            <a:ext cx="182856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149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WORDMARK · REVERSED</a:t>
            </a:r>
            <a:endParaRPr lang="en-US" sz="825" dirty="0"/>
          </a:p>
        </p:txBody>
      </p:sp>
      <p:sp>
        <p:nvSpPr>
          <p:cNvPr id="19" name="Shape 14"/>
          <p:cNvSpPr/>
          <p:nvPr/>
        </p:nvSpPr>
        <p:spPr>
          <a:xfrm>
            <a:off x="885825" y="6191250"/>
            <a:ext cx="10039350" cy="9525"/>
          </a:xfrm>
          <a:prstGeom prst="rect">
            <a:avLst/>
          </a:prstGeom>
          <a:solidFill>
            <a:srgbClr val="0A2A47">
              <a:alpha val="1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885825" y="6486525"/>
            <a:ext cx="6038850" cy="3810000"/>
          </a:xfrm>
          <a:prstGeom prst="roundRect">
            <a:avLst>
              <a:gd name="adj" fmla="val 1000"/>
            </a:avLst>
          </a:prstGeom>
          <a:solidFill>
            <a:srgbClr val="EAF1F6"/>
          </a:solidFill>
          <a:ln/>
        </p:spPr>
      </p:sp>
      <p:sp>
        <p:nvSpPr>
          <p:cNvPr id="21" name="Shape 16"/>
          <p:cNvSpPr/>
          <p:nvPr/>
        </p:nvSpPr>
        <p:spPr>
          <a:xfrm>
            <a:off x="3800475" y="6915150"/>
            <a:ext cx="209550" cy="114300"/>
          </a:xfrm>
          <a:prstGeom prst="rect">
            <a:avLst/>
          </a:prstGeom>
          <a:solidFill>
            <a:srgbClr val="EAF1F6"/>
          </a:solidFill>
          <a:ln/>
        </p:spPr>
      </p:sp>
      <p:sp>
        <p:nvSpPr>
          <p:cNvPr id="22" name="Text 17"/>
          <p:cNvSpPr/>
          <p:nvPr/>
        </p:nvSpPr>
        <p:spPr>
          <a:xfrm>
            <a:off x="3876675" y="6915150"/>
            <a:ext cx="7810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A7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3800475" y="9753600"/>
            <a:ext cx="209550" cy="114300"/>
          </a:xfrm>
          <a:prstGeom prst="rect">
            <a:avLst/>
          </a:prstGeom>
          <a:solidFill>
            <a:srgbClr val="EAF1F6"/>
          </a:solidFill>
          <a:ln/>
        </p:spPr>
      </p:sp>
      <p:sp>
        <p:nvSpPr>
          <p:cNvPr id="24" name="Text 19"/>
          <p:cNvSpPr/>
          <p:nvPr/>
        </p:nvSpPr>
        <p:spPr>
          <a:xfrm>
            <a:off x="3876675" y="9753600"/>
            <a:ext cx="7810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A7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2428875" y="8296275"/>
            <a:ext cx="57150" cy="190500"/>
          </a:xfrm>
          <a:prstGeom prst="rect">
            <a:avLst/>
          </a:prstGeom>
          <a:solidFill>
            <a:srgbClr val="EAF1F6"/>
          </a:solidFill>
          <a:ln/>
        </p:spPr>
      </p:sp>
      <p:sp>
        <p:nvSpPr>
          <p:cNvPr id="26" name="Text 21"/>
          <p:cNvSpPr/>
          <p:nvPr/>
        </p:nvSpPr>
        <p:spPr>
          <a:xfrm>
            <a:off x="2428875" y="8334375"/>
            <a:ext cx="133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A7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5324475" y="8296275"/>
            <a:ext cx="57150" cy="190500"/>
          </a:xfrm>
          <a:prstGeom prst="rect">
            <a:avLst/>
          </a:prstGeom>
          <a:solidFill>
            <a:srgbClr val="EAF1F6"/>
          </a:solidFill>
          <a:ln/>
        </p:spPr>
      </p:sp>
      <p:sp>
        <p:nvSpPr>
          <p:cNvPr id="28" name="Text 23"/>
          <p:cNvSpPr/>
          <p:nvPr/>
        </p:nvSpPr>
        <p:spPr>
          <a:xfrm>
            <a:off x="5324475" y="8334375"/>
            <a:ext cx="133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A7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750" y="7439025"/>
            <a:ext cx="1905000" cy="19050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05675" y="7573566"/>
            <a:ext cx="3981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A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space &amp; minimum size</a:t>
            </a:r>
            <a:endParaRPr lang="en-US" sz="2100" dirty="0"/>
          </a:p>
        </p:txBody>
      </p:sp>
      <p:sp>
        <p:nvSpPr>
          <p:cNvPr id="31" name="Text 25"/>
          <p:cNvSpPr/>
          <p:nvPr/>
        </p:nvSpPr>
        <p:spPr>
          <a:xfrm>
            <a:off x="7305675" y="7973616"/>
            <a:ext cx="3728085" cy="745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 margin of at least </a:t>
            </a:r>
            <a:pPr algn="l" indent="0" marL="0">
              <a:lnSpc>
                <a:spcPct val="165000"/>
              </a:lnSpc>
              <a:buNone/>
            </a:pPr>
            <a:r>
              <a:rPr lang="en-US" sz="1125" b="1" dirty="0">
                <a:solidFill>
                  <a:srgbClr val="0A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</a:t>
            </a:r>
            <a:pPr algn="l"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all sides, where </a:t>
            </a:r>
            <a:pPr algn="l" indent="0" marL="0">
              <a:lnSpc>
                <a:spcPct val="165000"/>
              </a:lnSpc>
              <a:buNone/>
            </a:pPr>
            <a:r>
              <a:rPr lang="en-US" sz="1125" b="1" dirty="0">
                <a:solidFill>
                  <a:srgbClr val="0A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</a:t>
            </a:r>
            <a:pPr algn="l"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equals the height of the wordmark’s cap. Never let other elements cross this boundary.</a:t>
            </a:r>
            <a:endParaRPr lang="en-US" sz="1125" dirty="0"/>
          </a:p>
        </p:txBody>
      </p:sp>
      <p:sp>
        <p:nvSpPr>
          <p:cNvPr id="32" name="Text 26"/>
          <p:cNvSpPr/>
          <p:nvPr/>
        </p:nvSpPr>
        <p:spPr>
          <a:xfrm>
            <a:off x="7305675" y="8852297"/>
            <a:ext cx="106114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44" kern="0" dirty="0">
                <a:solidFill>
                  <a:srgbClr val="0A7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· DIGITAL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7305675" y="9023747"/>
            <a:ext cx="106114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px wide</a:t>
            </a:r>
            <a:endParaRPr lang="en-US" sz="1125" dirty="0"/>
          </a:p>
        </p:txBody>
      </p:sp>
      <p:sp>
        <p:nvSpPr>
          <p:cNvPr id="34" name="Text 28"/>
          <p:cNvSpPr/>
          <p:nvPr/>
        </p:nvSpPr>
        <p:spPr>
          <a:xfrm>
            <a:off x="8557320" y="8852297"/>
            <a:ext cx="93136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44" kern="0" dirty="0">
                <a:solidFill>
                  <a:srgbClr val="0A7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· PRINT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8557320" y="9023747"/>
            <a:ext cx="93136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/ 25 mm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11000" cy="6096000"/>
          </a:xfrm>
          <a:prstGeom prst="roundRect">
            <a:avLst>
              <a:gd name="adj" fmla="val 781"/>
            </a:avLst>
          </a:prstGeom>
          <a:ln w="9525">
            <a:solidFill>
              <a:srgbClr val="0A2A47">
                <a:alpha val="7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0A2A47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85825" y="809625"/>
            <a:ext cx="25360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56" kern="0" dirty="0">
                <a:solidFill>
                  <a:srgbClr val="C0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1196578" y="866775"/>
            <a:ext cx="342900" cy="9525"/>
          </a:xfrm>
          <a:prstGeom prst="rect">
            <a:avLst/>
          </a:prstGeom>
          <a:solidFill>
            <a:srgbClr val="C05A12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2828" y="809625"/>
            <a:ext cx="124286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215" kern="0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MISUSE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885825" y="1104900"/>
            <a:ext cx="6082665" cy="5886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75" dirty="0">
                <a:solidFill>
                  <a:srgbClr val="44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 earns trust through consistency. Protect it — never do any of the following.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885825" y="2036415"/>
            <a:ext cx="2338388" cy="1524000"/>
          </a:xfrm>
          <a:prstGeom prst="roundRect">
            <a:avLst>
              <a:gd name="adj" fmla="val 2500"/>
            </a:avLst>
          </a:prstGeom>
          <a:solidFill>
            <a:srgbClr val="EAF1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894" y="2369790"/>
            <a:ext cx="1238250" cy="8572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919413" y="2131665"/>
            <a:ext cx="209550" cy="209550"/>
          </a:xfrm>
          <a:prstGeom prst="ellipse">
            <a:avLst/>
          </a:prstGeom>
          <a:solidFill>
            <a:srgbClr val="C05A12"/>
          </a:solidFill>
          <a:ln/>
        </p:spPr>
      </p:sp>
      <p:sp>
        <p:nvSpPr>
          <p:cNvPr id="10" name="Text 7"/>
          <p:cNvSpPr/>
          <p:nvPr/>
        </p:nvSpPr>
        <p:spPr>
          <a:xfrm>
            <a:off x="2881313" y="2131665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7143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85825" y="3674715"/>
            <a:ext cx="2572226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stretch or distort.</a:t>
            </a:r>
            <a:endParaRPr lang="en-US" sz="975" dirty="0"/>
          </a:p>
        </p:txBody>
      </p:sp>
      <p:sp>
        <p:nvSpPr>
          <p:cNvPr id="12" name="Shape 9"/>
          <p:cNvSpPr/>
          <p:nvPr/>
        </p:nvSpPr>
        <p:spPr>
          <a:xfrm>
            <a:off x="3452813" y="2036415"/>
            <a:ext cx="2338388" cy="1524000"/>
          </a:xfrm>
          <a:prstGeom prst="roundRect">
            <a:avLst>
              <a:gd name="adj" fmla="val 2500"/>
            </a:avLst>
          </a:prstGeom>
          <a:solidFill>
            <a:srgbClr val="EAF1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506" y="2226915"/>
            <a:ext cx="1143000" cy="1143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0" y="2131665"/>
            <a:ext cx="209550" cy="209550"/>
          </a:xfrm>
          <a:prstGeom prst="ellipse">
            <a:avLst/>
          </a:prstGeom>
          <a:solidFill>
            <a:srgbClr val="C05A12"/>
          </a:solidFill>
          <a:ln/>
        </p:spPr>
      </p:sp>
      <p:sp>
        <p:nvSpPr>
          <p:cNvPr id="15" name="Text 11"/>
          <p:cNvSpPr/>
          <p:nvPr/>
        </p:nvSpPr>
        <p:spPr>
          <a:xfrm>
            <a:off x="5448300" y="2131665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7143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452813" y="3674715"/>
            <a:ext cx="2572226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recolor the mark.</a:t>
            </a:r>
            <a:endParaRPr lang="en-US" sz="975" dirty="0"/>
          </a:p>
        </p:txBody>
      </p:sp>
      <p:sp>
        <p:nvSpPr>
          <p:cNvPr id="17" name="Shape 13"/>
          <p:cNvSpPr/>
          <p:nvPr/>
        </p:nvSpPr>
        <p:spPr>
          <a:xfrm>
            <a:off x="6019800" y="2036415"/>
            <a:ext cx="2338388" cy="1524000"/>
          </a:xfrm>
          <a:prstGeom prst="roundRect">
            <a:avLst>
              <a:gd name="adj" fmla="val 2500"/>
            </a:avLst>
          </a:prstGeom>
          <a:solidFill>
            <a:srgbClr val="EAF1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840000">
            <a:off x="6617494" y="2226915"/>
            <a:ext cx="1143000" cy="11430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053387" y="2131665"/>
            <a:ext cx="209550" cy="209550"/>
          </a:xfrm>
          <a:prstGeom prst="ellipse">
            <a:avLst/>
          </a:prstGeom>
          <a:solidFill>
            <a:srgbClr val="C05A12"/>
          </a:solidFill>
          <a:ln/>
        </p:spPr>
      </p:sp>
      <p:sp>
        <p:nvSpPr>
          <p:cNvPr id="20" name="Text 15"/>
          <p:cNvSpPr/>
          <p:nvPr/>
        </p:nvSpPr>
        <p:spPr>
          <a:xfrm>
            <a:off x="8015288" y="2131665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7143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019800" y="3674715"/>
            <a:ext cx="2572226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rotate or tilt.</a:t>
            </a:r>
            <a:endParaRPr lang="en-US" sz="975" dirty="0"/>
          </a:p>
        </p:txBody>
      </p:sp>
      <p:sp>
        <p:nvSpPr>
          <p:cNvPr id="22" name="Shape 17"/>
          <p:cNvSpPr/>
          <p:nvPr/>
        </p:nvSpPr>
        <p:spPr>
          <a:xfrm>
            <a:off x="8586788" y="2036415"/>
            <a:ext cx="2338388" cy="1524000"/>
          </a:xfrm>
          <a:prstGeom prst="roundRect">
            <a:avLst>
              <a:gd name="adj" fmla="val 2500"/>
            </a:avLst>
          </a:prstGeom>
          <a:gradFill rotWithShape="1">
            <a:gsLst>
              <a:gs pos="0">
                <a:srgbClr val="C05A12">
                  <a:alpha val="100000"/>
                </a:srgbClr>
              </a:gs>
              <a:gs pos="100000">
                <a:srgbClr val="1FA6D6">
                  <a:alpha val="100000"/>
                </a:srgbClr>
              </a:gs>
            </a:gsLst>
            <a:lin ang="18900000" scaled="0"/>
          </a:gra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4481" y="2226915"/>
            <a:ext cx="1143000" cy="11430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10620375" y="2131665"/>
            <a:ext cx="209550" cy="209550"/>
          </a:xfrm>
          <a:prstGeom prst="ellipse">
            <a:avLst/>
          </a:prstGeom>
          <a:solidFill>
            <a:srgbClr val="0A2A47"/>
          </a:solidFill>
          <a:ln/>
        </p:spPr>
      </p:sp>
      <p:sp>
        <p:nvSpPr>
          <p:cNvPr id="25" name="Text 19"/>
          <p:cNvSpPr/>
          <p:nvPr/>
        </p:nvSpPr>
        <p:spPr>
          <a:xfrm>
            <a:off x="10582275" y="2131665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7143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8586788" y="3674715"/>
            <a:ext cx="2414588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place on busy or low-contrast backgrounds.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11000" cy="8366671"/>
          </a:xfrm>
          <a:prstGeom prst="roundRect">
            <a:avLst>
              <a:gd name="adj" fmla="val 569"/>
            </a:avLst>
          </a:prstGeom>
          <a:ln w="9525">
            <a:solidFill>
              <a:srgbClr val="0A2A47">
                <a:alpha val="7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0A2A47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85825" y="809625"/>
            <a:ext cx="25360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56" kern="0" dirty="0">
                <a:solidFill>
                  <a:srgbClr val="0A7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1196578" y="866775"/>
            <a:ext cx="342900" cy="9525"/>
          </a:xfrm>
          <a:prstGeom prst="rect">
            <a:avLst/>
          </a:prstGeom>
          <a:solidFill>
            <a:srgbClr val="0A77BC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2828" y="809625"/>
            <a:ext cx="150728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215" kern="0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PALETTE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885825" y="1314450"/>
            <a:ext cx="1104328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50" dirty="0">
                <a:solidFill>
                  <a:srgbClr val="0A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Drawn from the water.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885825" y="1943100"/>
            <a:ext cx="6082665" cy="5886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75" dirty="0">
                <a:solidFill>
                  <a:srgbClr val="44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hue is sampled directly from the logo — deep ocean blues for trust and depth, a copper current for warmth and humanity.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885825" y="2931765"/>
            <a:ext cx="1104328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80" kern="0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BLUES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85825" y="3217515"/>
            <a:ext cx="2381250" cy="1969740"/>
          </a:xfrm>
          <a:prstGeom prst="roundRect">
            <a:avLst>
              <a:gd name="adj" fmla="val 2418"/>
            </a:avLst>
          </a:prstGeom>
          <a:ln w="9525">
            <a:solidFill>
              <a:srgbClr val="0A2A47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5350" y="3227040"/>
            <a:ext cx="2362200" cy="1123950"/>
          </a:xfrm>
          <a:prstGeom prst="rect">
            <a:avLst/>
          </a:prstGeom>
          <a:solidFill>
            <a:srgbClr val="0A2A47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4484340"/>
            <a:ext cx="22631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A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Abyss Navy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047750" y="4646265"/>
            <a:ext cx="22631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82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#0A2A47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047750" y="4884390"/>
            <a:ext cx="226314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2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text, dark grounds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38525" y="3217515"/>
            <a:ext cx="2381250" cy="1969740"/>
          </a:xfrm>
          <a:prstGeom prst="roundRect">
            <a:avLst>
              <a:gd name="adj" fmla="val 2418"/>
            </a:avLst>
          </a:prstGeom>
          <a:ln w="9525">
            <a:solidFill>
              <a:srgbClr val="0A2A47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48050" y="3227040"/>
            <a:ext cx="2362200" cy="1123950"/>
          </a:xfrm>
          <a:prstGeom prst="rect">
            <a:avLst/>
          </a:prstGeom>
          <a:solidFill>
            <a:srgbClr val="00466F"/>
          </a:solidFill>
          <a:ln/>
        </p:spPr>
      </p:sp>
      <p:sp>
        <p:nvSpPr>
          <p:cNvPr id="16" name="Text 14"/>
          <p:cNvSpPr/>
          <p:nvPr/>
        </p:nvSpPr>
        <p:spPr>
          <a:xfrm>
            <a:off x="3600450" y="4484340"/>
            <a:ext cx="22631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A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Sea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3600450" y="4646265"/>
            <a:ext cx="22631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82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#00466F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600450" y="4884390"/>
            <a:ext cx="226314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2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blue, depth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91225" y="3217515"/>
            <a:ext cx="2381250" cy="1969740"/>
          </a:xfrm>
          <a:prstGeom prst="roundRect">
            <a:avLst>
              <a:gd name="adj" fmla="val 2418"/>
            </a:avLst>
          </a:prstGeom>
          <a:ln w="9525">
            <a:solidFill>
              <a:srgbClr val="0A2A47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00750" y="3227040"/>
            <a:ext cx="2362200" cy="1123950"/>
          </a:xfrm>
          <a:prstGeom prst="rect">
            <a:avLst/>
          </a:prstGeom>
          <a:solidFill>
            <a:srgbClr val="0A77BC"/>
          </a:solidFill>
          <a:ln/>
        </p:spPr>
      </p:sp>
      <p:sp>
        <p:nvSpPr>
          <p:cNvPr id="21" name="Text 19"/>
          <p:cNvSpPr/>
          <p:nvPr/>
        </p:nvSpPr>
        <p:spPr>
          <a:xfrm>
            <a:off x="6153150" y="4484340"/>
            <a:ext cx="22631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A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Blue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6153150" y="4646265"/>
            <a:ext cx="22631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82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#0A77BC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6153150" y="4884390"/>
            <a:ext cx="226314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2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brand · links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543925" y="3217515"/>
            <a:ext cx="2381250" cy="1969740"/>
          </a:xfrm>
          <a:prstGeom prst="roundRect">
            <a:avLst>
              <a:gd name="adj" fmla="val 2418"/>
            </a:avLst>
          </a:prstGeom>
          <a:ln w="9525">
            <a:solidFill>
              <a:srgbClr val="0A2A47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53450" y="3227040"/>
            <a:ext cx="2362200" cy="1123950"/>
          </a:xfrm>
          <a:prstGeom prst="rect">
            <a:avLst/>
          </a:prstGeom>
          <a:solidFill>
            <a:srgbClr val="1FA6D6"/>
          </a:solidFill>
          <a:ln/>
        </p:spPr>
      </p:sp>
      <p:sp>
        <p:nvSpPr>
          <p:cNvPr id="26" name="Text 24"/>
          <p:cNvSpPr/>
          <p:nvPr/>
        </p:nvSpPr>
        <p:spPr>
          <a:xfrm>
            <a:off x="8705850" y="4484340"/>
            <a:ext cx="22631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A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8705850" y="4646265"/>
            <a:ext cx="22631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82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#1FA6D6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8705850" y="4884390"/>
            <a:ext cx="226314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2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accent, highlights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85825" y="5473005"/>
            <a:ext cx="531209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80" kern="0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 &amp; TINT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85825" y="5758755"/>
            <a:ext cx="2328863" cy="1798290"/>
          </a:xfrm>
          <a:prstGeom prst="roundRect">
            <a:avLst>
              <a:gd name="adj" fmla="val 2648"/>
            </a:avLst>
          </a:prstGeom>
          <a:ln w="9525">
            <a:solidFill>
              <a:srgbClr val="0A2A47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5350" y="5768280"/>
            <a:ext cx="2309813" cy="952500"/>
          </a:xfrm>
          <a:prstGeom prst="rect">
            <a:avLst/>
          </a:prstGeom>
          <a:solidFill>
            <a:srgbClr val="C05A12"/>
          </a:solidFill>
          <a:ln/>
        </p:spPr>
      </p:sp>
      <p:sp>
        <p:nvSpPr>
          <p:cNvPr id="32" name="Text 30"/>
          <p:cNvSpPr/>
          <p:nvPr/>
        </p:nvSpPr>
        <p:spPr>
          <a:xfrm>
            <a:off x="1047750" y="6854130"/>
            <a:ext cx="220551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A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047750" y="7016055"/>
            <a:ext cx="220551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82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#C05A12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1047750" y="7254180"/>
            <a:ext cx="2205514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2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accent · sparingly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86138" y="5758755"/>
            <a:ext cx="2328863" cy="1798290"/>
          </a:xfrm>
          <a:prstGeom prst="roundRect">
            <a:avLst>
              <a:gd name="adj" fmla="val 2648"/>
            </a:avLst>
          </a:prstGeom>
          <a:ln w="9525">
            <a:solidFill>
              <a:srgbClr val="0A2A47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95663" y="5768280"/>
            <a:ext cx="2309813" cy="952500"/>
          </a:xfrm>
          <a:prstGeom prst="rect">
            <a:avLst/>
          </a:prstGeom>
          <a:solidFill>
            <a:srgbClr val="7CCBE6"/>
          </a:solidFill>
          <a:ln/>
        </p:spPr>
      </p:sp>
      <p:sp>
        <p:nvSpPr>
          <p:cNvPr id="37" name="Text 35"/>
          <p:cNvSpPr/>
          <p:nvPr/>
        </p:nvSpPr>
        <p:spPr>
          <a:xfrm>
            <a:off x="3548063" y="6854130"/>
            <a:ext cx="220551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A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3548063" y="7016055"/>
            <a:ext cx="220551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82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#7CCBE6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3548063" y="7254180"/>
            <a:ext cx="2205514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2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tint, subheads on dark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96000" y="5473005"/>
            <a:ext cx="531209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80" kern="0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96000" y="5758755"/>
            <a:ext cx="2328863" cy="1798290"/>
          </a:xfrm>
          <a:prstGeom prst="roundRect">
            <a:avLst>
              <a:gd name="adj" fmla="val 2648"/>
            </a:avLst>
          </a:prstGeom>
          <a:ln w="9525">
            <a:solidFill>
              <a:srgbClr val="0A2A47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05525" y="5768280"/>
            <a:ext cx="2309813" cy="952500"/>
          </a:xfrm>
          <a:prstGeom prst="rect">
            <a:avLst/>
          </a:prstGeom>
          <a:solidFill>
            <a:srgbClr val="EAF1F6"/>
          </a:solidFill>
          <a:ln/>
        </p:spPr>
      </p:sp>
      <p:sp>
        <p:nvSpPr>
          <p:cNvPr id="43" name="Text 41"/>
          <p:cNvSpPr/>
          <p:nvPr/>
        </p:nvSpPr>
        <p:spPr>
          <a:xfrm>
            <a:off x="6257925" y="6854130"/>
            <a:ext cx="220551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A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6257925" y="7016055"/>
            <a:ext cx="220551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82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#EAF1F6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6257925" y="7254180"/>
            <a:ext cx="2205514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2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backgrounds, panels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596313" y="5758755"/>
            <a:ext cx="2328863" cy="1798290"/>
          </a:xfrm>
          <a:prstGeom prst="roundRect">
            <a:avLst>
              <a:gd name="adj" fmla="val 2648"/>
            </a:avLst>
          </a:prstGeom>
          <a:ln w="9525">
            <a:solidFill>
              <a:srgbClr val="0A2A47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05838" y="5768280"/>
            <a:ext cx="2309813" cy="952500"/>
          </a:xfrm>
          <a:prstGeom prst="rect">
            <a:avLst/>
          </a:prstGeom>
          <a:solidFill>
            <a:srgbClr val="445563"/>
          </a:solidFill>
          <a:ln/>
        </p:spPr>
      </p:sp>
      <p:sp>
        <p:nvSpPr>
          <p:cNvPr id="48" name="Text 46"/>
          <p:cNvSpPr/>
          <p:nvPr/>
        </p:nvSpPr>
        <p:spPr>
          <a:xfrm>
            <a:off x="8758238" y="6854130"/>
            <a:ext cx="220551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A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Slate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8758238" y="7016055"/>
            <a:ext cx="220551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82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#445563</a:t>
            </a:r>
            <a:endParaRPr lang="en-US" sz="975" dirty="0"/>
          </a:p>
        </p:txBody>
      </p:sp>
      <p:sp>
        <p:nvSpPr>
          <p:cNvPr id="50" name="Text 48"/>
          <p:cNvSpPr/>
          <p:nvPr/>
        </p:nvSpPr>
        <p:spPr>
          <a:xfrm>
            <a:off x="8758238" y="7254180"/>
            <a:ext cx="2205514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2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copy on light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11000" cy="8153400"/>
          </a:xfrm>
          <a:prstGeom prst="roundRect">
            <a:avLst>
              <a:gd name="adj" fmla="val 584"/>
            </a:avLst>
          </a:prstGeom>
          <a:ln w="9525">
            <a:solidFill>
              <a:srgbClr val="0A2A47">
                <a:alpha val="7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0A2A47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85825" y="809625"/>
            <a:ext cx="25360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56" kern="0" dirty="0">
                <a:solidFill>
                  <a:srgbClr val="0A7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1196578" y="866775"/>
            <a:ext cx="342900" cy="9525"/>
          </a:xfrm>
          <a:prstGeom prst="rect">
            <a:avLst/>
          </a:prstGeom>
          <a:solidFill>
            <a:srgbClr val="0A77BC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2828" y="809625"/>
            <a:ext cx="120870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215" kern="0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</a:t>
            </a:r>
            <a:endParaRPr lang="en-US" sz="975" dirty="0"/>
          </a:p>
        </p:txBody>
      </p:sp>
      <p:sp>
        <p:nvSpPr>
          <p:cNvPr id="6" name="Shape 4"/>
          <p:cNvSpPr/>
          <p:nvPr/>
        </p:nvSpPr>
        <p:spPr>
          <a:xfrm>
            <a:off x="885825" y="4442445"/>
            <a:ext cx="10039350" cy="9525"/>
          </a:xfrm>
          <a:prstGeom prst="rect">
            <a:avLst/>
          </a:prstGeom>
          <a:solidFill>
            <a:srgbClr val="0A2A47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85825" y="1314450"/>
            <a:ext cx="522827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80" kern="0" dirty="0">
                <a:solidFill>
                  <a:srgbClr val="0A7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· HEADLINES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5825" y="1600200"/>
            <a:ext cx="5228273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spc="-144" kern="0" dirty="0">
                <a:solidFill>
                  <a:srgbClr val="0A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885825" y="2556495"/>
            <a:ext cx="522827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0A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Newsreader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885825" y="2956545"/>
            <a:ext cx="489556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editorial serif with warmth and authority. Used for headlines, pull-quotes, and Scripture — set in Regular and Medium, often in italic for verse.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885825" y="3813795"/>
            <a:ext cx="52282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44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ABCDEFGHIJKLM · abcdefghijklm · 1234567890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72200" y="1314450"/>
            <a:ext cx="522827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80" kern="0" dirty="0">
                <a:solidFill>
                  <a:srgbClr val="0A7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· INTERFACE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72200" y="1600200"/>
            <a:ext cx="5228273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b="1" spc="-144" kern="0" dirty="0">
                <a:solidFill>
                  <a:srgbClr val="0A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6172200" y="2556495"/>
            <a:ext cx="522827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A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Hanken Grotesk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6172200" y="3004170"/>
            <a:ext cx="489556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clear, friendly grotesque for body copy, labels, and UI. The wordmark and all-caps labels use ExtraBold (800) with open tracking.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6172200" y="3632820"/>
            <a:ext cx="522827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44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ABCDEFGHIJKLM · abcdefghijklm · 1234567890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5825" y="4890120"/>
            <a:ext cx="1104328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80" kern="0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SCALE IN USE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5825" y="5480670"/>
            <a:ext cx="12192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4" kern="0" dirty="0">
                <a:solidFill>
                  <a:srgbClr val="82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/ 64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57425" y="5233020"/>
            <a:ext cx="511956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dirty="0">
                <a:solidFill>
                  <a:srgbClr val="0A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Rivers of living water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885825" y="6009308"/>
            <a:ext cx="12192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4" kern="0" dirty="0">
                <a:solidFill>
                  <a:srgbClr val="82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 / 32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57425" y="5899770"/>
            <a:ext cx="373408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dirty="0">
                <a:solidFill>
                  <a:srgbClr val="0A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Equipping Kingdom leaders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885825" y="6385545"/>
            <a:ext cx="12192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4" kern="0" dirty="0">
                <a:solidFill>
                  <a:srgbClr val="82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/ 13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57425" y="6385545"/>
            <a:ext cx="211318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215" kern="0" dirty="0">
                <a:solidFill>
                  <a:srgbClr val="0A7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SPIRITUAL FORMATION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885825" y="6776070"/>
            <a:ext cx="12192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4" kern="0" dirty="0">
                <a:solidFill>
                  <a:srgbClr val="82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/ 17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57425" y="6704633"/>
            <a:ext cx="6082665" cy="556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44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empower leaders to return to their communities restored, equipped, and inspired to spark meaningful change.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11000" cy="7239000"/>
          </a:xfrm>
          <a:prstGeom prst="roundRect">
            <a:avLst>
              <a:gd name="adj" fmla="val 658"/>
            </a:avLst>
          </a:prstGeom>
          <a:ln/>
          <a:effectLst>
            <a:outerShdw sx="100000" sy="100000" kx="0" ky="0" algn="bl" rotWithShape="0" blurRad="571500" dist="228600" dir="5400000">
              <a:srgbClr val="0A2A47">
                <a:alpha val="5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1333500" y="41910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1FA6D6">
                  <a:alpha val="16000"/>
                </a:srgbClr>
              </a:gs>
              <a:gs pos="65000">
                <a:srgbClr val="1FA6D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876300" y="800100"/>
            <a:ext cx="25360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56" kern="0" dirty="0">
                <a:solidFill>
                  <a:srgbClr val="7CC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1187053" y="857250"/>
            <a:ext cx="342900" cy="9525"/>
          </a:xfrm>
          <a:prstGeom prst="rect">
            <a:avLst/>
          </a:prstGeom>
          <a:solidFill>
            <a:srgbClr val="7CCBE6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63303" y="800100"/>
            <a:ext cx="192483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215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&amp; MESSAGING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876300" y="1304925"/>
            <a:ext cx="94297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80" kern="0" dirty="0">
                <a:solidFill>
                  <a:srgbClr val="7CC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SLOGAN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6300" y="1590675"/>
            <a:ext cx="8829675" cy="12107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4050" spc="-4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Equipping Kingdom leaders to disrupt darkness and disciple nations.</a:t>
            </a:r>
            <a:endParaRPr lang="en-US" sz="4050" dirty="0"/>
          </a:p>
        </p:txBody>
      </p:sp>
      <p:sp>
        <p:nvSpPr>
          <p:cNvPr id="9" name="Text 7"/>
          <p:cNvSpPr/>
          <p:nvPr/>
        </p:nvSpPr>
        <p:spPr>
          <a:xfrm>
            <a:off x="876300" y="2972842"/>
            <a:ext cx="6671310" cy="635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425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Spiritual formation, discipleship, and leadership development for those called to lead — in ministry and the marketplace.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876300" y="4103340"/>
            <a:ext cx="100584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4474815"/>
            <a:ext cx="340862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62" kern="0" dirty="0">
                <a:solidFill>
                  <a:srgbClr val="7CC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LINE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76300" y="4703415"/>
            <a:ext cx="340862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a river.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356050" y="4474815"/>
            <a:ext cx="340870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62" kern="0" dirty="0">
                <a:solidFill>
                  <a:srgbClr val="7CC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TO ACTION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56050" y="4703415"/>
            <a:ext cx="340870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Network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835875" y="4474815"/>
            <a:ext cx="340870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62" kern="0" dirty="0">
                <a:solidFill>
                  <a:srgbClr val="7CC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SOUND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35875" y="4703415"/>
            <a:ext cx="319179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Warm, direct, and assured. We speak to leaders as peers — never preachy, always life-giving.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11000" cy="7239000"/>
          </a:xfrm>
          <a:prstGeom prst="roundRect">
            <a:avLst>
              <a:gd name="adj" fmla="val 658"/>
            </a:avLst>
          </a:prstGeom>
          <a:ln w="9525">
            <a:solidFill>
              <a:srgbClr val="0A2A47">
                <a:alpha val="7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0A2A47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85825" y="809625"/>
            <a:ext cx="25360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56" kern="0" dirty="0">
                <a:solidFill>
                  <a:srgbClr val="0A7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1196578" y="866775"/>
            <a:ext cx="342900" cy="9525"/>
          </a:xfrm>
          <a:prstGeom prst="rect">
            <a:avLst/>
          </a:prstGeom>
          <a:solidFill>
            <a:srgbClr val="0A77BC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2828" y="809625"/>
            <a:ext cx="305419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215" kern="0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· BUSINESS CARD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885825" y="1104900"/>
            <a:ext cx="5886450" cy="5886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75" dirty="0">
                <a:solidFill>
                  <a:srgbClr val="44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× 2 in. The mark leads on a deep navy front; contact details stay calm and generous on the reverse.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885825" y="2131665"/>
            <a:ext cx="4533900" cy="2590800"/>
          </a:xfrm>
          <a:prstGeom prst="roundRect">
            <a:avLst>
              <a:gd name="adj" fmla="val 3309"/>
            </a:avLst>
          </a:prstGeom>
          <a:gradFill rotWithShape="1">
            <a:gsLst>
              <a:gs pos="0">
                <a:srgbClr val="0E3A60">
                  <a:alpha val="100000"/>
                </a:srgbClr>
              </a:gs>
              <a:gs pos="60000">
                <a:srgbClr val="0A2A47">
                  <a:alpha val="100000"/>
                </a:srgbClr>
              </a:gs>
              <a:gs pos="100000">
                <a:srgbClr val="071E33">
                  <a:alpha val="100000"/>
                </a:srgbClr>
              </a:gs>
            </a:gsLst>
            <a:path path="circle">
              <a:fillToRect l="50000" t="12000" r="50000" b="88000"/>
            </a:path>
          </a:gradFill>
          <a:ln/>
          <a:effectLst>
            <a:outerShdw sx="100000" sy="100000" kx="0" ky="0" algn="bl" rotWithShape="0" blurRad="419100" dist="228600" dir="5400000">
              <a:srgbClr val="071E33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5825" y="2131665"/>
            <a:ext cx="4533900" cy="2590800"/>
          </a:xfrm>
          <a:prstGeom prst="rect">
            <a:avLst/>
          </a:prstGeom>
          <a:gradFill rotWithShape="1">
            <a:gsLst>
              <a:gs pos="0">
                <a:srgbClr val="1FA6D6">
                  <a:alpha val="20000"/>
                </a:srgbClr>
              </a:gs>
              <a:gs pos="70000">
                <a:srgbClr val="1FA6D6">
                  <a:alpha val="0"/>
                </a:srgbClr>
              </a:gs>
            </a:gsLst>
            <a:path path="circle">
              <a:fillToRect l="50000" t="88000" r="50000" b="12000"/>
            </a:path>
          </a:gra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400" y="2582540"/>
            <a:ext cx="1428750" cy="107520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58968" y="3829199"/>
            <a:ext cx="1987614" cy="270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950" b="1" spc="3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WATER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2213832" y="4138166"/>
            <a:ext cx="1932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spc="432" kern="0" dirty="0">
                <a:solidFill>
                  <a:srgbClr val="7CC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59130" y="4855815"/>
            <a:ext cx="498729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b="1" spc="149" kern="0" dirty="0">
                <a:solidFill>
                  <a:srgbClr val="82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</a:t>
            </a:r>
            <a:endParaRPr lang="en-US" sz="825" dirty="0"/>
          </a:p>
        </p:txBody>
      </p:sp>
      <p:sp>
        <p:nvSpPr>
          <p:cNvPr id="13" name="Shape 10"/>
          <p:cNvSpPr/>
          <p:nvPr/>
        </p:nvSpPr>
        <p:spPr>
          <a:xfrm>
            <a:off x="5934075" y="2131665"/>
            <a:ext cx="4533900" cy="2590800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 w="9525">
            <a:solidFill>
              <a:srgbClr val="0A2A47">
                <a:alpha val="10000"/>
              </a:srgbClr>
            </a:solidFill>
            <a:prstDash val="solid"/>
          </a:ln>
          <a:effectLst>
            <a:outerShdw sx="100000" sy="100000" kx="0" ky="0" algn="bl" rotWithShape="0" blurRad="419100" dist="228600" dir="5400000">
              <a:srgbClr val="0A2A47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05550" y="2465040"/>
            <a:ext cx="22479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A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Jordan Rivers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305550" y="2769840"/>
            <a:ext cx="224799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44" kern="0" dirty="0">
                <a:solidFill>
                  <a:srgbClr val="0A7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 OF DISCIPLESHIP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150" y="2465040"/>
            <a:ext cx="514350" cy="38702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305550" y="3717578"/>
            <a:ext cx="417004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4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jordan@livingwaternetwork.org</a:t>
            </a:r>
            <a:endParaRPr lang="en-US" sz="975" dirty="0"/>
          </a:p>
        </p:txBody>
      </p:sp>
      <p:sp>
        <p:nvSpPr>
          <p:cNvPr id="18" name="Text 14"/>
          <p:cNvSpPr/>
          <p:nvPr/>
        </p:nvSpPr>
        <p:spPr>
          <a:xfrm>
            <a:off x="6305550" y="3960465"/>
            <a:ext cx="417004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4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(000) 000‑0000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6305550" y="4203353"/>
            <a:ext cx="417004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0A7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livingwaternetwork.org</a:t>
            </a:r>
            <a:endParaRPr lang="en-US" sz="975" dirty="0"/>
          </a:p>
        </p:txBody>
      </p:sp>
      <p:sp>
        <p:nvSpPr>
          <p:cNvPr id="20" name="Text 16"/>
          <p:cNvSpPr/>
          <p:nvPr/>
        </p:nvSpPr>
        <p:spPr>
          <a:xfrm>
            <a:off x="5707380" y="4855815"/>
            <a:ext cx="498729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b="1" spc="149" kern="0" dirty="0">
                <a:solidFill>
                  <a:srgbClr val="82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11000" cy="11980515"/>
          </a:xfrm>
          <a:prstGeom prst="roundRect">
            <a:avLst>
              <a:gd name="adj" fmla="val 403"/>
            </a:avLst>
          </a:prstGeom>
          <a:ln w="9525">
            <a:solidFill>
              <a:srgbClr val="0A2A47">
                <a:alpha val="7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0A2A47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85825" y="809625"/>
            <a:ext cx="24437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56" kern="0" dirty="0">
                <a:solidFill>
                  <a:srgbClr val="0A7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1187351" y="866775"/>
            <a:ext cx="342900" cy="9525"/>
          </a:xfrm>
          <a:prstGeom prst="rect">
            <a:avLst/>
          </a:prstGeom>
          <a:solidFill>
            <a:srgbClr val="0A77BC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63601" y="809625"/>
            <a:ext cx="269934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215" kern="0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· STATIONERY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885825" y="1104900"/>
            <a:ext cx="5886450" cy="5886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75" dirty="0">
                <a:solidFill>
                  <a:srgbClr val="44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Letterhead and envelope keep wide margins and a single accent rule — quiet, premium, and unmistakably ours.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885825" y="2093565"/>
            <a:ext cx="4533900" cy="5867400"/>
          </a:xfrm>
          <a:prstGeom prst="rect">
            <a:avLst/>
          </a:prstGeom>
          <a:solidFill>
            <a:srgbClr val="FFFFFF"/>
          </a:solidFill>
          <a:ln w="9525">
            <a:solidFill>
              <a:srgbClr val="0A2A47">
                <a:alpha val="12000"/>
              </a:srgbClr>
            </a:solidFill>
            <a:prstDash val="solid"/>
          </a:ln>
          <a:effectLst>
            <a:outerShdw sx="100000" sy="100000" kx="0" ky="0" algn="bl" rotWithShape="0" blurRad="476250" dist="228600" dir="5400000">
              <a:srgbClr val="0A2A47">
                <a:alpha val="3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3075756"/>
            <a:ext cx="3638550" cy="19050"/>
          </a:xfrm>
          <a:prstGeom prst="rect">
            <a:avLst/>
          </a:prstGeom>
          <a:solidFill>
            <a:srgbClr val="0A77B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2522190"/>
            <a:ext cx="457200" cy="3440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24050" y="2559918"/>
            <a:ext cx="1188169" cy="182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spc="24" kern="0" dirty="0">
                <a:solidFill>
                  <a:srgbClr val="0A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WATER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924050" y="2742754"/>
            <a:ext cx="1188169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spc="216" kern="0" dirty="0">
                <a:solidFill>
                  <a:srgbClr val="0A7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4014788" y="2629867"/>
            <a:ext cx="95726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82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livingwaternetwork.org</a:t>
            </a:r>
            <a:endParaRPr lang="en-US" sz="675" dirty="0"/>
          </a:p>
        </p:txBody>
      </p:sp>
      <p:sp>
        <p:nvSpPr>
          <p:cNvPr id="13" name="Shape 10"/>
          <p:cNvSpPr/>
          <p:nvPr/>
        </p:nvSpPr>
        <p:spPr>
          <a:xfrm>
            <a:off x="1333500" y="3475806"/>
            <a:ext cx="1528167" cy="85725"/>
          </a:xfrm>
          <a:prstGeom prst="roundRect">
            <a:avLst>
              <a:gd name="adj" fmla="val 33333"/>
            </a:avLst>
          </a:prstGeom>
          <a:solidFill>
            <a:srgbClr val="E1E9EF"/>
          </a:solidFill>
          <a:ln/>
        </p:spPr>
      </p:sp>
      <p:sp>
        <p:nvSpPr>
          <p:cNvPr id="14" name="Shape 11"/>
          <p:cNvSpPr/>
          <p:nvPr/>
        </p:nvSpPr>
        <p:spPr>
          <a:xfrm>
            <a:off x="1333500" y="3818706"/>
            <a:ext cx="3201888" cy="85725"/>
          </a:xfrm>
          <a:prstGeom prst="roundRect">
            <a:avLst>
              <a:gd name="adj" fmla="val 33333"/>
            </a:avLst>
          </a:prstGeom>
          <a:solidFill>
            <a:srgbClr val="EEF3F7"/>
          </a:solidFill>
          <a:ln/>
        </p:spPr>
      </p:sp>
      <p:sp>
        <p:nvSpPr>
          <p:cNvPr id="15" name="Shape 12"/>
          <p:cNvSpPr/>
          <p:nvPr/>
        </p:nvSpPr>
        <p:spPr>
          <a:xfrm>
            <a:off x="1333500" y="4028256"/>
            <a:ext cx="3420219" cy="85725"/>
          </a:xfrm>
          <a:prstGeom prst="roundRect">
            <a:avLst>
              <a:gd name="adj" fmla="val 33333"/>
            </a:avLst>
          </a:prstGeom>
          <a:solidFill>
            <a:srgbClr val="EEF3F7"/>
          </a:solidFill>
          <a:ln/>
        </p:spPr>
      </p:sp>
      <p:sp>
        <p:nvSpPr>
          <p:cNvPr id="16" name="Shape 13"/>
          <p:cNvSpPr/>
          <p:nvPr/>
        </p:nvSpPr>
        <p:spPr>
          <a:xfrm>
            <a:off x="1333500" y="4237806"/>
            <a:ext cx="2910780" cy="85725"/>
          </a:xfrm>
          <a:prstGeom prst="roundRect">
            <a:avLst>
              <a:gd name="adj" fmla="val 33333"/>
            </a:avLst>
          </a:prstGeom>
          <a:solidFill>
            <a:srgbClr val="EEF3F7"/>
          </a:solidFill>
          <a:ln/>
        </p:spPr>
      </p:sp>
      <p:sp>
        <p:nvSpPr>
          <p:cNvPr id="17" name="Shape 14"/>
          <p:cNvSpPr/>
          <p:nvPr/>
        </p:nvSpPr>
        <p:spPr>
          <a:xfrm>
            <a:off x="1333500" y="4447356"/>
            <a:ext cx="3274665" cy="85725"/>
          </a:xfrm>
          <a:prstGeom prst="roundRect">
            <a:avLst>
              <a:gd name="adj" fmla="val 33333"/>
            </a:avLst>
          </a:prstGeom>
          <a:solidFill>
            <a:srgbClr val="EEF3F7"/>
          </a:solidFill>
          <a:ln/>
        </p:spPr>
      </p:sp>
      <p:sp>
        <p:nvSpPr>
          <p:cNvPr id="18" name="Shape 15"/>
          <p:cNvSpPr/>
          <p:nvPr/>
        </p:nvSpPr>
        <p:spPr>
          <a:xfrm>
            <a:off x="1333500" y="4656906"/>
            <a:ext cx="2183085" cy="85725"/>
          </a:xfrm>
          <a:prstGeom prst="roundRect">
            <a:avLst>
              <a:gd name="adj" fmla="val 33333"/>
            </a:avLst>
          </a:prstGeom>
          <a:solidFill>
            <a:srgbClr val="EEF3F7"/>
          </a:solidFill>
          <a:ln/>
        </p:spPr>
      </p:sp>
      <p:sp>
        <p:nvSpPr>
          <p:cNvPr id="19" name="Text 16"/>
          <p:cNvSpPr/>
          <p:nvPr/>
        </p:nvSpPr>
        <p:spPr>
          <a:xfrm>
            <a:off x="1333500" y="7379940"/>
            <a:ext cx="40024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A77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a river.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85825" y="8418165"/>
            <a:ext cx="5143500" cy="2362200"/>
          </a:xfrm>
          <a:prstGeom prst="roundRect">
            <a:avLst>
              <a:gd name="adj" fmla="val 806"/>
            </a:avLst>
          </a:prstGeom>
          <a:solidFill>
            <a:srgbClr val="FFFFFF"/>
          </a:solidFill>
          <a:ln w="9525">
            <a:solidFill>
              <a:srgbClr val="0A2A47">
                <a:alpha val="12000"/>
              </a:srgbClr>
            </a:solidFill>
            <a:prstDash val="solid"/>
          </a:ln>
          <a:effectLst>
            <a:outerShdw sx="100000" sy="100000" kx="0" ky="0" algn="bl" rotWithShape="0" blurRad="476250" dist="228600" dir="5400000">
              <a:srgbClr val="0A2A47">
                <a:alpha val="32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8713440"/>
            <a:ext cx="381000" cy="286717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714500" y="8736285"/>
            <a:ext cx="1049164" cy="1647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spc="21" kern="0" dirty="0">
                <a:solidFill>
                  <a:srgbClr val="0A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WATER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1714500" y="8901038"/>
            <a:ext cx="1049164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25" b="1" spc="179" kern="0" dirty="0">
                <a:solidFill>
                  <a:srgbClr val="0A7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525" dirty="0"/>
          </a:p>
        </p:txBody>
      </p:sp>
      <p:sp>
        <p:nvSpPr>
          <p:cNvPr id="24" name="Text 20"/>
          <p:cNvSpPr/>
          <p:nvPr/>
        </p:nvSpPr>
        <p:spPr>
          <a:xfrm>
            <a:off x="1219200" y="10149929"/>
            <a:ext cx="4611052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dirty="0">
                <a:solidFill>
                  <a:srgbClr val="82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Box 0000 Your City, ST 00000</a:t>
            </a:r>
            <a:endParaRPr lang="en-US" sz="825" dirty="0"/>
          </a:p>
        </p:txBody>
      </p:sp>
      <p:sp>
        <p:nvSpPr>
          <p:cNvPr id="25" name="Text 21"/>
          <p:cNvSpPr/>
          <p:nvPr/>
        </p:nvSpPr>
        <p:spPr>
          <a:xfrm>
            <a:off x="885825" y="11066115"/>
            <a:ext cx="565785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149" kern="0" dirty="0">
                <a:solidFill>
                  <a:srgbClr val="829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 ENVELOPE · LETTERHEAD (US LETTER)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11000" cy="9506545"/>
          </a:xfrm>
          <a:prstGeom prst="roundRect">
            <a:avLst>
              <a:gd name="adj" fmla="val 501"/>
            </a:avLst>
          </a:prstGeom>
          <a:ln w="9525">
            <a:solidFill>
              <a:srgbClr val="0A2A47">
                <a:alpha val="7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0A2A47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85825" y="809625"/>
            <a:ext cx="25360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56" kern="0" dirty="0">
                <a:solidFill>
                  <a:srgbClr val="0A7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1196578" y="866775"/>
            <a:ext cx="342900" cy="9525"/>
          </a:xfrm>
          <a:prstGeom prst="rect">
            <a:avLst/>
          </a:prstGeom>
          <a:solidFill>
            <a:srgbClr val="0A77BC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2828" y="809625"/>
            <a:ext cx="237479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215" kern="0" dirty="0">
                <a:solidFill>
                  <a:srgbClr val="5A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· WEBSITE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885825" y="1104900"/>
            <a:ext cx="5886450" cy="5886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75" dirty="0">
                <a:solidFill>
                  <a:srgbClr val="44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homepage hero leads with the mark and the slogan, then a single, clear call to action.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885825" y="1998315"/>
            <a:ext cx="10039350" cy="6698605"/>
          </a:xfrm>
          <a:prstGeom prst="roundRect">
            <a:avLst>
              <a:gd name="adj" fmla="val 1422"/>
            </a:avLst>
          </a:prstGeom>
          <a:ln w="9525">
            <a:solidFill>
              <a:srgbClr val="0A2A47">
                <a:alpha val="10000"/>
              </a:srgbClr>
            </a:solidFill>
            <a:prstDash val="solid"/>
          </a:ln>
          <a:effectLst>
            <a:outerShdw sx="100000" sy="100000" kx="0" ky="0" algn="bl" rotWithShape="0" blurRad="609600" dist="285750" dir="5400000">
              <a:srgbClr val="0A2A47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5350" y="2007840"/>
            <a:ext cx="10020300" cy="400050"/>
          </a:xfrm>
          <a:prstGeom prst="rect">
            <a:avLst/>
          </a:prstGeom>
          <a:solidFill>
            <a:srgbClr val="0A2A47"/>
          </a:solidFill>
          <a:ln/>
        </p:spPr>
      </p:sp>
      <p:sp>
        <p:nvSpPr>
          <p:cNvPr id="9" name="Shape 7"/>
          <p:cNvSpPr/>
          <p:nvPr/>
        </p:nvSpPr>
        <p:spPr>
          <a:xfrm>
            <a:off x="1066800" y="2155478"/>
            <a:ext cx="104775" cy="104775"/>
          </a:xfrm>
          <a:prstGeom prst="ellipse">
            <a:avLst/>
          </a:prstGeom>
          <a:solidFill>
            <a:srgbClr val="C05A12"/>
          </a:solidFill>
          <a:ln/>
        </p:spPr>
      </p:sp>
      <p:sp>
        <p:nvSpPr>
          <p:cNvPr id="10" name="Shape 8"/>
          <p:cNvSpPr/>
          <p:nvPr/>
        </p:nvSpPr>
        <p:spPr>
          <a:xfrm>
            <a:off x="1247775" y="2155478"/>
            <a:ext cx="104775" cy="104775"/>
          </a:xfrm>
          <a:prstGeom prst="ellipse">
            <a:avLst/>
          </a:prstGeom>
          <a:solidFill>
            <a:srgbClr val="1FA6D6"/>
          </a:solidFill>
          <a:ln/>
        </p:spPr>
      </p:sp>
      <p:sp>
        <p:nvSpPr>
          <p:cNvPr id="11" name="Shape 9"/>
          <p:cNvSpPr/>
          <p:nvPr/>
        </p:nvSpPr>
        <p:spPr>
          <a:xfrm>
            <a:off x="1428750" y="2155478"/>
            <a:ext cx="104775" cy="104775"/>
          </a:xfrm>
          <a:prstGeom prst="ellipse">
            <a:avLst/>
          </a:prstGeom>
          <a:solidFill>
            <a:srgbClr val="7CCBE6"/>
          </a:solidFill>
          <a:ln/>
        </p:spPr>
      </p:sp>
      <p:sp>
        <p:nvSpPr>
          <p:cNvPr id="12" name="Shape 10"/>
          <p:cNvSpPr/>
          <p:nvPr/>
        </p:nvSpPr>
        <p:spPr>
          <a:xfrm>
            <a:off x="1781175" y="2091184"/>
            <a:ext cx="1390427" cy="233362"/>
          </a:xfrm>
          <a:prstGeom prst="roundRect">
            <a:avLst>
              <a:gd name="adj" fmla="val 2449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933575" y="2138809"/>
            <a:ext cx="1161827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livingwaternetwork.org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895350" y="2407890"/>
            <a:ext cx="10020300" cy="6279505"/>
          </a:xfrm>
          <a:prstGeom prst="rect">
            <a:avLst/>
          </a:prstGeom>
          <a:gradFill rotWithShape="1">
            <a:gsLst>
              <a:gs pos="0">
                <a:srgbClr val="0E3A60">
                  <a:alpha val="100000"/>
                </a:srgbClr>
              </a:gs>
              <a:gs pos="55000">
                <a:srgbClr val="0A2A47">
                  <a:alpha val="100000"/>
                </a:srgbClr>
              </a:gs>
              <a:gs pos="100000">
                <a:srgbClr val="071E33">
                  <a:alpha val="100000"/>
                </a:srgbClr>
              </a:gs>
            </a:gsLst>
            <a:path path="circle">
              <a:fillToRect l="78000" t="8000" r="22000" b="92000"/>
            </a:path>
          </a:gra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450" y="2662163"/>
            <a:ext cx="381000" cy="28671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809750" y="2724522"/>
            <a:ext cx="225765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4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WATER </a:t>
            </a:r>
            <a:pPr algn="l" indent="0" marL="0">
              <a:buNone/>
            </a:pPr>
            <a:r>
              <a:rPr lang="en-US" sz="1125" b="1" spc="45" kern="0" dirty="0">
                <a:solidFill>
                  <a:srgbClr val="7CC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6266259" y="2724596"/>
            <a:ext cx="5277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Cohorts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7003554" y="2724596"/>
            <a:ext cx="59598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7809086" y="2724596"/>
            <a:ext cx="55289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8571533" y="2724596"/>
            <a:ext cx="41217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</a:t>
            </a:r>
            <a:endParaRPr lang="en-US" sz="975" dirty="0"/>
          </a:p>
        </p:txBody>
      </p:sp>
      <p:sp>
        <p:nvSpPr>
          <p:cNvPr id="21" name="Shape 18"/>
          <p:cNvSpPr/>
          <p:nvPr/>
        </p:nvSpPr>
        <p:spPr>
          <a:xfrm>
            <a:off x="9193262" y="2636490"/>
            <a:ext cx="1303288" cy="338138"/>
          </a:xfrm>
          <a:prstGeom prst="roundRect">
            <a:avLst>
              <a:gd name="adj" fmla="val 50000"/>
            </a:avLst>
          </a:prstGeom>
          <a:solidFill>
            <a:srgbClr val="0A77BC"/>
          </a:solidFill>
          <a:ln/>
        </p:spPr>
      </p:sp>
      <p:sp>
        <p:nvSpPr>
          <p:cNvPr id="22" name="Text 19"/>
          <p:cNvSpPr/>
          <p:nvPr/>
        </p:nvSpPr>
        <p:spPr>
          <a:xfrm>
            <a:off x="9383762" y="2731740"/>
            <a:ext cx="99848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Network</a:t>
            </a:r>
            <a:endParaRPr lang="en-US" sz="975" dirty="0"/>
          </a:p>
        </p:txBody>
      </p:sp>
      <p:sp>
        <p:nvSpPr>
          <p:cNvPr id="23" name="Shape 20"/>
          <p:cNvSpPr/>
          <p:nvPr/>
        </p:nvSpPr>
        <p:spPr>
          <a:xfrm>
            <a:off x="895350" y="3203228"/>
            <a:ext cx="10020300" cy="5484168"/>
          </a:xfrm>
          <a:prstGeom prst="rect">
            <a:avLst/>
          </a:prstGeom>
          <a:gradFill rotWithShape="1">
            <a:gsLst>
              <a:gs pos="0">
                <a:srgbClr val="1FA6D6">
                  <a:alpha val="18000"/>
                </a:srgbClr>
              </a:gs>
              <a:gs pos="70000">
                <a:srgbClr val="1FA6D6">
                  <a:alpha val="0"/>
                </a:srgbClr>
              </a:gs>
            </a:gsLst>
            <a:path path="circle">
              <a:fillToRect l="30000" t="80000" r="70000" b="20000"/>
            </a:path>
          </a:gradFill>
          <a:ln/>
        </p:spPr>
      </p:sp>
      <p:sp>
        <p:nvSpPr>
          <p:cNvPr id="24" name="Text 21"/>
          <p:cNvSpPr/>
          <p:nvPr/>
        </p:nvSpPr>
        <p:spPr>
          <a:xfrm>
            <a:off x="1314450" y="3736628"/>
            <a:ext cx="538224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16" kern="0" dirty="0">
                <a:solidFill>
                  <a:srgbClr val="7CC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SPIRITUAL FORMATION · DISCIPLESHIP · LEADERSHIP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314450" y="4060478"/>
            <a:ext cx="5039736" cy="217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900" spc="-39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Equipping Kingdom leaders to disrupt darkness and disciple nations.</a:t>
            </a:r>
            <a:endParaRPr lang="en-US" sz="3900" dirty="0"/>
          </a:p>
        </p:txBody>
      </p:sp>
      <p:sp>
        <p:nvSpPr>
          <p:cNvPr id="26" name="Text 23"/>
          <p:cNvSpPr/>
          <p:nvPr/>
        </p:nvSpPr>
        <p:spPr>
          <a:xfrm>
            <a:off x="1314450" y="6409581"/>
            <a:ext cx="4316730" cy="8395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75" dirty="0">
                <a:solidFill>
                  <a:srgbClr val="FFFFFF">
                    <a:alpha val="7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those called to lead — in ministry and the marketplace. Walk with us, and become a river of living water to the world around you.</a:t>
            </a:r>
            <a:endParaRPr lang="en-US" sz="1275" dirty="0"/>
          </a:p>
        </p:txBody>
      </p:sp>
      <p:sp>
        <p:nvSpPr>
          <p:cNvPr id="27" name="Shape 24"/>
          <p:cNvSpPr/>
          <p:nvPr/>
        </p:nvSpPr>
        <p:spPr>
          <a:xfrm>
            <a:off x="1314450" y="7515820"/>
            <a:ext cx="1635621" cy="447675"/>
          </a:xfrm>
          <a:prstGeom prst="roundRect">
            <a:avLst>
              <a:gd name="adj" fmla="val 50000"/>
            </a:avLst>
          </a:prstGeom>
          <a:solidFill>
            <a:srgbClr val="0A77BC"/>
          </a:solidFill>
          <a:ln/>
        </p:spPr>
      </p:sp>
      <p:sp>
        <p:nvSpPr>
          <p:cNvPr id="28" name="Text 25"/>
          <p:cNvSpPr/>
          <p:nvPr/>
        </p:nvSpPr>
        <p:spPr>
          <a:xfrm>
            <a:off x="1600200" y="7658695"/>
            <a:ext cx="114032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Network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3102471" y="7658695"/>
            <a:ext cx="125149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7CC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cohorts →</a:t>
            </a:r>
            <a:endParaRPr lang="en-US" sz="1125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312" y="4559796"/>
            <a:ext cx="3429000" cy="25805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11000" cy="5334000"/>
          </a:xfrm>
          <a:prstGeom prst="roundRect">
            <a:avLst>
              <a:gd name="adj" fmla="val 893"/>
            </a:avLst>
          </a:prstGeom>
          <a:gradFill rotWithShape="1">
            <a:gsLst>
              <a:gs pos="0">
                <a:srgbClr val="0E3A60">
                  <a:alpha val="100000"/>
                </a:srgbClr>
              </a:gs>
              <a:gs pos="55000">
                <a:srgbClr val="0A2A47">
                  <a:alpha val="100000"/>
                </a:srgbClr>
              </a:gs>
              <a:gs pos="100000">
                <a:srgbClr val="071E33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/>
          <a:effectLst>
            <a:outerShdw sx="100000" sy="100000" kx="0" ky="0" algn="bl" rotWithShape="0" blurRad="666750" dist="285750" dir="5400000">
              <a:srgbClr val="071E33">
                <a:alpha val="6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11811000" cy="5334000"/>
          </a:xfrm>
          <a:prstGeom prst="rect">
            <a:avLst/>
          </a:prstGeom>
          <a:gradFill rotWithShape="1">
            <a:gsLst>
              <a:gs pos="0">
                <a:srgbClr val="1FA6D6">
                  <a:alpha val="20000"/>
                </a:srgbClr>
              </a:gs>
              <a:gs pos="70000">
                <a:srgbClr val="1FA6D6">
                  <a:alpha val="0"/>
                </a:srgbClr>
              </a:gs>
            </a:gsLst>
            <a:path path="circle">
              <a:fillToRect l="50000" t="100000" r="50000" b="0"/>
            </a:path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0" y="1140321"/>
            <a:ext cx="1333500" cy="1003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83565" y="2391519"/>
            <a:ext cx="244379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a river.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3578680" y="3105894"/>
            <a:ext cx="4653565" cy="297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Water Network · Brand Guidelines, Edition 01 · 2026</a:t>
            </a:r>
            <a:endParaRPr lang="en-US" sz="1275" dirty="0"/>
          </a:p>
        </p:txBody>
      </p:sp>
      <p:sp>
        <p:nvSpPr>
          <p:cNvPr id="7" name="Shape 4"/>
          <p:cNvSpPr/>
          <p:nvPr/>
        </p:nvSpPr>
        <p:spPr>
          <a:xfrm>
            <a:off x="5068639" y="3745929"/>
            <a:ext cx="1673721" cy="447675"/>
          </a:xfrm>
          <a:prstGeom prst="roundRect">
            <a:avLst>
              <a:gd name="adj" fmla="val 50000"/>
            </a:avLst>
          </a:prstGeom>
          <a:solidFill>
            <a:srgbClr val="0A77BC"/>
          </a:solidFill>
          <a:ln/>
        </p:spPr>
      </p:sp>
      <p:sp>
        <p:nvSpPr>
          <p:cNvPr id="8" name="Text 5"/>
          <p:cNvSpPr/>
          <p:nvPr/>
        </p:nvSpPr>
        <p:spPr>
          <a:xfrm>
            <a:off x="5335339" y="3888804"/>
            <a:ext cx="114032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Network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2026-06-24T19:35:28Z</dcterms:created>
  <dcterms:modified xsi:type="dcterms:W3CDTF">2026-06-24T19:35:28Z</dcterms:modified>
</cp:coreProperties>
</file>