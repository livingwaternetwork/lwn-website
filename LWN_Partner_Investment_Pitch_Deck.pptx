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Fundraising Goal</c:v>
                </c:pt>
              </c:strCache>
            </c:strRef>
          </c:tx>
          <c:spPr>
            <a:solidFill>
              <a:srgbClr val="0A2A47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A2A4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
2026–2027</c:v>
                  </c:pt>
                  <c:pt idx="1">
                    <c:v>Year 2
2027–2028</c:v>
                  </c:pt>
                  <c:pt idx="2">
                    <c:v>Year 3–5
2028–2031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145000</c:v>
                </c:pt>
                <c:pt idx="1">
                  <c:v>190000</c:v>
                </c:pt>
                <c:pt idx="2">
                  <c:v>275000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1" i="0" strike="noStrike" sz="1200" u="none">
                  <a:solidFill>
                    <a:srgbClr val="0A2A4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4556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200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4556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Open by introducing yourself and LWN's mission in one sentence, then frame the ask: this is an investment in leader formation, presented with the same rigor a donor would expect from any serious investment conversation.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this as the market gap: leadership development is a crowded space, but whole-person, faith-rooted formation with real structure is rare. Keep this grounded — no need to cite external stats we don't have; this is our observed thesis.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high-level theory of change: inputs -&gt; activities -&gt; outputs -&gt; outcomes -&gt; impact. Useful for foundation-style funders who think in logic-model terms. Keep pace brisk — this is a bridge slide into the Groundwork program detail.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Groundwork is the flagship, and only, program right now. Emphasize that Phase 1 is shared across all leaders regardless of track, which builds cohort cohesion before specialization.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personalizes the abstraction from slide 4. If Omar has applicant profile data or early interest numbers by the time this is presented, add a stat callout here — currently omitted since cohort 1 hasn't launched.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honest and brief per instructions — do not fabricate a resume. This is a founder-led startup; credibility comes from the depth of the curriculum he has already authored and his hands-on build of the organization, not from a long track record. [If Omar wants to add prior ministry/marketplace experience, education, or a headshot, insert here.]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Critical honesty slide — do not overclaim. There is no prior cohort, no outcomes data, and no testimonials yet. The pitch here is credibility of the plan and founder, not a track record. Investors who want to fund early-stage, high-conviction work are the right audience for this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 FOR OMAR: These four tier names, price bands, and benefits are a first draft for you to refine before this deck goes to a real prospect. They are designed to be consistent with (not contradictory to) the corporate/ministry sponsorship range ($25K-$60K) and gala table tiers ($5K/$10K) already published on lwnetwork.org. The Legacy Partner 'Partner Advisory Council' is explicitly advisory, not a governing board seat — do not offer board seats in exchange for donations. Adjust benefit specifics (e.g., what a 'legacy naming opportunity' actually entails) before finalizing.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figures are already published on lwnetwork.org — do not change without updating the site. Tie the ask directly to this roadmap: e.g., 'A Founding Partner gift covers roughly X% of the Year 1 goal.' Let Omar do that specific math live if useful, since it depends on how many partners are already committed at the time of the pitch.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 instructions, we deliberately did not fabricate exact percentage splits since none have been published. The italic line on this slide is a visible placeholder note — Omar should replace it once Year 1 actuals or a board-approved budget allocation exists, and can then also remove the disclaimer text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Urgency slide — grounded in the real launch timeline, not artificial scarcity. The honest urgency here is scholarship capacity: more committed partner funding before Spring 2027 directly means more leaders admitted regardless of ability to pay.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slide before the closing/contact slide. Encourage a concrete next calendar step before leaving the room or call — e.g., book the follow-up conversation on the spot.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 End on the mission line, not the ask — the ask was already made clearly on the prior two slides. Leave contact info on screen during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325112" cy="6858000"/>
          </a:xfrm>
          <a:prstGeom prst="rect">
            <a:avLst/>
          </a:prstGeom>
          <a:solidFill>
            <a:srgbClr val="071D33">
              <a:alpha val="70000"/>
            </a:srgbClr>
          </a:solidFill>
          <a:ln/>
        </p:spPr>
      </p:sp>
      <p:pic>
        <p:nvPicPr>
          <p:cNvPr id="3" name="Image 0" descr="/tmp/lwn_deck/icons/water_sprin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8580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65836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7C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WATER NETWORK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85800" y="2148840"/>
            <a:ext cx="7589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Rooted in truth.</a:t>
            </a:r>
            <a:endParaRPr lang="en-US" sz="5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 to lead.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713232" y="3977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A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Partnership Investment Opportunity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13232" y="4617720"/>
            <a:ext cx="6126480" cy="18288"/>
          </a:xfrm>
          <a:prstGeom prst="rect">
            <a:avLst/>
          </a:prstGeom>
          <a:solidFill>
            <a:srgbClr val="1E4266"/>
          </a:solidFill>
          <a:ln/>
        </p:spPr>
      </p:sp>
      <p:sp>
        <p:nvSpPr>
          <p:cNvPr id="8" name="Text 5"/>
          <p:cNvSpPr/>
          <p:nvPr/>
        </p:nvSpPr>
        <p:spPr>
          <a:xfrm>
            <a:off x="713232" y="4800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C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Equipping Kingdom leaders to disrupt darkness and disciple nations.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13232" y="5989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F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Water Network Inc.  |  Georgia 501(c)(3)  |  EIN 93-1859873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F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lwnetwork.org  |  ofandino@lwnetwork.org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0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Leaders are trained. They are rarely formed.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401568" cy="3246120"/>
          </a:xfrm>
          <a:prstGeom prst="rect">
            <a:avLst/>
          </a:prstGeom>
          <a:solidFill>
            <a:srgbClr val="EAF1F6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94560"/>
            <a:ext cx="685800" cy="68580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pic>
        <p:nvPicPr>
          <p:cNvPr id="6" name="Image 0" descr="/tmp/lwn_deck/icons/chartline_nav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37744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063240"/>
            <a:ext cx="27614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Burnout is the norm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60120" y="3657600"/>
            <a:ext cx="27614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4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and marketplace leaders alike are stretched thin — skilled at doing, starved for the inner formation that sustains a lifetime of leadership.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61688" y="1874520"/>
            <a:ext cx="3401568" cy="3246120"/>
          </a:xfrm>
          <a:prstGeom prst="rect">
            <a:avLst/>
          </a:prstGeom>
          <a:solidFill>
            <a:srgbClr val="EAF1F6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81728" y="2194560"/>
            <a:ext cx="685800" cy="68580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/tmp/lwn_deck/icons/brain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237744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81728" y="3063240"/>
            <a:ext cx="27614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Discipleship stays shallow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681728" y="3657600"/>
            <a:ext cx="27614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4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leadership pipelines optimize for competency and platform, not for the depth of character and presence that outlasts a crisis.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1874520"/>
            <a:ext cx="3401568" cy="3246120"/>
          </a:xfrm>
          <a:prstGeom prst="rect">
            <a:avLst/>
          </a:prstGeom>
          <a:solidFill>
            <a:srgbClr val="EAF1F6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03336" y="2194560"/>
            <a:ext cx="685800" cy="68580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pic>
        <p:nvPicPr>
          <p:cNvPr id="16" name="Image 2" descr="/tmp/lwn_deck/icons/compass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6216" y="237744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03336" y="3063240"/>
            <a:ext cx="27614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Calling outpaces character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403336" y="3657600"/>
            <a:ext cx="27614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4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Gifted people are handed influence before their identity, integrity, and inner life can bear the weight of it.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640080" y="5349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44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result: talented, well-intentioned leaders who plateau, burn out, or lead from an unformed center — and the communities, churches, and organizations they serve feel it.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Water Network  |  501(c)(3)  |  lwnetwork.org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0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LWN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theory of change built for the whole leader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015338" cy="2834640"/>
          </a:xfrm>
          <a:prstGeom prst="rect">
            <a:avLst/>
          </a:prstGeom>
          <a:solidFill>
            <a:srgbClr val="0A2A4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55141" y="2240280"/>
            <a:ext cx="585216" cy="585216"/>
          </a:xfrm>
          <a:prstGeom prst="ellipse">
            <a:avLst/>
          </a:prstGeom>
          <a:solidFill>
            <a:srgbClr val="C05A12"/>
          </a:solidFill>
          <a:ln/>
        </p:spPr>
      </p:sp>
      <p:pic>
        <p:nvPicPr>
          <p:cNvPr id="6" name="Image 0" descr="/tmp/lwn_deck/icons/handheart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1445" y="2386584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971800"/>
            <a:ext cx="1741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04672" y="3383280"/>
            <a:ext cx="168615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A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Scholarship-funded tuition, licensed pastoral &amp; therapeutic staff, a structured 9-month curriculum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637130" y="320040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2856586" y="1965960"/>
            <a:ext cx="2015338" cy="2834640"/>
          </a:xfrm>
          <a:prstGeom prst="rect">
            <a:avLst/>
          </a:prstGeom>
          <a:solidFill>
            <a:srgbClr val="445563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71646" y="2240280"/>
            <a:ext cx="585216" cy="585216"/>
          </a:xfrm>
          <a:prstGeom prst="ellipse">
            <a:avLst/>
          </a:prstGeom>
          <a:solidFill>
            <a:srgbClr val="C05A12"/>
          </a:solidFill>
          <a:ln/>
        </p:spPr>
      </p:sp>
      <p:pic>
        <p:nvPicPr>
          <p:cNvPr id="12" name="Image 1" descr="/tmp/lwn_deck/icons/rout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7950" y="2386584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993746" y="2971800"/>
            <a:ext cx="1741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Activities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021178" y="3383280"/>
            <a:ext cx="168615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A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Groundwork: whole-person formation, calling discovery, inner healing, local serving, missions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853635" y="320040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5073091" y="1965960"/>
            <a:ext cx="2015338" cy="2834640"/>
          </a:xfrm>
          <a:prstGeom prst="rect">
            <a:avLst/>
          </a:prstGeom>
          <a:solidFill>
            <a:srgbClr val="0A2A4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788152" y="2240280"/>
            <a:ext cx="585216" cy="585216"/>
          </a:xfrm>
          <a:prstGeom prst="ellipse">
            <a:avLst/>
          </a:prstGeom>
          <a:solidFill>
            <a:srgbClr val="C05A12"/>
          </a:solidFill>
          <a:ln/>
        </p:spPr>
      </p:sp>
      <p:pic>
        <p:nvPicPr>
          <p:cNvPr id="18" name="Image 2" descr="/tmp/lwn_deck/icons/gra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4456" y="2386584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210251" y="2971800"/>
            <a:ext cx="1741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Outputs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5237683" y="3383280"/>
            <a:ext cx="168615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A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 who complete all 3 phases with a defined calling, healed places of woundedness, and a track record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7070141" y="320040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7289597" y="1965960"/>
            <a:ext cx="2015338" cy="2834640"/>
          </a:xfrm>
          <a:prstGeom prst="rect">
            <a:avLst/>
          </a:prstGeom>
          <a:solidFill>
            <a:srgbClr val="445563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004658" y="2240280"/>
            <a:ext cx="585216" cy="585216"/>
          </a:xfrm>
          <a:prstGeom prst="ellipse">
            <a:avLst/>
          </a:prstGeom>
          <a:solidFill>
            <a:srgbClr val="C05A12"/>
          </a:solidFill>
          <a:ln/>
        </p:spPr>
      </p:sp>
      <p:pic>
        <p:nvPicPr>
          <p:cNvPr id="24" name="Image 3" descr="/tmp/lwn_deck/icons/compas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0962" y="2386584"/>
            <a:ext cx="292608" cy="29260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426757" y="2971800"/>
            <a:ext cx="1741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Outcomes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7454189" y="3383280"/>
            <a:ext cx="168615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A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 who lead from character, not just competency — sustainable, Kingdom-rooted influence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9286646" y="320040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2"/>
          <p:cNvSpPr/>
          <p:nvPr/>
        </p:nvSpPr>
        <p:spPr>
          <a:xfrm>
            <a:off x="9506102" y="1965960"/>
            <a:ext cx="2015338" cy="2834640"/>
          </a:xfrm>
          <a:prstGeom prst="rect">
            <a:avLst/>
          </a:prstGeom>
          <a:solidFill>
            <a:srgbClr val="0A2A4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10221163" y="2240280"/>
            <a:ext cx="585216" cy="585216"/>
          </a:xfrm>
          <a:prstGeom prst="ellipse">
            <a:avLst/>
          </a:prstGeom>
          <a:solidFill>
            <a:srgbClr val="C05A12"/>
          </a:solidFill>
          <a:ln/>
        </p:spPr>
      </p:sp>
      <p:pic>
        <p:nvPicPr>
          <p:cNvPr id="30" name="Image 4" descr="/tmp/lwn_deck/icons/glob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7467" y="2386584"/>
            <a:ext cx="292608" cy="29260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643262" y="2971800"/>
            <a:ext cx="1741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</a:t>
            </a:r>
            <a:endParaRPr lang="en-US" sz="1500" dirty="0"/>
          </a:p>
        </p:txBody>
      </p:sp>
      <p:sp>
        <p:nvSpPr>
          <p:cNvPr id="32" name="Text 25"/>
          <p:cNvSpPr/>
          <p:nvPr/>
        </p:nvSpPr>
        <p:spPr>
          <a:xfrm>
            <a:off x="9670694" y="3383280"/>
            <a:ext cx="168615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A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Disrupted darkness and discipled nations, one formed leader and one sent community at a time</a:t>
            </a: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640080" y="50749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4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is anchored in Scripture-formed practice, not generic leadership theory — the goal is leaders whose inner life can sustain their outer assignment.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Water Network  |  501(c)(3)  |  lwnetwork.org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1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0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PROGRAM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Groundwork: a 9-month formation journey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01568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57400"/>
            <a:ext cx="548640" cy="548640"/>
          </a:xfrm>
          <a:prstGeom prst="ellipse">
            <a:avLst/>
          </a:prstGeom>
          <a:solidFill>
            <a:srgbClr val="0A2A47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00200" y="205740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the Table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600200" y="2404872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1–3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834640"/>
            <a:ext cx="28529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12-week whole-person formation across six pillars: Presence, Mind, Heart, Body, Community, Stewardship.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61688" y="1783080"/>
            <a:ext cx="3401568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36008" y="2057400"/>
            <a:ext cx="548640" cy="548640"/>
          </a:xfrm>
          <a:prstGeom prst="ellipse">
            <a:avLst/>
          </a:prstGeom>
          <a:solidFill>
            <a:srgbClr val="0A2A47"/>
          </a:solidFill>
          <a:ln/>
        </p:spPr>
      </p:sp>
      <p:sp>
        <p:nvSpPr>
          <p:cNvPr id="12" name="Text 10"/>
          <p:cNvSpPr/>
          <p:nvPr/>
        </p:nvSpPr>
        <p:spPr>
          <a:xfrm>
            <a:off x="4636008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321808" y="205740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 &amp; Refine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321808" y="2404872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4–6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36008" y="2834640"/>
            <a:ext cx="28529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discovery, gift identification, inner healing, and licensed therapeutic support.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083296" y="1783080"/>
            <a:ext cx="3401568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57616" y="2057400"/>
            <a:ext cx="548640" cy="548640"/>
          </a:xfrm>
          <a:prstGeom prst="ellipse">
            <a:avLst/>
          </a:prstGeom>
          <a:solidFill>
            <a:srgbClr val="0A2A47"/>
          </a:solidFill>
          <a:ln/>
        </p:spPr>
      </p:sp>
      <p:sp>
        <p:nvSpPr>
          <p:cNvPr id="18" name="Text 16"/>
          <p:cNvSpPr/>
          <p:nvPr/>
        </p:nvSpPr>
        <p:spPr>
          <a:xfrm>
            <a:off x="8357616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043416" y="205740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Activate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043416" y="2404872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7–9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357616" y="2834640"/>
            <a:ext cx="28529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serving, missions fundraising, and an international missions trip.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0080" y="4343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tracks walk Phase 1 together, then diverge: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" y="4754880"/>
            <a:ext cx="3401568" cy="868680"/>
          </a:xfrm>
          <a:prstGeom prst="rect">
            <a:avLst/>
          </a:prstGeom>
          <a:solidFill>
            <a:srgbClr val="0A2A47"/>
          </a:solidFill>
          <a:ln/>
        </p:spPr>
      </p:sp>
      <p:pic>
        <p:nvPicPr>
          <p:cNvPr id="24" name="Image 0" descr="/tmp/lwn_deck/icons/seedling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937760"/>
            <a:ext cx="457200" cy="45720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508760" y="4828032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Shepherd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1508760" y="5157216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&amp; Mission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4361688" y="4754880"/>
            <a:ext cx="3401568" cy="868680"/>
          </a:xfrm>
          <a:prstGeom prst="rect">
            <a:avLst/>
          </a:prstGeom>
          <a:solidFill>
            <a:srgbClr val="0A2A47"/>
          </a:solidFill>
          <a:ln/>
        </p:spPr>
      </p:sp>
      <p:pic>
        <p:nvPicPr>
          <p:cNvPr id="28" name="Image 1" descr="/tmp/lwn_deck/icons/hammer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0288" y="4937760"/>
            <a:ext cx="457200" cy="45720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5230368" y="4828032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Builder</a:t>
            </a:r>
            <a:endParaRPr lang="en-US" sz="1500" dirty="0"/>
          </a:p>
        </p:txBody>
      </p:sp>
      <p:sp>
        <p:nvSpPr>
          <p:cNvPr id="30" name="Text 26"/>
          <p:cNvSpPr/>
          <p:nvPr/>
        </p:nvSpPr>
        <p:spPr>
          <a:xfrm>
            <a:off x="5230368" y="5157216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&amp; Entrepreneurship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8083296" y="4754880"/>
            <a:ext cx="3401568" cy="868680"/>
          </a:xfrm>
          <a:prstGeom prst="rect">
            <a:avLst/>
          </a:prstGeom>
          <a:solidFill>
            <a:srgbClr val="0A2A47"/>
          </a:solidFill>
          <a:ln/>
        </p:spPr>
      </p:sp>
      <p:pic>
        <p:nvPicPr>
          <p:cNvPr id="32" name="Image 2" descr="/tmp/lwn_deck/icons/palett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1896" y="4937760"/>
            <a:ext cx="457200" cy="45720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8951976" y="4828032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Canvas</a:t>
            </a:r>
            <a:endParaRPr lang="en-US" sz="1500" dirty="0"/>
          </a:p>
        </p:txBody>
      </p:sp>
      <p:sp>
        <p:nvSpPr>
          <p:cNvPr id="34" name="Text 29"/>
          <p:cNvSpPr/>
          <p:nvPr/>
        </p:nvSpPr>
        <p:spPr>
          <a:xfrm>
            <a:off x="8951976" y="5157216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Creatives &amp; Influencers</a:t>
            </a:r>
            <a:endParaRPr lang="en-US" sz="1050" dirty="0"/>
          </a:p>
        </p:txBody>
      </p:sp>
      <p:sp>
        <p:nvSpPr>
          <p:cNvPr id="35" name="Text 3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Water Network  |  501(c)(3)  |  lwnetwork.org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0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FORM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leaders Groundwork is built for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Groundwork is designed for emerging and established leaders across three spheres of influence — all formed side-by-side in Phase 1 before specializing: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3401568" cy="3200400"/>
          </a:xfrm>
          <a:prstGeom prst="rect">
            <a:avLst/>
          </a:prstGeom>
          <a:solidFill>
            <a:srgbClr val="EAF1F6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606040"/>
            <a:ext cx="685800" cy="68580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pic>
        <p:nvPicPr>
          <p:cNvPr id="7" name="Image 0" descr="/tmp/lwn_deck/icons/church_nav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78892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3474720"/>
            <a:ext cx="2761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Shepherd Track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60120" y="3822192"/>
            <a:ext cx="2761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&amp; Mission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60120" y="4206240"/>
            <a:ext cx="27614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4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Pastors and church planters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4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staff and missionaries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4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spiritual leaders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61688" y="2286000"/>
            <a:ext cx="3401568" cy="3200400"/>
          </a:xfrm>
          <a:prstGeom prst="rect">
            <a:avLst/>
          </a:prstGeom>
          <a:solidFill>
            <a:srgbClr val="EAF1F6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81728" y="2606040"/>
            <a:ext cx="685800" cy="68580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pic>
        <p:nvPicPr>
          <p:cNvPr id="13" name="Image 1" descr="/tmp/lwn_deck/icons/briefcase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278892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81728" y="3474720"/>
            <a:ext cx="2761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Builder Track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681728" y="3822192"/>
            <a:ext cx="2761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&amp; Entrepreneurship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681728" y="4206240"/>
            <a:ext cx="27614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4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owners and founders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4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executives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4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Entrepreneurs building with purpose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8083296" y="2286000"/>
            <a:ext cx="3401568" cy="3200400"/>
          </a:xfrm>
          <a:prstGeom prst="rect">
            <a:avLst/>
          </a:prstGeom>
          <a:solidFill>
            <a:srgbClr val="EAF1F6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403336" y="2606040"/>
            <a:ext cx="685800" cy="68580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pic>
        <p:nvPicPr>
          <p:cNvPr id="19" name="Image 2" descr="/tmp/lwn_deck/icons/palette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6216" y="2788920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403336" y="3474720"/>
            <a:ext cx="2761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Canvas Track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403336" y="3822192"/>
            <a:ext cx="2761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Creatives &amp; Influencers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8403336" y="4206240"/>
            <a:ext cx="27614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4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Artists, musicians, and writers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4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creators and media makers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4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influencers and storytellers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640080" y="56692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4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applicant is welcomed regardless of ability to pay — that's the point of the scholarship model on the next slides.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Water Network  |  501(c)(3)  |  lwnetwork.org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C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0"/>
            <a:ext cx="4050792" cy="6858000"/>
          </a:xfrm>
          <a:prstGeom prst="rect">
            <a:avLst/>
          </a:prstGeom>
          <a:solidFill>
            <a:srgbClr val="071D33">
              <a:alpha val="7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8580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Founder-led, mission-driven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1554480" cy="1554480"/>
          </a:xfrm>
          <a:prstGeom prst="ellipse">
            <a:avLst/>
          </a:prstGeom>
          <a:solidFill>
            <a:srgbClr val="445563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6" name="Image 0" descr="/tmp/lwn_deck/icons/crown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14884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23160" y="17830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Omar J. Fandino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2423160" y="2194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C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CEO, Living Water Network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2423160" y="25146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A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Author, “At the Table” formation guide  |  Based in Atlanta, GA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85800" y="3063240"/>
            <a:ext cx="7223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A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LWN and personally authored its flagship formation curriculum, “At the Table,” built from years of walking alongside leaders in ministry and marketplace settings.</a:t>
            </a:r>
            <a:endParaRPr lang="en-US" sz="135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A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the organization through its full startup build — legal formation, governance, curriculum design, and cohort infrastructure — with hands-on involvement in every stage.</a:t>
            </a:r>
            <a:endParaRPr lang="en-US" sz="135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A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Personally recruiting the founding pastoral and therapeutic team and building the partner network that will fund Groundwork's scholarship model.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Water Network  |  501(c)(3)  |  lwnetwork.org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0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startup-stage organization, built with rigor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LWN is honest about its stage: we are pre-launch, and we're inviting partners in at the ground floor — where early investment has outsized influence on what gets built.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5257800" cy="3749040"/>
          </a:xfrm>
          <a:prstGeom prst="rect">
            <a:avLst/>
          </a:prstGeom>
          <a:solidFill>
            <a:srgbClr val="EAF1F6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4688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Already built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2971800"/>
            <a:ext cx="4663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Groundwork curriculum, including the “At the Table” formation guide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foundation: Georgia 501(c)(3) status, governance documents, board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Brand, website, and partner communications infrastructure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structure and scholarship funding model defined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open now for the inaugural cohort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2240280"/>
            <a:ext cx="5257800" cy="3749040"/>
          </a:xfrm>
          <a:prstGeom prst="rect">
            <a:avLst/>
          </a:prstGeom>
          <a:solidFill>
            <a:srgbClr val="0A2A4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24688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ahead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83680" y="2971800"/>
            <a:ext cx="4663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Inaugural cohort launches Spring 2027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pastoral and therapeutic team onboarding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missions trip and Phase 3 activation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partner base that funds every scholarship seat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Water Network  |  501(c)(3)  |  lwnetwork.org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1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0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Partner with us: four ways to invest in formation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651760" cy="4434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91640"/>
            <a:ext cx="2651760" cy="1234440"/>
          </a:xfrm>
          <a:prstGeom prst="rect">
            <a:avLst/>
          </a:prstGeom>
          <a:solidFill>
            <a:srgbClr val="0A2A47"/>
          </a:solidFill>
          <a:ln/>
        </p:spPr>
      </p:sp>
      <p:sp>
        <p:nvSpPr>
          <p:cNvPr id="6" name="Shape 4"/>
          <p:cNvSpPr/>
          <p:nvPr/>
        </p:nvSpPr>
        <p:spPr>
          <a:xfrm>
            <a:off x="1673352" y="1856232"/>
            <a:ext cx="585216" cy="585216"/>
          </a:xfrm>
          <a:prstGeom prst="ellipse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7" name="Image 0" descr="/tmp/lwn_deck/icons/seedling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9656" y="2002536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4963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Sower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0080" y="3017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$5,000–$9,999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41248" y="3474720"/>
            <a:ext cx="2249424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44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recognition as a Sower Partner on site &amp; materials</a:t>
            </a:r>
            <a:endParaRPr lang="en-US" sz="1050" dirty="0"/>
          </a:p>
          <a:p>
            <a:pPr marL="342900" indent="-342900">
              <a:lnSpc>
                <a:spcPct val="12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44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seats at the annual Gala</a:t>
            </a:r>
            <a:endParaRPr lang="en-US" sz="1050" dirty="0"/>
          </a:p>
          <a:p>
            <a:pPr marL="342900" indent="-342900">
              <a:lnSpc>
                <a:spcPct val="12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44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cohort progress updates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474720" y="1691640"/>
            <a:ext cx="2651760" cy="4434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74720" y="1691640"/>
            <a:ext cx="2651760" cy="1234440"/>
          </a:xfrm>
          <a:prstGeom prst="rect">
            <a:avLst/>
          </a:prstGeom>
          <a:solidFill>
            <a:srgbClr val="445563"/>
          </a:solidFill>
          <a:ln/>
        </p:spPr>
      </p:sp>
      <p:sp>
        <p:nvSpPr>
          <p:cNvPr id="13" name="Shape 10"/>
          <p:cNvSpPr/>
          <p:nvPr/>
        </p:nvSpPr>
        <p:spPr>
          <a:xfrm>
            <a:off x="4507992" y="1856232"/>
            <a:ext cx="585216" cy="585216"/>
          </a:xfrm>
          <a:prstGeom prst="ellipse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14" name="Image 1" descr="/tmp/lwn_deck/icons/hammer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2002536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74720" y="24963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Builder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474720" y="3017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$10,000–$24,999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675888" y="3474720"/>
            <a:ext cx="2249424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44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Sower, plus:</a:t>
            </a:r>
            <a:endParaRPr lang="en-US" sz="1050" dirty="0"/>
          </a:p>
          <a:p>
            <a:pPr marL="342900" indent="-342900">
              <a:lnSpc>
                <a:spcPct val="12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44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Table (10 seats) at the annual Gala</a:t>
            </a:r>
            <a:endParaRPr lang="en-US" sz="1050" dirty="0"/>
          </a:p>
          <a:p>
            <a:pPr marL="342900" indent="-342900">
              <a:lnSpc>
                <a:spcPct val="12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44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recognition as a Builder Partner</a:t>
            </a:r>
            <a:endParaRPr lang="en-US" sz="1050" dirty="0"/>
          </a:p>
          <a:p>
            <a:pPr marL="342900" indent="-342900">
              <a:lnSpc>
                <a:spcPct val="12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44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briefing call each cohort cycle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309360" y="1691640"/>
            <a:ext cx="2651760" cy="4434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309360" y="1691640"/>
            <a:ext cx="2651760" cy="1234440"/>
          </a:xfrm>
          <a:prstGeom prst="rect">
            <a:avLst/>
          </a:prstGeom>
          <a:solidFill>
            <a:srgbClr val="C05A12"/>
          </a:solidFill>
          <a:ln/>
        </p:spPr>
      </p:sp>
      <p:sp>
        <p:nvSpPr>
          <p:cNvPr id="20" name="Shape 16"/>
          <p:cNvSpPr/>
          <p:nvPr/>
        </p:nvSpPr>
        <p:spPr>
          <a:xfrm>
            <a:off x="7342632" y="1856232"/>
            <a:ext cx="585216" cy="585216"/>
          </a:xfrm>
          <a:prstGeom prst="ellipse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21" name="Image 2" descr="/tmp/lwn_deck/icons/compas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8936" y="2002536"/>
            <a:ext cx="292608" cy="29260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309360" y="24963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Founding Partner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6309360" y="3017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$25,000–$59,999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6510528" y="3474720"/>
            <a:ext cx="2249424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44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Builder, plus:</a:t>
            </a:r>
            <a:endParaRPr lang="en-US" sz="1050" dirty="0"/>
          </a:p>
          <a:p>
            <a:pPr marL="342900" indent="-342900">
              <a:lnSpc>
                <a:spcPct val="12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44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as a Founding Partner of Groundwork</a:t>
            </a:r>
            <a:endParaRPr lang="en-US" sz="1050" dirty="0"/>
          </a:p>
          <a:p>
            <a:pPr marL="342900" indent="-342900">
              <a:lnSpc>
                <a:spcPct val="12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44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Invitation to cohort milestone events (e.g., commissioning)</a:t>
            </a:r>
            <a:endParaRPr lang="en-US" sz="1050" dirty="0"/>
          </a:p>
          <a:p>
            <a:pPr marL="342900" indent="-342900">
              <a:lnSpc>
                <a:spcPct val="12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44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session on curriculum &amp; program priorities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9144000" y="1691640"/>
            <a:ext cx="2651760" cy="4434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9144000" y="1691640"/>
            <a:ext cx="2651760" cy="1234440"/>
          </a:xfrm>
          <a:prstGeom prst="rect">
            <a:avLst/>
          </a:prstGeom>
          <a:solidFill>
            <a:srgbClr val="071D33"/>
          </a:solidFill>
          <a:ln/>
        </p:spPr>
      </p:sp>
      <p:sp>
        <p:nvSpPr>
          <p:cNvPr id="27" name="Shape 22"/>
          <p:cNvSpPr/>
          <p:nvPr/>
        </p:nvSpPr>
        <p:spPr>
          <a:xfrm>
            <a:off x="10177272" y="1856232"/>
            <a:ext cx="585216" cy="585216"/>
          </a:xfrm>
          <a:prstGeom prst="ellipse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28" name="Image 3" descr="/tmp/lwn_deck/icons/crow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23576" y="2002536"/>
            <a:ext cx="292608" cy="29260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144000" y="24963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Legacy Partner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9144000" y="3017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$60,000+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9345168" y="3474720"/>
            <a:ext cx="2249424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44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Founding Partner, plus:</a:t>
            </a:r>
            <a:endParaRPr lang="en-US" sz="1050" dirty="0"/>
          </a:p>
          <a:p>
            <a:pPr marL="342900" indent="-342900">
              <a:lnSpc>
                <a:spcPct val="12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44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Presenting Table (10 seats) at the annual Gala</a:t>
            </a:r>
            <a:endParaRPr lang="en-US" sz="1050" dirty="0"/>
          </a:p>
          <a:p>
            <a:pPr marL="342900" indent="-342900">
              <a:lnSpc>
                <a:spcPct val="12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44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naming opportunity (e.g., a cohort track or scholarship fund)</a:t>
            </a:r>
            <a:endParaRPr lang="en-US" sz="1050" dirty="0"/>
          </a:p>
          <a:p>
            <a:pPr marL="342900" indent="-342900">
              <a:lnSpc>
                <a:spcPct val="12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44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on the Partner Advisory Council (advisory only, not governing)</a:t>
            </a:r>
            <a:endParaRPr lang="en-US" sz="1050" dirty="0"/>
          </a:p>
        </p:txBody>
      </p:sp>
      <p:sp>
        <p:nvSpPr>
          <p:cNvPr id="32" name="Text 2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Water Network  |  501(c)(3)  |  lwnetwork.org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0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PLAN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partnership fuels a 5-year roadmap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91640"/>
          <a:ext cx="60350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949440" y="1691640"/>
            <a:ext cx="4617720" cy="1298448"/>
          </a:xfrm>
          <a:prstGeom prst="rect">
            <a:avLst/>
          </a:prstGeom>
          <a:solidFill>
            <a:srgbClr val="EAF1F6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178040" y="18013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 ·  2026–2027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178040" y="2057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$145,000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178040" y="2441448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4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inaugural cohort, fund founding staff leadership, establish curriculum and pastoral team.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949440" y="3136392"/>
            <a:ext cx="4617720" cy="1298448"/>
          </a:xfrm>
          <a:prstGeom prst="rect">
            <a:avLst/>
          </a:prstGeom>
          <a:solidFill>
            <a:srgbClr val="EAF1F6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178040" y="3246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  ·  2027–2028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178040" y="35021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$190,000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7178040" y="388620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4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two cohorts, expand missions program, sustain founding staff.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949440" y="4581144"/>
            <a:ext cx="4617720" cy="1298448"/>
          </a:xfrm>
          <a:prstGeom prst="rect">
            <a:avLst/>
          </a:prstGeom>
          <a:solidFill>
            <a:srgbClr val="EAF1F6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178040" y="46908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3–5  ·  2028–2031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178040" y="494690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$275,000+/yr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7178040" y="5330952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4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operational capacity — 3–5 cohorts annually, national reach, expanded staff team.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Water Network  |  501(c)(3)  |  lwnetwork.org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AF1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0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STEWARDSHIP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your investment goes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gift is stewarded toward the same end: a fully-funded scholarship seat at the table for a leader who could not otherwise afford formation.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260604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23060" y="2606040"/>
            <a:ext cx="640080" cy="640080"/>
          </a:xfrm>
          <a:prstGeom prst="ellipse">
            <a:avLst/>
          </a:prstGeom>
          <a:solidFill>
            <a:srgbClr val="0A2A47"/>
          </a:solidFill>
          <a:ln/>
        </p:spPr>
      </p:sp>
      <p:pic>
        <p:nvPicPr>
          <p:cNvPr id="7" name="Image 0" descr="/tmp/lwn_deck/icons/book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8508" y="276148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4290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A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Delivery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41248" y="4069080"/>
            <a:ext cx="220370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4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delivery across all three Groundwork phases — the twelve-week formation core plus Discover &amp; Refine and Activate.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429000" y="2286000"/>
            <a:ext cx="260604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11980" y="2606040"/>
            <a:ext cx="640080" cy="640080"/>
          </a:xfrm>
          <a:prstGeom prst="ellipse">
            <a:avLst/>
          </a:prstGeom>
          <a:solidFill>
            <a:srgbClr val="0A2A47"/>
          </a:solidFill>
          <a:ln/>
        </p:spPr>
      </p:sp>
      <p:pic>
        <p:nvPicPr>
          <p:cNvPr id="12" name="Image 1" descr="/tmp/lwn_deck/icons/hear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7428" y="276148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11880" y="34290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A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Pastoral &amp; Therapeutic Support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630168" y="4069080"/>
            <a:ext cx="220370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4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Licensed therapeutic care and pastoral support for inner healing — a distinctive, resource-intensive part of Phase 2.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217920" y="2286000"/>
            <a:ext cx="260604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200900" y="2606040"/>
            <a:ext cx="640080" cy="640080"/>
          </a:xfrm>
          <a:prstGeom prst="ellipse">
            <a:avLst/>
          </a:prstGeom>
          <a:solidFill>
            <a:srgbClr val="0A2A47"/>
          </a:solidFill>
          <a:ln/>
        </p:spPr>
      </p:sp>
      <p:pic>
        <p:nvPicPr>
          <p:cNvPr id="17" name="Image 2" descr="/tmp/lwn_deck/icons/glob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6348" y="2761488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00800" y="34290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A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Missions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419088" y="4069080"/>
            <a:ext cx="220370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4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serving placements and the international missions trip that anchors Phase 3 activation.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9006840" y="2286000"/>
            <a:ext cx="260604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989820" y="2606040"/>
            <a:ext cx="640080" cy="640080"/>
          </a:xfrm>
          <a:prstGeom prst="ellipse">
            <a:avLst/>
          </a:prstGeom>
          <a:solidFill>
            <a:srgbClr val="0A2A47"/>
          </a:solidFill>
          <a:ln/>
        </p:spPr>
      </p:sp>
      <p:pic>
        <p:nvPicPr>
          <p:cNvPr id="22" name="Image 3" descr="/tmp/lwn_deck/icons/user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5268" y="2761488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189720" y="34290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A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Staffing &amp; Infrastructure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9208008" y="4069080"/>
            <a:ext cx="220370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4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staff leadership, cohort operations, and the partner and applicant infrastructure that lets Groundwork scale responsibly.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4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Delivery 45% • Staffing &amp; Infrastructure 28% • Pastoral &amp; Therapeutic Support 15% • Missions 12% — consistent with our published Year 1 budget.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Water Network  |  501(c)(3)  |  lwnetwork.org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C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ground floor is now — and it won't last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01568" cy="3291840"/>
          </a:xfrm>
          <a:prstGeom prst="rect">
            <a:avLst/>
          </a:prstGeom>
          <a:solidFill>
            <a:srgbClr val="071D33">
              <a:alpha val="8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286000"/>
            <a:ext cx="685800" cy="685800"/>
          </a:xfrm>
          <a:prstGeom prst="ellipse">
            <a:avLst/>
          </a:prstGeom>
          <a:solidFill>
            <a:srgbClr val="C05A12"/>
          </a:solidFill>
          <a:ln/>
        </p:spPr>
      </p:sp>
      <p:pic>
        <p:nvPicPr>
          <p:cNvPr id="6" name="Image 0" descr="/tmp/lwn_deck/icons/bulb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46888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154680"/>
            <a:ext cx="2761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 influence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960120" y="3703320"/>
            <a:ext cx="276148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A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partners help shape a young organization's culture, curriculum priorities, and partner experience in ways later funders simply can't.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61688" y="1965960"/>
            <a:ext cx="3401568" cy="3291840"/>
          </a:xfrm>
          <a:prstGeom prst="rect">
            <a:avLst/>
          </a:prstGeom>
          <a:solidFill>
            <a:srgbClr val="071D33">
              <a:alpha val="85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4681728" y="2286000"/>
            <a:ext cx="685800" cy="685800"/>
          </a:xfrm>
          <a:prstGeom prst="ellipse">
            <a:avLst/>
          </a:prstGeom>
          <a:solidFill>
            <a:srgbClr val="C05A12"/>
          </a:solidFill>
          <a:ln/>
        </p:spPr>
      </p:sp>
      <p:pic>
        <p:nvPicPr>
          <p:cNvPr id="11" name="Image 1" descr="/tmp/lwn_deck/icons/ca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246888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81728" y="3154680"/>
            <a:ext cx="2761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defined launch window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4681728" y="3703320"/>
            <a:ext cx="276148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A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inaugural cohort launches Spring 2027. Every dollar committed now goes directly toward getting that first cohort to the table.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083296" y="1965960"/>
            <a:ext cx="3401568" cy="3291840"/>
          </a:xfrm>
          <a:prstGeom prst="rect">
            <a:avLst/>
          </a:prstGeom>
          <a:solidFill>
            <a:srgbClr val="071D33">
              <a:alpha val="85000"/>
            </a:srgbClr>
          </a:solidFill>
          <a:ln/>
        </p:spPr>
      </p:sp>
      <p:sp>
        <p:nvSpPr>
          <p:cNvPr id="15" name="Shape 11"/>
          <p:cNvSpPr/>
          <p:nvPr/>
        </p:nvSpPr>
        <p:spPr>
          <a:xfrm>
            <a:off x="8403336" y="2286000"/>
            <a:ext cx="685800" cy="685800"/>
          </a:xfrm>
          <a:prstGeom prst="ellipse">
            <a:avLst/>
          </a:prstGeom>
          <a:solidFill>
            <a:srgbClr val="C05A12"/>
          </a:solidFill>
          <a:ln/>
        </p:spPr>
      </p:sp>
      <p:pic>
        <p:nvPicPr>
          <p:cNvPr id="16" name="Image 2" descr="/tmp/lwn_deck/icons/chartlin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6216" y="246888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03336" y="3154680"/>
            <a:ext cx="2761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costed, credible plan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8403336" y="3703320"/>
            <a:ext cx="276148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EA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Year 1–5 roadmap already exists. Partnering now means funding a plan, not a hope — with clear milestones to hold us accountable.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640080" y="54406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C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for the inaugural cohort are open now. Partner funding secured before Spring 2027 directly determines how many leaders we can seat at the table.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Water Network  |  501(c)(3)  |  lwnetwork.org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0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 us at the table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inviting you to partner at whichever level fits your capacity — every tier funds real scholarship seats for leaders who could not otherwise afford formation.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2651760" cy="1188720"/>
          </a:xfrm>
          <a:prstGeom prst="rect">
            <a:avLst/>
          </a:prstGeom>
          <a:solidFill>
            <a:srgbClr val="0A2A4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40487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Sower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80720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$5,000–$9,999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474720" y="2240280"/>
            <a:ext cx="2651760" cy="1188720"/>
          </a:xfrm>
          <a:prstGeom prst="rect">
            <a:avLst/>
          </a:prstGeom>
          <a:solidFill>
            <a:srgbClr val="445563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0" y="240487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474720" y="280720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$10,000–$24,999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309360" y="2240280"/>
            <a:ext cx="2651760" cy="1188720"/>
          </a:xfrm>
          <a:prstGeom prst="rect">
            <a:avLst/>
          </a:prstGeom>
          <a:solidFill>
            <a:srgbClr val="C05A1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09360" y="240487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Founding Partner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309360" y="280720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$25,000–$59,999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144000" y="2240280"/>
            <a:ext cx="2651760" cy="1188720"/>
          </a:xfrm>
          <a:prstGeom prst="rect">
            <a:avLst/>
          </a:prstGeom>
          <a:solidFill>
            <a:srgbClr val="071D33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44000" y="240487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Legacy Partner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0" y="280720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$60,000+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" y="3794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move forward: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0080" y="4251960"/>
            <a:ext cx="1051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44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partnership tier that fits your capacity and calling</a:t>
            </a:r>
            <a:endParaRPr lang="en-US" sz="1400" dirty="0"/>
          </a:p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44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 follow-up conversation to finalize terms and recognition</a:t>
            </a:r>
            <a:endParaRPr lang="en-US" sz="1400" dirty="0"/>
          </a:p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44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a multi-year partnership commitment (pledges welcomed)</a:t>
            </a:r>
            <a:endParaRPr lang="en-US" sz="1400" dirty="0"/>
          </a:p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44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quarterly updates as your investment forms real leaders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Water Network  |  501(c)(3)  |  lwnetwork.org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71D33">
              <a:alpha val="70000"/>
            </a:srgbClr>
          </a:solidFill>
          <a:ln/>
        </p:spPr>
      </p:sp>
      <p:pic>
        <p:nvPicPr>
          <p:cNvPr id="3" name="Image 0" descr="/tmp/lwn_deck/icons/water_sprin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46304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3440" y="1828800"/>
            <a:ext cx="6675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Rooted in truth.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 to lead.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4690872" y="342900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C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considering a partnership with Living Water Network.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690872" y="4160520"/>
            <a:ext cx="6309360" cy="18288"/>
          </a:xfrm>
          <a:prstGeom prst="rect">
            <a:avLst/>
          </a:prstGeom>
          <a:solidFill>
            <a:srgbClr val="1E4266"/>
          </a:solidFill>
          <a:ln/>
        </p:spPr>
      </p:sp>
      <p:sp>
        <p:nvSpPr>
          <p:cNvPr id="7" name="Text 4"/>
          <p:cNvSpPr/>
          <p:nvPr/>
        </p:nvSpPr>
        <p:spPr>
          <a:xfrm>
            <a:off x="4690872" y="43891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Omar J. Fandino  |  Founder &amp; CEO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690872" y="47548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ofandino@lwnetwork.org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690872" y="505663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lwnetwork.org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690872" y="61264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Water Network Inc.  |  Georgia 501(c)(3)  |  EIN 93-1859873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LWN Partner Investment Pitch Deck</dc:title>
  <dc:subject>PptxGenJS Presentation</dc:subject>
  <dc:creator>Living Water Network</dc:creator>
  <cp:lastModifiedBy>Living Water Network</cp:lastModifiedBy>
  <cp:revision>1</cp:revision>
  <dcterms:created xsi:type="dcterms:W3CDTF">2026-07-05T07:18:31Z</dcterms:created>
  <dcterms:modified xsi:type="dcterms:W3CDTF">2026-07-05T07:18:31Z</dcterms:modified>
</cp:coreProperties>
</file>