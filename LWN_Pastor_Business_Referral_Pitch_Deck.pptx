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Open by framing this as a referral ask, not a donation ask — you are inviting the pastor/business owner into a partnership of trust, sending their most promising people to be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pain point pastors and business owners recognize immediately — they see it in their congregations and teams every week. Keep this relatable, not clinical.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intro to Groundwork before we drill into pillars, phases, and tracks. Photo is a real LWN leadership gathering image, not a stock/staged testimonial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pillars form the shared curriculum in Phase 1, drawn from Omar's 'At the Table' formation guide. All three tracks (Shepherd, Builder, Canvas) walk this together before diverging.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phases at a glance. Emphasize this is a real time commitment (9 months) which is why the referral, not just interest, matters — these are serious, vetted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Speak directly to the pastor about Shepherd, and directly to the business owner about Builder. Canvas exists but isn't the focus of this particular pitch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pastor/business owner to mentally picture one or two specific names in their church or company while reading this list. This is the emotional pivot point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keep this honest and brief per instructions -- do not fabricate bio details, track record, or past outcomes. This quote paraphrases the founding motivation; confirm exact wording with Omar before external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Directly removes the #1 objection a pastor or business owner will raise. This deck intentionally has no donation tier structure -- that lives in a separate fundraising deck for funding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and practical center of the deck. Pause here. Let them literally think of names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them: their only job is the introduction. LWN's team owns everything from application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the referral as a self-interested win, not just generosity -- investing in someone's formation pays back into their own church or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confirm the exact live application URL before distributing this deck externally -- using lwnetwork.org/apply as a placeholder pending Omar's confirmation of the real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Thank the pastor/business owner for their time and reiterate: this is a partnership, not a program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jp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A47"/>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0F3A61"/>
          </a:solidFill>
          <a:ln/>
        </p:spPr>
      </p:sp>
      <p:sp>
        <p:nvSpPr>
          <p:cNvPr id="3" name="Shape 1"/>
          <p:cNvSpPr/>
          <p:nvPr/>
        </p:nvSpPr>
        <p:spPr>
          <a:xfrm>
            <a:off x="10607040" y="4206240"/>
            <a:ext cx="3108960" cy="3108960"/>
          </a:xfrm>
          <a:prstGeom prst="ellipse">
            <a:avLst/>
          </a:prstGeom>
          <a:solidFill>
            <a:srgbClr val="0D3358"/>
          </a:solidFill>
          <a:ln/>
        </p:spPr>
      </p:sp>
      <p:pic>
        <p:nvPicPr>
          <p:cNvPr id="4" name="Image 0" descr="/tmp/lwn_deck/images/logo.png"/>
          <p:cNvPicPr>
            <a:picLocks noChangeAspect="1"/>
          </p:cNvPicPr>
          <p:nvPr/>
        </p:nvPicPr>
        <p:blipFill>
          <a:blip r:embed="rId1"/>
          <a:stretch>
            <a:fillRect/>
          </a:stretch>
        </p:blipFill>
        <p:spPr>
          <a:xfrm>
            <a:off x="640080" y="502920"/>
            <a:ext cx="777240" cy="777240"/>
          </a:xfrm>
          <a:prstGeom prst="rect">
            <a:avLst/>
          </a:prstGeom>
        </p:spPr>
      </p:pic>
      <p:sp>
        <p:nvSpPr>
          <p:cNvPr id="5" name="Text 2"/>
          <p:cNvSpPr/>
          <p:nvPr/>
        </p:nvSpPr>
        <p:spPr>
          <a:xfrm>
            <a:off x="1554480" y="566928"/>
            <a:ext cx="5486400" cy="457200"/>
          </a:xfrm>
          <a:prstGeom prst="rect">
            <a:avLst/>
          </a:prstGeom>
          <a:noFill/>
          <a:ln/>
        </p:spPr>
        <p:txBody>
          <a:bodyPr wrap="square" lIns="0" tIns="0" rIns="0" bIns="0" rtlCol="0" anchor="ctr"/>
          <a:lstStyle/>
          <a:p>
            <a:pPr indent="0" marL="0">
              <a:buNone/>
            </a:pPr>
            <a:r>
              <a:rPr lang="en-US" sz="1400" b="1" spc="200" kern="0" dirty="0">
                <a:solidFill>
                  <a:srgbClr val="7CCBE6"/>
                </a:solidFill>
                <a:latin typeface="Calibri" pitchFamily="34" charset="0"/>
                <a:ea typeface="Calibri" pitchFamily="34" charset="-122"/>
                <a:cs typeface="Calibri" pitchFamily="34" charset="-120"/>
              </a:rPr>
              <a:t>LIVING WATER NETWORK</a:t>
            </a:r>
            <a:endParaRPr lang="en-US" sz="1400" dirty="0"/>
          </a:p>
        </p:txBody>
      </p:sp>
      <p:sp>
        <p:nvSpPr>
          <p:cNvPr id="6" name="Text 3"/>
          <p:cNvSpPr/>
          <p:nvPr/>
        </p:nvSpPr>
        <p:spPr>
          <a:xfrm>
            <a:off x="685800" y="2286000"/>
            <a:ext cx="9692640" cy="1828800"/>
          </a:xfrm>
          <a:prstGeom prst="rect">
            <a:avLst/>
          </a:prstGeom>
          <a:noFill/>
          <a:ln/>
        </p:spPr>
        <p:txBody>
          <a:bodyPr wrap="square" lIns="0" tIns="0" rIns="0" bIns="0" rtlCol="0" anchor="ctr"/>
          <a:lstStyle/>
          <a:p>
            <a:pPr algn="l" indent="0" marL="0">
              <a:lnSpc>
                <a:spcPct val="108000"/>
              </a:lnSpc>
              <a:buNone/>
            </a:pPr>
            <a:r>
              <a:rPr lang="en-US" sz="4000" b="1" dirty="0">
                <a:solidFill>
                  <a:srgbClr val="FFFFFF"/>
                </a:solidFill>
                <a:latin typeface="Cambria" pitchFamily="34" charset="0"/>
                <a:ea typeface="Cambria" pitchFamily="34" charset="-122"/>
                <a:cs typeface="Cambria" pitchFamily="34" charset="-120"/>
              </a:rPr>
              <a:t>You know someone who's gifted.</a:t>
            </a:r>
            <a:endParaRPr lang="en-US" sz="4000" dirty="0"/>
          </a:p>
          <a:p>
            <a:pPr algn="l" indent="0" marL="0">
              <a:lnSpc>
                <a:spcPct val="108000"/>
              </a:lnSpc>
              <a:buNone/>
            </a:pPr>
            <a:r>
              <a:rPr lang="en-US" sz="4000" b="1" dirty="0">
                <a:solidFill>
                  <a:srgbClr val="FFFFFF"/>
                </a:solidFill>
                <a:latin typeface="Cambria" pitchFamily="34" charset="0"/>
                <a:ea typeface="Cambria" pitchFamily="34" charset="-122"/>
                <a:cs typeface="Cambria" pitchFamily="34" charset="-120"/>
              </a:rPr>
              <a:t>We help make them ready.</a:t>
            </a:r>
            <a:endParaRPr lang="en-US" sz="4000" dirty="0"/>
          </a:p>
        </p:txBody>
      </p:sp>
      <p:sp>
        <p:nvSpPr>
          <p:cNvPr id="7" name="Text 4"/>
          <p:cNvSpPr/>
          <p:nvPr/>
        </p:nvSpPr>
        <p:spPr>
          <a:xfrm>
            <a:off x="713232" y="4114800"/>
            <a:ext cx="8686800" cy="457200"/>
          </a:xfrm>
          <a:prstGeom prst="rect">
            <a:avLst/>
          </a:prstGeom>
          <a:noFill/>
          <a:ln/>
        </p:spPr>
        <p:txBody>
          <a:bodyPr wrap="square" lIns="0" tIns="0" rIns="0" bIns="0" rtlCol="0" anchor="ctr"/>
          <a:lstStyle/>
          <a:p>
            <a:pPr algn="l" indent="0" marL="0">
              <a:buNone/>
            </a:pPr>
            <a:r>
              <a:rPr lang="en-US" sz="1800" dirty="0">
                <a:solidFill>
                  <a:srgbClr val="EAF1F6"/>
                </a:solidFill>
                <a:latin typeface="Calibri" pitchFamily="34" charset="0"/>
                <a:ea typeface="Calibri" pitchFamily="34" charset="-122"/>
                <a:cs typeface="Calibri" pitchFamily="34" charset="-120"/>
              </a:rPr>
              <a:t>A referral partnership for pastors and business owners</a:t>
            </a:r>
            <a:endParaRPr lang="en-US" sz="1800" dirty="0"/>
          </a:p>
        </p:txBody>
      </p:sp>
      <p:sp>
        <p:nvSpPr>
          <p:cNvPr id="8" name="Shape 5"/>
          <p:cNvSpPr/>
          <p:nvPr/>
        </p:nvSpPr>
        <p:spPr>
          <a:xfrm>
            <a:off x="713232" y="4709160"/>
            <a:ext cx="502920" cy="41148"/>
          </a:xfrm>
          <a:prstGeom prst="rect">
            <a:avLst/>
          </a:prstGeom>
          <a:solidFill>
            <a:srgbClr val="C05A12"/>
          </a:solidFill>
          <a:ln/>
        </p:spPr>
      </p:sp>
      <p:sp>
        <p:nvSpPr>
          <p:cNvPr id="9" name="Text 6"/>
          <p:cNvSpPr/>
          <p:nvPr/>
        </p:nvSpPr>
        <p:spPr>
          <a:xfrm>
            <a:off x="713232" y="4892040"/>
            <a:ext cx="9144000" cy="365760"/>
          </a:xfrm>
          <a:prstGeom prst="rect">
            <a:avLst/>
          </a:prstGeom>
          <a:noFill/>
          <a:ln/>
        </p:spPr>
        <p:txBody>
          <a:bodyPr wrap="square" lIns="0" tIns="0" rIns="0" bIns="0" rtlCol="0" anchor="ctr"/>
          <a:lstStyle/>
          <a:p>
            <a:pPr indent="0" marL="0">
              <a:buNone/>
            </a:pPr>
            <a:r>
              <a:rPr lang="en-US" sz="1300" b="1" dirty="0">
                <a:solidFill>
                  <a:srgbClr val="7CCBE6"/>
                </a:solidFill>
                <a:latin typeface="Calibri" pitchFamily="34" charset="0"/>
                <a:ea typeface="Calibri" pitchFamily="34" charset="-122"/>
                <a:cs typeface="Calibri" pitchFamily="34" charset="-120"/>
              </a:rPr>
              <a:t xml:space="preserve">Groundwork </a:t>
            </a:r>
            <a:pPr indent="0" marL="0">
              <a:buNone/>
            </a:pPr>
            <a:r>
              <a:rPr lang="en-US" sz="1300" dirty="0">
                <a:solidFill>
                  <a:srgbClr val="C9D9E5"/>
                </a:solidFill>
                <a:latin typeface="Calibri" pitchFamily="34" charset="0"/>
                <a:ea typeface="Calibri" pitchFamily="34" charset="-122"/>
                <a:cs typeface="Calibri" pitchFamily="34" charset="-120"/>
              </a:rPr>
              <a:t>— the 9-month leadership formation journey  |  lwnetwork.org</a:t>
            </a:r>
            <a:endParaRPr lang="en-US" sz="1300" dirty="0"/>
          </a:p>
        </p:txBody>
      </p:sp>
      <p:sp>
        <p:nvSpPr>
          <p:cNvPr id="10" name="Text 7"/>
          <p:cNvSpPr/>
          <p:nvPr/>
        </p:nvSpPr>
        <p:spPr>
          <a:xfrm>
            <a:off x="713232" y="6126480"/>
            <a:ext cx="5486400" cy="365760"/>
          </a:xfrm>
          <a:prstGeom prst="rect">
            <a:avLst/>
          </a:prstGeom>
          <a:noFill/>
          <a:ln/>
        </p:spPr>
        <p:txBody>
          <a:bodyPr wrap="square" lIns="0" tIns="0" rIns="0" bIns="0" rtlCol="0" anchor="ctr"/>
          <a:lstStyle/>
          <a:p>
            <a:pPr indent="0" marL="0">
              <a:buNone/>
            </a:pPr>
            <a:r>
              <a:rPr lang="en-US" sz="1300" i="1" dirty="0">
                <a:solidFill>
                  <a:srgbClr val="89A3B8"/>
                </a:solidFill>
                <a:latin typeface="Cambria" pitchFamily="34" charset="0"/>
                <a:ea typeface="Cambria" pitchFamily="34" charset="-122"/>
                <a:cs typeface="Cambria" pitchFamily="34" charset="-120"/>
              </a:rPr>
              <a:t>Rooted in truth. Sent to lead.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10515600" cy="731520"/>
          </a:xfrm>
          <a:prstGeom prst="rect">
            <a:avLst/>
          </a:prstGeom>
          <a:noFill/>
          <a:ln/>
        </p:spPr>
        <p:txBody>
          <a:bodyPr wrap="square" lIns="0" tIns="0" rIns="0" bIns="0" rtlCol="0" anchor="ctr"/>
          <a:lstStyle/>
          <a:p>
            <a:pPr indent="0" marL="0">
              <a:buNone/>
            </a:pPr>
            <a:r>
              <a:rPr lang="en-US" sz="3400" b="1" dirty="0">
                <a:solidFill>
                  <a:srgbClr val="0A2A47"/>
                </a:solidFill>
                <a:latin typeface="Cambria" pitchFamily="34" charset="0"/>
                <a:ea typeface="Cambria" pitchFamily="34" charset="-122"/>
                <a:cs typeface="Cambria" pitchFamily="34" charset="-120"/>
              </a:rPr>
              <a:t>Talented. Willing. Not yet formed.</a:t>
            </a:r>
            <a:endParaRPr lang="en-US" sz="3400" dirty="0"/>
          </a:p>
        </p:txBody>
      </p:sp>
      <p:sp>
        <p:nvSpPr>
          <p:cNvPr id="3" name="Text 1"/>
          <p:cNvSpPr/>
          <p:nvPr/>
        </p:nvSpPr>
        <p:spPr>
          <a:xfrm>
            <a:off x="685800" y="1170432"/>
            <a:ext cx="10058400" cy="365760"/>
          </a:xfrm>
          <a:prstGeom prst="rect">
            <a:avLst/>
          </a:prstGeom>
          <a:noFill/>
          <a:ln/>
        </p:spPr>
        <p:txBody>
          <a:bodyPr wrap="square" lIns="0" tIns="0" rIns="0" bIns="0" rtlCol="0" anchor="ctr"/>
          <a:lstStyle/>
          <a:p>
            <a:pPr indent="0" marL="0">
              <a:buNone/>
            </a:pPr>
            <a:r>
              <a:rPr lang="en-US" sz="1500" dirty="0">
                <a:solidFill>
                  <a:srgbClr val="445563"/>
                </a:solidFill>
                <a:latin typeface="Calibri" pitchFamily="34" charset="0"/>
                <a:ea typeface="Calibri" pitchFamily="34" charset="-122"/>
                <a:cs typeface="Calibri" pitchFamily="34" charset="-120"/>
              </a:rPr>
              <a:t>The pattern every pastor and business owner has watched play out</a:t>
            </a:r>
            <a:endParaRPr lang="en-US" sz="1500" dirty="0"/>
          </a:p>
        </p:txBody>
      </p:sp>
      <p:sp>
        <p:nvSpPr>
          <p:cNvPr id="4" name="Shape 2"/>
          <p:cNvSpPr/>
          <p:nvPr/>
        </p:nvSpPr>
        <p:spPr>
          <a:xfrm>
            <a:off x="685800" y="1874520"/>
            <a:ext cx="2514600" cy="4160520"/>
          </a:xfrm>
          <a:prstGeom prst="roundRect">
            <a:avLst>
              <a:gd name="adj" fmla="val 2909"/>
            </a:avLst>
          </a:prstGeom>
          <a:solidFill>
            <a:srgbClr val="EAF1F6"/>
          </a:solidFill>
          <a:ln/>
          <a:effectLst>
            <a:outerShdw sx="100000" sy="100000" kx="0" ky="0" algn="bl" rotWithShape="0" blurRad="127000" dist="38100" dir="5400000">
              <a:srgbClr val="0A2A47">
                <a:alpha val="14000"/>
              </a:srgbClr>
            </a:outerShdw>
          </a:effectLst>
        </p:spPr>
      </p:sp>
      <p:sp>
        <p:nvSpPr>
          <p:cNvPr id="5" name="Shape 3"/>
          <p:cNvSpPr/>
          <p:nvPr/>
        </p:nvSpPr>
        <p:spPr>
          <a:xfrm>
            <a:off x="941832" y="2167128"/>
            <a:ext cx="640080" cy="640080"/>
          </a:xfrm>
          <a:prstGeom prst="ellipse">
            <a:avLst/>
          </a:prstGeom>
          <a:solidFill>
            <a:srgbClr val="FFFFFF"/>
          </a:solidFill>
          <a:ln/>
        </p:spPr>
      </p:sp>
      <p:pic>
        <p:nvPicPr>
          <p:cNvPr id="6" name="Image 0" descr="preencoded.png"/>
          <p:cNvPicPr>
            <a:picLocks noChangeAspect="1"/>
          </p:cNvPicPr>
          <p:nvPr/>
        </p:nvPicPr>
        <p:blipFill>
          <a:blip r:embed="rId1"/>
          <a:stretch>
            <a:fillRect/>
          </a:stretch>
        </p:blipFill>
        <p:spPr>
          <a:xfrm>
            <a:off x="1088136" y="2313432"/>
            <a:ext cx="347472" cy="347472"/>
          </a:xfrm>
          <a:prstGeom prst="rect">
            <a:avLst/>
          </a:prstGeom>
        </p:spPr>
      </p:pic>
      <p:sp>
        <p:nvSpPr>
          <p:cNvPr id="7" name="Text 4"/>
          <p:cNvSpPr/>
          <p:nvPr/>
        </p:nvSpPr>
        <p:spPr>
          <a:xfrm>
            <a:off x="905256" y="2971800"/>
            <a:ext cx="2075688" cy="731520"/>
          </a:xfrm>
          <a:prstGeom prst="rect">
            <a:avLst/>
          </a:prstGeom>
          <a:noFill/>
          <a:ln/>
        </p:spPr>
        <p:txBody>
          <a:bodyPr wrap="square" lIns="0" tIns="0" rIns="0" bIns="0" rtlCol="0" anchor="t"/>
          <a:lstStyle/>
          <a:p>
            <a:pPr indent="0" marL="0">
              <a:buNone/>
            </a:pPr>
            <a:r>
              <a:rPr lang="en-US" sz="1600" b="1" dirty="0">
                <a:solidFill>
                  <a:srgbClr val="0A2A47"/>
                </a:solidFill>
                <a:latin typeface="Cambria" pitchFamily="34" charset="0"/>
                <a:ea typeface="Cambria" pitchFamily="34" charset="-122"/>
                <a:cs typeface="Cambria" pitchFamily="34" charset="-120"/>
              </a:rPr>
              <a:t>Burnout before breakthrough</a:t>
            </a:r>
            <a:endParaRPr lang="en-US" sz="1600" dirty="0"/>
          </a:p>
        </p:txBody>
      </p:sp>
      <p:sp>
        <p:nvSpPr>
          <p:cNvPr id="8" name="Text 5"/>
          <p:cNvSpPr/>
          <p:nvPr/>
        </p:nvSpPr>
        <p:spPr>
          <a:xfrm>
            <a:off x="905256" y="3703320"/>
            <a:ext cx="2075688" cy="2194560"/>
          </a:xfrm>
          <a:prstGeom prst="rect">
            <a:avLst/>
          </a:prstGeom>
          <a:noFill/>
          <a:ln/>
        </p:spPr>
        <p:txBody>
          <a:bodyPr wrap="square" lIns="0" tIns="0" rIns="0" bIns="0" rtlCol="0" anchor="t"/>
          <a:lstStyle/>
          <a:p>
            <a:pPr indent="0" marL="0">
              <a:lnSpc>
                <a:spcPct val="115000"/>
              </a:lnSpc>
              <a:buNone/>
            </a:pPr>
            <a:r>
              <a:rPr lang="en-US" sz="1250" dirty="0">
                <a:solidFill>
                  <a:srgbClr val="445563"/>
                </a:solidFill>
                <a:latin typeface="Calibri" pitchFamily="34" charset="0"/>
                <a:ea typeface="Calibri" pitchFamily="34" charset="-122"/>
                <a:cs typeface="Calibri" pitchFamily="34" charset="-120"/>
              </a:rPr>
              <a:t>Gifted people pushed into leadership before their character has caught up to their capacity.</a:t>
            </a:r>
            <a:endParaRPr lang="en-US" sz="1250" dirty="0"/>
          </a:p>
        </p:txBody>
      </p:sp>
      <p:sp>
        <p:nvSpPr>
          <p:cNvPr id="9" name="Shape 6"/>
          <p:cNvSpPr/>
          <p:nvPr/>
        </p:nvSpPr>
        <p:spPr>
          <a:xfrm>
            <a:off x="3456432" y="1874520"/>
            <a:ext cx="2514600" cy="4160520"/>
          </a:xfrm>
          <a:prstGeom prst="roundRect">
            <a:avLst>
              <a:gd name="adj" fmla="val 2909"/>
            </a:avLst>
          </a:prstGeom>
          <a:solidFill>
            <a:srgbClr val="EAF1F6"/>
          </a:solidFill>
          <a:ln/>
          <a:effectLst>
            <a:outerShdw sx="100000" sy="100000" kx="0" ky="0" algn="bl" rotWithShape="0" blurRad="127000" dist="38100" dir="5400000">
              <a:srgbClr val="0A2A47">
                <a:alpha val="14000"/>
              </a:srgbClr>
            </a:outerShdw>
          </a:effectLst>
        </p:spPr>
      </p:sp>
      <p:sp>
        <p:nvSpPr>
          <p:cNvPr id="10" name="Shape 7"/>
          <p:cNvSpPr/>
          <p:nvPr/>
        </p:nvSpPr>
        <p:spPr>
          <a:xfrm>
            <a:off x="3712464" y="2167128"/>
            <a:ext cx="640080" cy="640080"/>
          </a:xfrm>
          <a:prstGeom prst="ellipse">
            <a:avLst/>
          </a:prstGeom>
          <a:solidFill>
            <a:srgbClr val="FFFFFF"/>
          </a:solidFill>
          <a:ln/>
        </p:spPr>
      </p:sp>
      <p:pic>
        <p:nvPicPr>
          <p:cNvPr id="11" name="Image 1" descr="preencoded.png"/>
          <p:cNvPicPr>
            <a:picLocks noChangeAspect="1"/>
          </p:cNvPicPr>
          <p:nvPr/>
        </p:nvPicPr>
        <p:blipFill>
          <a:blip r:embed="rId2"/>
          <a:stretch>
            <a:fillRect/>
          </a:stretch>
        </p:blipFill>
        <p:spPr>
          <a:xfrm>
            <a:off x="3858768" y="2313432"/>
            <a:ext cx="347472" cy="347472"/>
          </a:xfrm>
          <a:prstGeom prst="rect">
            <a:avLst/>
          </a:prstGeom>
        </p:spPr>
      </p:pic>
      <p:sp>
        <p:nvSpPr>
          <p:cNvPr id="12" name="Text 8"/>
          <p:cNvSpPr/>
          <p:nvPr/>
        </p:nvSpPr>
        <p:spPr>
          <a:xfrm>
            <a:off x="3675888" y="2971800"/>
            <a:ext cx="2075688" cy="731520"/>
          </a:xfrm>
          <a:prstGeom prst="rect">
            <a:avLst/>
          </a:prstGeom>
          <a:noFill/>
          <a:ln/>
        </p:spPr>
        <p:txBody>
          <a:bodyPr wrap="square" lIns="0" tIns="0" rIns="0" bIns="0" rtlCol="0" anchor="t"/>
          <a:lstStyle/>
          <a:p>
            <a:pPr indent="0" marL="0">
              <a:buNone/>
            </a:pPr>
            <a:r>
              <a:rPr lang="en-US" sz="1600" b="1" dirty="0">
                <a:solidFill>
                  <a:srgbClr val="0A2A47"/>
                </a:solidFill>
                <a:latin typeface="Cambria" pitchFamily="34" charset="0"/>
                <a:ea typeface="Cambria" pitchFamily="34" charset="-122"/>
                <a:cs typeface="Cambria" pitchFamily="34" charset="-120"/>
              </a:rPr>
              <a:t>Leading from wounds, not wholeness</a:t>
            </a:r>
            <a:endParaRPr lang="en-US" sz="1600" dirty="0"/>
          </a:p>
        </p:txBody>
      </p:sp>
      <p:sp>
        <p:nvSpPr>
          <p:cNvPr id="13" name="Text 9"/>
          <p:cNvSpPr/>
          <p:nvPr/>
        </p:nvSpPr>
        <p:spPr>
          <a:xfrm>
            <a:off x="3675888" y="3703320"/>
            <a:ext cx="2075688" cy="2194560"/>
          </a:xfrm>
          <a:prstGeom prst="rect">
            <a:avLst/>
          </a:prstGeom>
          <a:noFill/>
          <a:ln/>
        </p:spPr>
        <p:txBody>
          <a:bodyPr wrap="square" lIns="0" tIns="0" rIns="0" bIns="0" rtlCol="0" anchor="t"/>
          <a:lstStyle/>
          <a:p>
            <a:pPr indent="0" marL="0">
              <a:lnSpc>
                <a:spcPct val="115000"/>
              </a:lnSpc>
              <a:buNone/>
            </a:pPr>
            <a:r>
              <a:rPr lang="en-US" sz="1250" dirty="0">
                <a:solidFill>
                  <a:srgbClr val="445563"/>
                </a:solidFill>
                <a:latin typeface="Calibri" pitchFamily="34" charset="0"/>
                <a:ea typeface="Calibri" pitchFamily="34" charset="-122"/>
                <a:cs typeface="Calibri" pitchFamily="34" charset="-120"/>
              </a:rPr>
              <a:t>Unresolved hurt quietly drives decisions, relationships, and ministry or management style.</a:t>
            </a:r>
            <a:endParaRPr lang="en-US" sz="1250" dirty="0"/>
          </a:p>
        </p:txBody>
      </p:sp>
      <p:sp>
        <p:nvSpPr>
          <p:cNvPr id="14" name="Shape 10"/>
          <p:cNvSpPr/>
          <p:nvPr/>
        </p:nvSpPr>
        <p:spPr>
          <a:xfrm>
            <a:off x="6227064" y="1874520"/>
            <a:ext cx="2514600" cy="4160520"/>
          </a:xfrm>
          <a:prstGeom prst="roundRect">
            <a:avLst>
              <a:gd name="adj" fmla="val 2909"/>
            </a:avLst>
          </a:prstGeom>
          <a:solidFill>
            <a:srgbClr val="EAF1F6"/>
          </a:solidFill>
          <a:ln/>
          <a:effectLst>
            <a:outerShdw sx="100000" sy="100000" kx="0" ky="0" algn="bl" rotWithShape="0" blurRad="127000" dist="38100" dir="5400000">
              <a:srgbClr val="0A2A47">
                <a:alpha val="14000"/>
              </a:srgbClr>
            </a:outerShdw>
          </a:effectLst>
        </p:spPr>
      </p:sp>
      <p:sp>
        <p:nvSpPr>
          <p:cNvPr id="15" name="Shape 11"/>
          <p:cNvSpPr/>
          <p:nvPr/>
        </p:nvSpPr>
        <p:spPr>
          <a:xfrm>
            <a:off x="6483096" y="2167128"/>
            <a:ext cx="640080" cy="640080"/>
          </a:xfrm>
          <a:prstGeom prst="ellipse">
            <a:avLst/>
          </a:prstGeom>
          <a:solidFill>
            <a:srgbClr val="FFFFFF"/>
          </a:solidFill>
          <a:ln/>
        </p:spPr>
      </p:sp>
      <p:pic>
        <p:nvPicPr>
          <p:cNvPr id="16" name="Image 2" descr="preencoded.png"/>
          <p:cNvPicPr>
            <a:picLocks noChangeAspect="1"/>
          </p:cNvPicPr>
          <p:nvPr/>
        </p:nvPicPr>
        <p:blipFill>
          <a:blip r:embed="rId3"/>
          <a:stretch>
            <a:fillRect/>
          </a:stretch>
        </p:blipFill>
        <p:spPr>
          <a:xfrm>
            <a:off x="6629400" y="2313432"/>
            <a:ext cx="347472" cy="347472"/>
          </a:xfrm>
          <a:prstGeom prst="rect">
            <a:avLst/>
          </a:prstGeom>
        </p:spPr>
      </p:pic>
      <p:sp>
        <p:nvSpPr>
          <p:cNvPr id="17" name="Text 12"/>
          <p:cNvSpPr/>
          <p:nvPr/>
        </p:nvSpPr>
        <p:spPr>
          <a:xfrm>
            <a:off x="6446520" y="2971800"/>
            <a:ext cx="2075688" cy="731520"/>
          </a:xfrm>
          <a:prstGeom prst="rect">
            <a:avLst/>
          </a:prstGeom>
          <a:noFill/>
          <a:ln/>
        </p:spPr>
        <p:txBody>
          <a:bodyPr wrap="square" lIns="0" tIns="0" rIns="0" bIns="0" rtlCol="0" anchor="t"/>
          <a:lstStyle/>
          <a:p>
            <a:pPr indent="0" marL="0">
              <a:buNone/>
            </a:pPr>
            <a:r>
              <a:rPr lang="en-US" sz="1600" b="1" dirty="0">
                <a:solidFill>
                  <a:srgbClr val="0A2A47"/>
                </a:solidFill>
                <a:latin typeface="Cambria" pitchFamily="34" charset="0"/>
                <a:ea typeface="Cambria" pitchFamily="34" charset="-122"/>
                <a:cs typeface="Cambria" pitchFamily="34" charset="-120"/>
              </a:rPr>
              <a:t>Calling without clarity</a:t>
            </a:r>
            <a:endParaRPr lang="en-US" sz="1600" dirty="0"/>
          </a:p>
        </p:txBody>
      </p:sp>
      <p:sp>
        <p:nvSpPr>
          <p:cNvPr id="18" name="Text 13"/>
          <p:cNvSpPr/>
          <p:nvPr/>
        </p:nvSpPr>
        <p:spPr>
          <a:xfrm>
            <a:off x="6446520" y="3703320"/>
            <a:ext cx="2075688" cy="2194560"/>
          </a:xfrm>
          <a:prstGeom prst="rect">
            <a:avLst/>
          </a:prstGeom>
          <a:noFill/>
          <a:ln/>
        </p:spPr>
        <p:txBody>
          <a:bodyPr wrap="square" lIns="0" tIns="0" rIns="0" bIns="0" rtlCol="0" anchor="t"/>
          <a:lstStyle/>
          <a:p>
            <a:pPr indent="0" marL="0">
              <a:lnSpc>
                <a:spcPct val="115000"/>
              </a:lnSpc>
              <a:buNone/>
            </a:pPr>
            <a:r>
              <a:rPr lang="en-US" sz="1250" dirty="0">
                <a:solidFill>
                  <a:srgbClr val="445563"/>
                </a:solidFill>
                <a:latin typeface="Calibri" pitchFamily="34" charset="0"/>
                <a:ea typeface="Calibri" pitchFamily="34" charset="-122"/>
                <a:cs typeface="Calibri" pitchFamily="34" charset="-120"/>
              </a:rPr>
              <a:t>Real potential, but no framework to discern what they're actually built and called to do.</a:t>
            </a:r>
            <a:endParaRPr lang="en-US" sz="1250" dirty="0"/>
          </a:p>
        </p:txBody>
      </p:sp>
      <p:sp>
        <p:nvSpPr>
          <p:cNvPr id="19" name="Shape 14"/>
          <p:cNvSpPr/>
          <p:nvPr/>
        </p:nvSpPr>
        <p:spPr>
          <a:xfrm>
            <a:off x="8997696" y="1874520"/>
            <a:ext cx="2514600" cy="4160520"/>
          </a:xfrm>
          <a:prstGeom prst="roundRect">
            <a:avLst>
              <a:gd name="adj" fmla="val 2909"/>
            </a:avLst>
          </a:prstGeom>
          <a:solidFill>
            <a:srgbClr val="EAF1F6"/>
          </a:solidFill>
          <a:ln/>
          <a:effectLst>
            <a:outerShdw sx="100000" sy="100000" kx="0" ky="0" algn="bl" rotWithShape="0" blurRad="127000" dist="38100" dir="5400000">
              <a:srgbClr val="0A2A47">
                <a:alpha val="14000"/>
              </a:srgbClr>
            </a:outerShdw>
          </a:effectLst>
        </p:spPr>
      </p:sp>
      <p:sp>
        <p:nvSpPr>
          <p:cNvPr id="20" name="Shape 15"/>
          <p:cNvSpPr/>
          <p:nvPr/>
        </p:nvSpPr>
        <p:spPr>
          <a:xfrm>
            <a:off x="9253728" y="2167128"/>
            <a:ext cx="640080" cy="640080"/>
          </a:xfrm>
          <a:prstGeom prst="ellipse">
            <a:avLst/>
          </a:prstGeom>
          <a:solidFill>
            <a:srgbClr val="FFFFFF"/>
          </a:solidFill>
          <a:ln/>
        </p:spPr>
      </p:sp>
      <p:pic>
        <p:nvPicPr>
          <p:cNvPr id="21" name="Image 3" descr="preencoded.png"/>
          <p:cNvPicPr>
            <a:picLocks noChangeAspect="1"/>
          </p:cNvPicPr>
          <p:nvPr/>
        </p:nvPicPr>
        <p:blipFill>
          <a:blip r:embed="rId4"/>
          <a:stretch>
            <a:fillRect/>
          </a:stretch>
        </p:blipFill>
        <p:spPr>
          <a:xfrm>
            <a:off x="9400032" y="2313432"/>
            <a:ext cx="347472" cy="347472"/>
          </a:xfrm>
          <a:prstGeom prst="rect">
            <a:avLst/>
          </a:prstGeom>
        </p:spPr>
      </p:pic>
      <p:sp>
        <p:nvSpPr>
          <p:cNvPr id="22" name="Text 16"/>
          <p:cNvSpPr/>
          <p:nvPr/>
        </p:nvSpPr>
        <p:spPr>
          <a:xfrm>
            <a:off x="9217152" y="2971800"/>
            <a:ext cx="2075688" cy="731520"/>
          </a:xfrm>
          <a:prstGeom prst="rect">
            <a:avLst/>
          </a:prstGeom>
          <a:noFill/>
          <a:ln/>
        </p:spPr>
        <p:txBody>
          <a:bodyPr wrap="square" lIns="0" tIns="0" rIns="0" bIns="0" rtlCol="0" anchor="t"/>
          <a:lstStyle/>
          <a:p>
            <a:pPr indent="0" marL="0">
              <a:buNone/>
            </a:pPr>
            <a:r>
              <a:rPr lang="en-US" sz="1600" b="1" dirty="0">
                <a:solidFill>
                  <a:srgbClr val="0A2A47"/>
                </a:solidFill>
                <a:latin typeface="Cambria" pitchFamily="34" charset="0"/>
                <a:ea typeface="Cambria" pitchFamily="34" charset="-122"/>
                <a:cs typeface="Cambria" pitchFamily="34" charset="-120"/>
              </a:rPr>
              <a:t>Shallow discipleship</a:t>
            </a:r>
            <a:endParaRPr lang="en-US" sz="1600" dirty="0"/>
          </a:p>
        </p:txBody>
      </p:sp>
      <p:sp>
        <p:nvSpPr>
          <p:cNvPr id="23" name="Text 17"/>
          <p:cNvSpPr/>
          <p:nvPr/>
        </p:nvSpPr>
        <p:spPr>
          <a:xfrm>
            <a:off x="9217152" y="3703320"/>
            <a:ext cx="2075688" cy="2194560"/>
          </a:xfrm>
          <a:prstGeom prst="rect">
            <a:avLst/>
          </a:prstGeom>
          <a:noFill/>
          <a:ln/>
        </p:spPr>
        <p:txBody>
          <a:bodyPr wrap="square" lIns="0" tIns="0" rIns="0" bIns="0" rtlCol="0" anchor="t"/>
          <a:lstStyle/>
          <a:p>
            <a:pPr indent="0" marL="0">
              <a:lnSpc>
                <a:spcPct val="115000"/>
              </a:lnSpc>
              <a:buNone/>
            </a:pPr>
            <a:r>
              <a:rPr lang="en-US" sz="1250" dirty="0">
                <a:solidFill>
                  <a:srgbClr val="445563"/>
                </a:solidFill>
                <a:latin typeface="Calibri" pitchFamily="34" charset="0"/>
                <a:ea typeface="Calibri" pitchFamily="34" charset="-122"/>
                <a:cs typeface="Calibri" pitchFamily="34" charset="-120"/>
              </a:rPr>
              <a:t>Sunday teaching and on-the-job training aren't built for deep, sustained personal formation.</a:t>
            </a:r>
            <a:endParaRPr lang="en-US" sz="1250" dirty="0"/>
          </a:p>
        </p:txBody>
      </p:sp>
      <p:sp>
        <p:nvSpPr>
          <p:cNvPr id="24" name="Text 1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445563"/>
                </a:solidFill>
                <a:latin typeface="Calibri" pitchFamily="34" charset="0"/>
                <a:ea typeface="Calibri" pitchFamily="34" charset="-122"/>
                <a:cs typeface="Calibri" pitchFamily="34" charset="-120"/>
              </a:rPr>
              <a:t>Living Water Network  |  Referral Partnership</a:t>
            </a:r>
            <a:endParaRPr lang="en-US" sz="900" dirty="0"/>
          </a:p>
        </p:txBody>
      </p:sp>
      <p:sp>
        <p:nvSpPr>
          <p:cNvPr id="25"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44556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A47"/>
        </a:solidFill>
      </p:bgPr>
    </p:bg>
    <p:spTree>
      <p:nvGrpSpPr>
        <p:cNvPr id="1" name=""/>
        <p:cNvGrpSpPr/>
        <p:nvPr/>
      </p:nvGrpSpPr>
      <p:grpSpPr>
        <a:xfrm>
          <a:off x="0" y="0"/>
          <a:ext cx="0" cy="0"/>
          <a:chOff x="0" y="0"/>
          <a:chExt cx="0" cy="0"/>
        </a:xfrm>
      </p:grpSpPr>
      <p:sp>
        <p:nvSpPr>
          <p:cNvPr id="2" name="Text 0"/>
          <p:cNvSpPr/>
          <p:nvPr/>
        </p:nvSpPr>
        <p:spPr>
          <a:xfrm>
            <a:off x="685800" y="50292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Introducing Groundwork</a:t>
            </a:r>
            <a:endParaRPr lang="en-US" sz="3200" dirty="0"/>
          </a:p>
        </p:txBody>
      </p:sp>
      <p:sp>
        <p:nvSpPr>
          <p:cNvPr id="3" name="Text 1"/>
          <p:cNvSpPr/>
          <p:nvPr/>
        </p:nvSpPr>
        <p:spPr>
          <a:xfrm>
            <a:off x="685800" y="1133856"/>
            <a:ext cx="7315200" cy="365760"/>
          </a:xfrm>
          <a:prstGeom prst="rect">
            <a:avLst/>
          </a:prstGeom>
          <a:noFill/>
          <a:ln/>
        </p:spPr>
        <p:txBody>
          <a:bodyPr wrap="square" lIns="0" tIns="0" rIns="0" bIns="0" rtlCol="0" anchor="ctr"/>
          <a:lstStyle/>
          <a:p>
            <a:pPr indent="0" marL="0">
              <a:buNone/>
            </a:pPr>
            <a:r>
              <a:rPr lang="en-US" sz="1500" dirty="0">
                <a:solidFill>
                  <a:srgbClr val="7CCBE6"/>
                </a:solidFill>
                <a:latin typeface="Calibri" pitchFamily="34" charset="0"/>
                <a:ea typeface="Calibri" pitchFamily="34" charset="-122"/>
                <a:cs typeface="Calibri" pitchFamily="34" charset="-120"/>
              </a:rPr>
              <a:t>LWN's 9-month whole-person leadership formation journey</a:t>
            </a:r>
            <a:endParaRPr lang="en-US" sz="1500" dirty="0"/>
          </a:p>
        </p:txBody>
      </p:sp>
      <p:sp>
        <p:nvSpPr>
          <p:cNvPr id="4" name="Text 2"/>
          <p:cNvSpPr/>
          <p:nvPr/>
        </p:nvSpPr>
        <p:spPr>
          <a:xfrm>
            <a:off x="685800" y="1783080"/>
            <a:ext cx="6035040" cy="1737360"/>
          </a:xfrm>
          <a:prstGeom prst="rect">
            <a:avLst/>
          </a:prstGeom>
          <a:noFill/>
          <a:ln/>
        </p:spPr>
        <p:txBody>
          <a:bodyPr wrap="square" lIns="0" tIns="0" rIns="0" bIns="0" rtlCol="0" anchor="ctr"/>
          <a:lstStyle/>
          <a:p>
            <a:pPr indent="0" marL="0">
              <a:lnSpc>
                <a:spcPct val="125000"/>
              </a:lnSpc>
              <a:buNone/>
            </a:pPr>
            <a:r>
              <a:rPr lang="en-US" sz="1450" dirty="0">
                <a:solidFill>
                  <a:srgbClr val="EAF1F6"/>
                </a:solidFill>
                <a:latin typeface="Calibri" pitchFamily="34" charset="0"/>
                <a:ea typeface="Calibri" pitchFamily="34" charset="-122"/>
                <a:cs typeface="Calibri" pitchFamily="34" charset="-120"/>
              </a:rPr>
              <a:t xml:space="preserve">Groundwork forms the whole person before it hands anyone a title. </a:t>
            </a:r>
            <a:pPr indent="0" marL="0">
              <a:lnSpc>
                <a:spcPct val="125000"/>
              </a:lnSpc>
              <a:buNone/>
            </a:pPr>
            <a:r>
              <a:rPr lang="en-US" sz="1450" dirty="0">
                <a:solidFill>
                  <a:srgbClr val="EAF1F6"/>
                </a:solidFill>
                <a:latin typeface="Calibri" pitchFamily="34" charset="0"/>
                <a:ea typeface="Calibri" pitchFamily="34" charset="-122"/>
                <a:cs typeface="Calibri" pitchFamily="34" charset="-120"/>
              </a:rPr>
              <a:t>Over nine months, small cohorts of 8–12 leaders walk through formation, discovery, and activation — led by seasoned, formed leaders with pastoral and licensed therapeutic support woven throughout.</a:t>
            </a:r>
            <a:endParaRPr lang="en-US" sz="1450" dirty="0"/>
          </a:p>
        </p:txBody>
      </p:sp>
      <p:sp>
        <p:nvSpPr>
          <p:cNvPr id="5" name="Text 3"/>
          <p:cNvSpPr/>
          <p:nvPr/>
        </p:nvSpPr>
        <p:spPr>
          <a:xfrm>
            <a:off x="685800" y="3749040"/>
            <a:ext cx="1188720" cy="685800"/>
          </a:xfrm>
          <a:prstGeom prst="rect">
            <a:avLst/>
          </a:prstGeom>
          <a:noFill/>
          <a:ln/>
        </p:spPr>
        <p:txBody>
          <a:bodyPr wrap="square" lIns="0" tIns="0" rIns="0" bIns="0" rtlCol="0" anchor="ctr"/>
          <a:lstStyle/>
          <a:p>
            <a:pPr indent="0" marL="0">
              <a:buNone/>
            </a:pPr>
            <a:r>
              <a:rPr lang="en-US" sz="3400" b="1" dirty="0">
                <a:solidFill>
                  <a:srgbClr val="C05A12"/>
                </a:solidFill>
                <a:latin typeface="Cambria" pitchFamily="34" charset="0"/>
                <a:ea typeface="Cambria" pitchFamily="34" charset="-122"/>
                <a:cs typeface="Cambria" pitchFamily="34" charset="-120"/>
              </a:rPr>
              <a:t>9</a:t>
            </a:r>
            <a:endParaRPr lang="en-US" sz="3400" dirty="0"/>
          </a:p>
        </p:txBody>
      </p:sp>
      <p:sp>
        <p:nvSpPr>
          <p:cNvPr id="6" name="Text 4"/>
          <p:cNvSpPr/>
          <p:nvPr/>
        </p:nvSpPr>
        <p:spPr>
          <a:xfrm>
            <a:off x="1920240" y="3749040"/>
            <a:ext cx="3840480" cy="685800"/>
          </a:xfrm>
          <a:prstGeom prst="rect">
            <a:avLst/>
          </a:prstGeom>
          <a:noFill/>
          <a:ln/>
        </p:spPr>
        <p:txBody>
          <a:bodyPr wrap="square" lIns="0" tIns="0" rIns="0" bIns="0" rtlCol="0" anchor="ctr"/>
          <a:lstStyle/>
          <a:p>
            <a:pPr indent="0" marL="0">
              <a:buNone/>
            </a:pPr>
            <a:r>
              <a:rPr lang="en-US" sz="1350" dirty="0">
                <a:solidFill>
                  <a:srgbClr val="C9D9E5"/>
                </a:solidFill>
                <a:latin typeface="Calibri" pitchFamily="34" charset="0"/>
                <a:ea typeface="Calibri" pitchFamily="34" charset="-122"/>
                <a:cs typeface="Calibri" pitchFamily="34" charset="-120"/>
              </a:rPr>
              <a:t>months, three phases</a:t>
            </a:r>
            <a:endParaRPr lang="en-US" sz="1350" dirty="0"/>
          </a:p>
        </p:txBody>
      </p:sp>
      <p:sp>
        <p:nvSpPr>
          <p:cNvPr id="7" name="Text 5"/>
          <p:cNvSpPr/>
          <p:nvPr/>
        </p:nvSpPr>
        <p:spPr>
          <a:xfrm>
            <a:off x="685800" y="4526280"/>
            <a:ext cx="1188720" cy="685800"/>
          </a:xfrm>
          <a:prstGeom prst="rect">
            <a:avLst/>
          </a:prstGeom>
          <a:noFill/>
          <a:ln/>
        </p:spPr>
        <p:txBody>
          <a:bodyPr wrap="square" lIns="0" tIns="0" rIns="0" bIns="0" rtlCol="0" anchor="ctr"/>
          <a:lstStyle/>
          <a:p>
            <a:pPr indent="0" marL="0">
              <a:buNone/>
            </a:pPr>
            <a:r>
              <a:rPr lang="en-US" sz="3400" b="1" dirty="0">
                <a:solidFill>
                  <a:srgbClr val="C05A12"/>
                </a:solidFill>
                <a:latin typeface="Cambria" pitchFamily="34" charset="0"/>
                <a:ea typeface="Cambria" pitchFamily="34" charset="-122"/>
                <a:cs typeface="Cambria" pitchFamily="34" charset="-120"/>
              </a:rPr>
              <a:t>8–12</a:t>
            </a:r>
            <a:endParaRPr lang="en-US" sz="3400" dirty="0"/>
          </a:p>
        </p:txBody>
      </p:sp>
      <p:sp>
        <p:nvSpPr>
          <p:cNvPr id="8" name="Text 6"/>
          <p:cNvSpPr/>
          <p:nvPr/>
        </p:nvSpPr>
        <p:spPr>
          <a:xfrm>
            <a:off x="1920240" y="4526280"/>
            <a:ext cx="3840480" cy="685800"/>
          </a:xfrm>
          <a:prstGeom prst="rect">
            <a:avLst/>
          </a:prstGeom>
          <a:noFill/>
          <a:ln/>
        </p:spPr>
        <p:txBody>
          <a:bodyPr wrap="square" lIns="0" tIns="0" rIns="0" bIns="0" rtlCol="0" anchor="ctr"/>
          <a:lstStyle/>
          <a:p>
            <a:pPr indent="0" marL="0">
              <a:buNone/>
            </a:pPr>
            <a:r>
              <a:rPr lang="en-US" sz="1350" dirty="0">
                <a:solidFill>
                  <a:srgbClr val="C9D9E5"/>
                </a:solidFill>
                <a:latin typeface="Calibri" pitchFamily="34" charset="0"/>
                <a:ea typeface="Calibri" pitchFamily="34" charset="-122"/>
                <a:cs typeface="Calibri" pitchFamily="34" charset="-120"/>
              </a:rPr>
              <a:t>leaders per cohort</a:t>
            </a:r>
            <a:endParaRPr lang="en-US" sz="1350" dirty="0"/>
          </a:p>
        </p:txBody>
      </p:sp>
      <p:sp>
        <p:nvSpPr>
          <p:cNvPr id="9" name="Text 7"/>
          <p:cNvSpPr/>
          <p:nvPr/>
        </p:nvSpPr>
        <p:spPr>
          <a:xfrm>
            <a:off x="685800" y="5303520"/>
            <a:ext cx="1188720" cy="685800"/>
          </a:xfrm>
          <a:prstGeom prst="rect">
            <a:avLst/>
          </a:prstGeom>
          <a:noFill/>
          <a:ln/>
        </p:spPr>
        <p:txBody>
          <a:bodyPr wrap="square" lIns="0" tIns="0" rIns="0" bIns="0" rtlCol="0" anchor="ctr"/>
          <a:lstStyle/>
          <a:p>
            <a:pPr indent="0" marL="0">
              <a:buNone/>
            </a:pPr>
            <a:r>
              <a:rPr lang="en-US" sz="3400" b="1" dirty="0">
                <a:solidFill>
                  <a:srgbClr val="C05A12"/>
                </a:solidFill>
                <a:latin typeface="Cambria" pitchFamily="34" charset="0"/>
                <a:ea typeface="Cambria" pitchFamily="34" charset="-122"/>
                <a:cs typeface="Cambria" pitchFamily="34" charset="-120"/>
              </a:rPr>
              <a:t>3</a:t>
            </a:r>
            <a:endParaRPr lang="en-US" sz="3400" dirty="0"/>
          </a:p>
        </p:txBody>
      </p:sp>
      <p:sp>
        <p:nvSpPr>
          <p:cNvPr id="10" name="Text 8"/>
          <p:cNvSpPr/>
          <p:nvPr/>
        </p:nvSpPr>
        <p:spPr>
          <a:xfrm>
            <a:off x="1920240" y="5303520"/>
            <a:ext cx="3840480" cy="685800"/>
          </a:xfrm>
          <a:prstGeom prst="rect">
            <a:avLst/>
          </a:prstGeom>
          <a:noFill/>
          <a:ln/>
        </p:spPr>
        <p:txBody>
          <a:bodyPr wrap="square" lIns="0" tIns="0" rIns="0" bIns="0" rtlCol="0" anchor="ctr"/>
          <a:lstStyle/>
          <a:p>
            <a:pPr indent="0" marL="0">
              <a:buNone/>
            </a:pPr>
            <a:r>
              <a:rPr lang="en-US" sz="1350" dirty="0">
                <a:solidFill>
                  <a:srgbClr val="C9D9E5"/>
                </a:solidFill>
                <a:latin typeface="Calibri" pitchFamily="34" charset="0"/>
                <a:ea typeface="Calibri" pitchFamily="34" charset="-122"/>
                <a:cs typeface="Calibri" pitchFamily="34" charset="-120"/>
              </a:rPr>
              <a:t>tracks: Shepherd, Builder, Canvas</a:t>
            </a:r>
            <a:endParaRPr lang="en-US" sz="1350" dirty="0"/>
          </a:p>
        </p:txBody>
      </p:sp>
      <p:sp>
        <p:nvSpPr>
          <p:cNvPr id="11" name="Shape 9"/>
          <p:cNvSpPr/>
          <p:nvPr/>
        </p:nvSpPr>
        <p:spPr>
          <a:xfrm>
            <a:off x="7223760" y="594360"/>
            <a:ext cx="4581144" cy="5724144"/>
          </a:xfrm>
          <a:prstGeom prst="roundRect">
            <a:avLst>
              <a:gd name="adj" fmla="val 1198"/>
            </a:avLst>
          </a:prstGeom>
          <a:solidFill>
            <a:srgbClr val="0D3358"/>
          </a:solidFill>
          <a:ln/>
        </p:spPr>
      </p:sp>
      <p:pic>
        <p:nvPicPr>
          <p:cNvPr id="12" name="Image 0" descr="/tmp/lwn_deck/images/resized-leadership-group-backstage.jpg"/>
          <p:cNvPicPr>
            <a:picLocks noChangeAspect="1"/>
          </p:cNvPicPr>
          <p:nvPr/>
        </p:nvPicPr>
        <p:blipFill>
          <a:blip r:embed="rId1"/>
          <a:srcRect l="0" r="0" t="0" b="0"/>
          <a:stretch/>
        </p:blipFill>
        <p:spPr>
          <a:xfrm>
            <a:off x="7296912" y="667512"/>
            <a:ext cx="4434840" cy="5577840"/>
          </a:xfrm>
          <a:prstGeom prst="rect">
            <a:avLst/>
          </a:prstGeom>
        </p:spPr>
      </p:pic>
      <p:sp>
        <p:nvSpPr>
          <p:cNvPr id="13" name="Text 10"/>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AEC3D4"/>
                </a:solidFill>
                <a:latin typeface="Calibri" pitchFamily="34" charset="0"/>
                <a:ea typeface="Calibri" pitchFamily="34" charset="-122"/>
                <a:cs typeface="Calibri" pitchFamily="34" charset="-120"/>
              </a:rPr>
              <a:t>Living Water Network  |  Referral Partnership</a:t>
            </a:r>
            <a:endParaRPr lang="en-US" sz="900" dirty="0"/>
          </a:p>
        </p:txBody>
      </p:sp>
      <p:sp>
        <p:nvSpPr>
          <p:cNvPr id="14" name="Text 1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AEC3D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7315200" cy="594360"/>
          </a:xfrm>
          <a:prstGeom prst="rect">
            <a:avLst/>
          </a:prstGeom>
          <a:noFill/>
          <a:ln/>
        </p:spPr>
        <p:txBody>
          <a:bodyPr wrap="square" lIns="0" tIns="0" rIns="0" bIns="0" rtlCol="0" anchor="ctr"/>
          <a:lstStyle/>
          <a:p>
            <a:pPr indent="0" marL="0">
              <a:buNone/>
            </a:pPr>
            <a:r>
              <a:rPr lang="en-US" sz="3200" b="1" dirty="0">
                <a:solidFill>
                  <a:srgbClr val="0A2A47"/>
                </a:solidFill>
                <a:latin typeface="Cambria" pitchFamily="34" charset="0"/>
                <a:ea typeface="Cambria" pitchFamily="34" charset="-122"/>
                <a:cs typeface="Cambria" pitchFamily="34" charset="-120"/>
              </a:rPr>
              <a:t>Phase 1: At the Table</a:t>
            </a:r>
            <a:endParaRPr lang="en-US" sz="3200" dirty="0"/>
          </a:p>
        </p:txBody>
      </p:sp>
      <p:sp>
        <p:nvSpPr>
          <p:cNvPr id="3" name="Text 1"/>
          <p:cNvSpPr/>
          <p:nvPr/>
        </p:nvSpPr>
        <p:spPr>
          <a:xfrm>
            <a:off x="685800" y="1133856"/>
            <a:ext cx="9144000" cy="365760"/>
          </a:xfrm>
          <a:prstGeom prst="rect">
            <a:avLst/>
          </a:prstGeom>
          <a:noFill/>
          <a:ln/>
        </p:spPr>
        <p:txBody>
          <a:bodyPr wrap="square" lIns="0" tIns="0" rIns="0" bIns="0" rtlCol="0" anchor="ctr"/>
          <a:lstStyle/>
          <a:p>
            <a:pPr indent="0" marL="0">
              <a:buNone/>
            </a:pPr>
            <a:r>
              <a:rPr lang="en-US" sz="1500" dirty="0">
                <a:solidFill>
                  <a:srgbClr val="445563"/>
                </a:solidFill>
                <a:latin typeface="Calibri" pitchFamily="34" charset="0"/>
                <a:ea typeface="Calibri" pitchFamily="34" charset="-122"/>
                <a:cs typeface="Calibri" pitchFamily="34" charset="-120"/>
              </a:rPr>
              <a:t>Twelve weeks of whole-person formation, built on six pillars</a:t>
            </a:r>
            <a:endParaRPr lang="en-US" sz="1500" dirty="0"/>
          </a:p>
        </p:txBody>
      </p:sp>
      <p:sp>
        <p:nvSpPr>
          <p:cNvPr id="4" name="Shape 2"/>
          <p:cNvSpPr/>
          <p:nvPr/>
        </p:nvSpPr>
        <p:spPr>
          <a:xfrm>
            <a:off x="685800" y="1828800"/>
            <a:ext cx="3429000" cy="1965960"/>
          </a:xfrm>
          <a:prstGeom prst="roundRect">
            <a:avLst>
              <a:gd name="adj" fmla="val 3256"/>
            </a:avLst>
          </a:prstGeom>
          <a:solidFill>
            <a:srgbClr val="EAF1F6"/>
          </a:solidFill>
          <a:ln/>
          <a:effectLst>
            <a:outerShdw sx="100000" sy="100000" kx="0" ky="0" algn="bl" rotWithShape="0" blurRad="127000" dist="38100" dir="5400000">
              <a:srgbClr val="0A2A47">
                <a:alpha val="14000"/>
              </a:srgbClr>
            </a:outerShdw>
          </a:effectLst>
        </p:spPr>
      </p:sp>
      <p:sp>
        <p:nvSpPr>
          <p:cNvPr id="5" name="Shape 3"/>
          <p:cNvSpPr/>
          <p:nvPr/>
        </p:nvSpPr>
        <p:spPr>
          <a:xfrm>
            <a:off x="914400" y="2084832"/>
            <a:ext cx="566928" cy="566928"/>
          </a:xfrm>
          <a:prstGeom prst="ellipse">
            <a:avLst/>
          </a:prstGeom>
          <a:solidFill>
            <a:srgbClr val="FFFFFF"/>
          </a:solidFill>
          <a:ln/>
        </p:spPr>
      </p:sp>
      <p:pic>
        <p:nvPicPr>
          <p:cNvPr id="6" name="Image 0" descr="preencoded.png"/>
          <p:cNvPicPr>
            <a:picLocks noChangeAspect="1"/>
          </p:cNvPicPr>
          <p:nvPr/>
        </p:nvPicPr>
        <p:blipFill>
          <a:blip r:embed="rId1"/>
          <a:stretch>
            <a:fillRect/>
          </a:stretch>
        </p:blipFill>
        <p:spPr>
          <a:xfrm>
            <a:off x="1051560" y="2221992"/>
            <a:ext cx="292608" cy="292608"/>
          </a:xfrm>
          <a:prstGeom prst="rect">
            <a:avLst/>
          </a:prstGeom>
        </p:spPr>
      </p:pic>
      <p:sp>
        <p:nvSpPr>
          <p:cNvPr id="7" name="Text 4"/>
          <p:cNvSpPr/>
          <p:nvPr/>
        </p:nvSpPr>
        <p:spPr>
          <a:xfrm>
            <a:off x="1600200" y="2048256"/>
            <a:ext cx="2331720" cy="365760"/>
          </a:xfrm>
          <a:prstGeom prst="rect">
            <a:avLst/>
          </a:prstGeom>
          <a:noFill/>
          <a:ln/>
        </p:spPr>
        <p:txBody>
          <a:bodyPr wrap="square" lIns="0" tIns="0" rIns="0" bIns="0" rtlCol="0" anchor="ctr"/>
          <a:lstStyle/>
          <a:p>
            <a:pPr indent="0" marL="0">
              <a:buNone/>
            </a:pPr>
            <a:r>
              <a:rPr lang="en-US" sz="1600" b="1" dirty="0">
                <a:solidFill>
                  <a:srgbClr val="0A2A47"/>
                </a:solidFill>
                <a:latin typeface="Cambria" pitchFamily="34" charset="0"/>
                <a:ea typeface="Cambria" pitchFamily="34" charset="-122"/>
                <a:cs typeface="Cambria" pitchFamily="34" charset="-120"/>
              </a:rPr>
              <a:t>Presence</a:t>
            </a:r>
            <a:endParaRPr lang="en-US" sz="1600" dirty="0"/>
          </a:p>
        </p:txBody>
      </p:sp>
      <p:sp>
        <p:nvSpPr>
          <p:cNvPr id="8" name="Text 5"/>
          <p:cNvSpPr/>
          <p:nvPr/>
        </p:nvSpPr>
        <p:spPr>
          <a:xfrm>
            <a:off x="914400" y="2788920"/>
            <a:ext cx="2971800" cy="914400"/>
          </a:xfrm>
          <a:prstGeom prst="rect">
            <a:avLst/>
          </a:prstGeom>
          <a:noFill/>
          <a:ln/>
        </p:spPr>
        <p:txBody>
          <a:bodyPr wrap="square" lIns="0" tIns="0" rIns="0" bIns="0" rtlCol="0" anchor="t"/>
          <a:lstStyle/>
          <a:p>
            <a:pPr indent="0" marL="0">
              <a:lnSpc>
                <a:spcPct val="115000"/>
              </a:lnSpc>
              <a:buNone/>
            </a:pPr>
            <a:r>
              <a:rPr lang="en-US" sz="1250" dirty="0">
                <a:solidFill>
                  <a:srgbClr val="445563"/>
                </a:solidFill>
                <a:latin typeface="Calibri" pitchFamily="34" charset="0"/>
                <a:ea typeface="Calibri" pitchFamily="34" charset="-122"/>
                <a:cs typeface="Calibri" pitchFamily="34" charset="-120"/>
              </a:rPr>
              <a:t>Rooted daily communion with God</a:t>
            </a:r>
            <a:endParaRPr lang="en-US" sz="1250" dirty="0"/>
          </a:p>
        </p:txBody>
      </p:sp>
      <p:sp>
        <p:nvSpPr>
          <p:cNvPr id="9" name="Shape 6"/>
          <p:cNvSpPr/>
          <p:nvPr/>
        </p:nvSpPr>
        <p:spPr>
          <a:xfrm>
            <a:off x="4389120" y="1828800"/>
            <a:ext cx="3429000" cy="1965960"/>
          </a:xfrm>
          <a:prstGeom prst="roundRect">
            <a:avLst>
              <a:gd name="adj" fmla="val 3256"/>
            </a:avLst>
          </a:prstGeom>
          <a:solidFill>
            <a:srgbClr val="EAF1F6"/>
          </a:solidFill>
          <a:ln/>
          <a:effectLst>
            <a:outerShdw sx="100000" sy="100000" kx="0" ky="0" algn="bl" rotWithShape="0" blurRad="127000" dist="38100" dir="5400000">
              <a:srgbClr val="0A2A47">
                <a:alpha val="14000"/>
              </a:srgbClr>
            </a:outerShdw>
          </a:effectLst>
        </p:spPr>
      </p:sp>
      <p:sp>
        <p:nvSpPr>
          <p:cNvPr id="10" name="Shape 7"/>
          <p:cNvSpPr/>
          <p:nvPr/>
        </p:nvSpPr>
        <p:spPr>
          <a:xfrm>
            <a:off x="4617720" y="2084832"/>
            <a:ext cx="566928" cy="566928"/>
          </a:xfrm>
          <a:prstGeom prst="ellipse">
            <a:avLst/>
          </a:prstGeom>
          <a:solidFill>
            <a:srgbClr val="FFFFFF"/>
          </a:solidFill>
          <a:ln/>
        </p:spPr>
      </p:sp>
      <p:pic>
        <p:nvPicPr>
          <p:cNvPr id="11" name="Image 1" descr="preencoded.png"/>
          <p:cNvPicPr>
            <a:picLocks noChangeAspect="1"/>
          </p:cNvPicPr>
          <p:nvPr/>
        </p:nvPicPr>
        <p:blipFill>
          <a:blip r:embed="rId2"/>
          <a:stretch>
            <a:fillRect/>
          </a:stretch>
        </p:blipFill>
        <p:spPr>
          <a:xfrm>
            <a:off x="4754880" y="2221992"/>
            <a:ext cx="292608" cy="292608"/>
          </a:xfrm>
          <a:prstGeom prst="rect">
            <a:avLst/>
          </a:prstGeom>
        </p:spPr>
      </p:pic>
      <p:sp>
        <p:nvSpPr>
          <p:cNvPr id="12" name="Text 8"/>
          <p:cNvSpPr/>
          <p:nvPr/>
        </p:nvSpPr>
        <p:spPr>
          <a:xfrm>
            <a:off x="5303520" y="2048256"/>
            <a:ext cx="2331720" cy="365760"/>
          </a:xfrm>
          <a:prstGeom prst="rect">
            <a:avLst/>
          </a:prstGeom>
          <a:noFill/>
          <a:ln/>
        </p:spPr>
        <p:txBody>
          <a:bodyPr wrap="square" lIns="0" tIns="0" rIns="0" bIns="0" rtlCol="0" anchor="ctr"/>
          <a:lstStyle/>
          <a:p>
            <a:pPr indent="0" marL="0">
              <a:buNone/>
            </a:pPr>
            <a:r>
              <a:rPr lang="en-US" sz="1600" b="1" dirty="0">
                <a:solidFill>
                  <a:srgbClr val="0A2A47"/>
                </a:solidFill>
                <a:latin typeface="Cambria" pitchFamily="34" charset="0"/>
                <a:ea typeface="Cambria" pitchFamily="34" charset="-122"/>
                <a:cs typeface="Cambria" pitchFamily="34" charset="-120"/>
              </a:rPr>
              <a:t>Mind</a:t>
            </a:r>
            <a:endParaRPr lang="en-US" sz="1600" dirty="0"/>
          </a:p>
        </p:txBody>
      </p:sp>
      <p:sp>
        <p:nvSpPr>
          <p:cNvPr id="13" name="Text 9"/>
          <p:cNvSpPr/>
          <p:nvPr/>
        </p:nvSpPr>
        <p:spPr>
          <a:xfrm>
            <a:off x="4617720" y="2788920"/>
            <a:ext cx="2971800" cy="914400"/>
          </a:xfrm>
          <a:prstGeom prst="rect">
            <a:avLst/>
          </a:prstGeom>
          <a:noFill/>
          <a:ln/>
        </p:spPr>
        <p:txBody>
          <a:bodyPr wrap="square" lIns="0" tIns="0" rIns="0" bIns="0" rtlCol="0" anchor="t"/>
          <a:lstStyle/>
          <a:p>
            <a:pPr indent="0" marL="0">
              <a:lnSpc>
                <a:spcPct val="115000"/>
              </a:lnSpc>
              <a:buNone/>
            </a:pPr>
            <a:r>
              <a:rPr lang="en-US" sz="1250" dirty="0">
                <a:solidFill>
                  <a:srgbClr val="445563"/>
                </a:solidFill>
                <a:latin typeface="Calibri" pitchFamily="34" charset="0"/>
                <a:ea typeface="Calibri" pitchFamily="34" charset="-122"/>
                <a:cs typeface="Calibri" pitchFamily="34" charset="-120"/>
              </a:rPr>
              <a:t>Renewed thinking and biblical worldview</a:t>
            </a:r>
            <a:endParaRPr lang="en-US" sz="1250" dirty="0"/>
          </a:p>
        </p:txBody>
      </p:sp>
      <p:sp>
        <p:nvSpPr>
          <p:cNvPr id="14" name="Shape 10"/>
          <p:cNvSpPr/>
          <p:nvPr/>
        </p:nvSpPr>
        <p:spPr>
          <a:xfrm>
            <a:off x="8092440" y="1828800"/>
            <a:ext cx="3429000" cy="1965960"/>
          </a:xfrm>
          <a:prstGeom prst="roundRect">
            <a:avLst>
              <a:gd name="adj" fmla="val 3256"/>
            </a:avLst>
          </a:prstGeom>
          <a:solidFill>
            <a:srgbClr val="EAF1F6"/>
          </a:solidFill>
          <a:ln/>
          <a:effectLst>
            <a:outerShdw sx="100000" sy="100000" kx="0" ky="0" algn="bl" rotWithShape="0" blurRad="127000" dist="38100" dir="5400000">
              <a:srgbClr val="0A2A47">
                <a:alpha val="14000"/>
              </a:srgbClr>
            </a:outerShdw>
          </a:effectLst>
        </p:spPr>
      </p:sp>
      <p:sp>
        <p:nvSpPr>
          <p:cNvPr id="15" name="Shape 11"/>
          <p:cNvSpPr/>
          <p:nvPr/>
        </p:nvSpPr>
        <p:spPr>
          <a:xfrm>
            <a:off x="8321040" y="2084832"/>
            <a:ext cx="566928" cy="566928"/>
          </a:xfrm>
          <a:prstGeom prst="ellipse">
            <a:avLst/>
          </a:prstGeom>
          <a:solidFill>
            <a:srgbClr val="FFFFFF"/>
          </a:solidFill>
          <a:ln/>
        </p:spPr>
      </p:sp>
      <p:pic>
        <p:nvPicPr>
          <p:cNvPr id="16" name="Image 2" descr="preencoded.png"/>
          <p:cNvPicPr>
            <a:picLocks noChangeAspect="1"/>
          </p:cNvPicPr>
          <p:nvPr/>
        </p:nvPicPr>
        <p:blipFill>
          <a:blip r:embed="rId3"/>
          <a:stretch>
            <a:fillRect/>
          </a:stretch>
        </p:blipFill>
        <p:spPr>
          <a:xfrm>
            <a:off x="8458200" y="2221992"/>
            <a:ext cx="292608" cy="292608"/>
          </a:xfrm>
          <a:prstGeom prst="rect">
            <a:avLst/>
          </a:prstGeom>
        </p:spPr>
      </p:pic>
      <p:sp>
        <p:nvSpPr>
          <p:cNvPr id="17" name="Text 12"/>
          <p:cNvSpPr/>
          <p:nvPr/>
        </p:nvSpPr>
        <p:spPr>
          <a:xfrm>
            <a:off x="9006840" y="2048256"/>
            <a:ext cx="2331720" cy="365760"/>
          </a:xfrm>
          <a:prstGeom prst="rect">
            <a:avLst/>
          </a:prstGeom>
          <a:noFill/>
          <a:ln/>
        </p:spPr>
        <p:txBody>
          <a:bodyPr wrap="square" lIns="0" tIns="0" rIns="0" bIns="0" rtlCol="0" anchor="ctr"/>
          <a:lstStyle/>
          <a:p>
            <a:pPr indent="0" marL="0">
              <a:buNone/>
            </a:pPr>
            <a:r>
              <a:rPr lang="en-US" sz="1600" b="1" dirty="0">
                <a:solidFill>
                  <a:srgbClr val="0A2A47"/>
                </a:solidFill>
                <a:latin typeface="Cambria" pitchFamily="34" charset="0"/>
                <a:ea typeface="Cambria" pitchFamily="34" charset="-122"/>
                <a:cs typeface="Cambria" pitchFamily="34" charset="-120"/>
              </a:rPr>
              <a:t>Heart</a:t>
            </a:r>
            <a:endParaRPr lang="en-US" sz="1600" dirty="0"/>
          </a:p>
        </p:txBody>
      </p:sp>
      <p:sp>
        <p:nvSpPr>
          <p:cNvPr id="18" name="Text 13"/>
          <p:cNvSpPr/>
          <p:nvPr/>
        </p:nvSpPr>
        <p:spPr>
          <a:xfrm>
            <a:off x="8321040" y="2788920"/>
            <a:ext cx="2971800" cy="914400"/>
          </a:xfrm>
          <a:prstGeom prst="rect">
            <a:avLst/>
          </a:prstGeom>
          <a:noFill/>
          <a:ln/>
        </p:spPr>
        <p:txBody>
          <a:bodyPr wrap="square" lIns="0" tIns="0" rIns="0" bIns="0" rtlCol="0" anchor="t"/>
          <a:lstStyle/>
          <a:p>
            <a:pPr indent="0" marL="0">
              <a:lnSpc>
                <a:spcPct val="115000"/>
              </a:lnSpc>
              <a:buNone/>
            </a:pPr>
            <a:r>
              <a:rPr lang="en-US" sz="1250" dirty="0">
                <a:solidFill>
                  <a:srgbClr val="445563"/>
                </a:solidFill>
                <a:latin typeface="Calibri" pitchFamily="34" charset="0"/>
                <a:ea typeface="Calibri" pitchFamily="34" charset="-122"/>
                <a:cs typeface="Calibri" pitchFamily="34" charset="-120"/>
              </a:rPr>
              <a:t>Emotional health and inner healing</a:t>
            </a:r>
            <a:endParaRPr lang="en-US" sz="1250" dirty="0"/>
          </a:p>
        </p:txBody>
      </p:sp>
      <p:sp>
        <p:nvSpPr>
          <p:cNvPr id="19" name="Shape 14"/>
          <p:cNvSpPr/>
          <p:nvPr/>
        </p:nvSpPr>
        <p:spPr>
          <a:xfrm>
            <a:off x="685800" y="4069080"/>
            <a:ext cx="3429000" cy="1965960"/>
          </a:xfrm>
          <a:prstGeom prst="roundRect">
            <a:avLst>
              <a:gd name="adj" fmla="val 3256"/>
            </a:avLst>
          </a:prstGeom>
          <a:solidFill>
            <a:srgbClr val="EAF1F6"/>
          </a:solidFill>
          <a:ln/>
          <a:effectLst>
            <a:outerShdw sx="100000" sy="100000" kx="0" ky="0" algn="bl" rotWithShape="0" blurRad="127000" dist="38100" dir="5400000">
              <a:srgbClr val="0A2A47">
                <a:alpha val="14000"/>
              </a:srgbClr>
            </a:outerShdw>
          </a:effectLst>
        </p:spPr>
      </p:sp>
      <p:sp>
        <p:nvSpPr>
          <p:cNvPr id="20" name="Shape 15"/>
          <p:cNvSpPr/>
          <p:nvPr/>
        </p:nvSpPr>
        <p:spPr>
          <a:xfrm>
            <a:off x="914400" y="4325112"/>
            <a:ext cx="566928" cy="566928"/>
          </a:xfrm>
          <a:prstGeom prst="ellipse">
            <a:avLst/>
          </a:prstGeom>
          <a:solidFill>
            <a:srgbClr val="FFFFFF"/>
          </a:solidFill>
          <a:ln/>
        </p:spPr>
      </p:sp>
      <p:pic>
        <p:nvPicPr>
          <p:cNvPr id="21" name="Image 3" descr="preencoded.png"/>
          <p:cNvPicPr>
            <a:picLocks noChangeAspect="1"/>
          </p:cNvPicPr>
          <p:nvPr/>
        </p:nvPicPr>
        <p:blipFill>
          <a:blip r:embed="rId4"/>
          <a:stretch>
            <a:fillRect/>
          </a:stretch>
        </p:blipFill>
        <p:spPr>
          <a:xfrm>
            <a:off x="1051560" y="4462272"/>
            <a:ext cx="292608" cy="292608"/>
          </a:xfrm>
          <a:prstGeom prst="rect">
            <a:avLst/>
          </a:prstGeom>
        </p:spPr>
      </p:pic>
      <p:sp>
        <p:nvSpPr>
          <p:cNvPr id="22" name="Text 16"/>
          <p:cNvSpPr/>
          <p:nvPr/>
        </p:nvSpPr>
        <p:spPr>
          <a:xfrm>
            <a:off x="1600200" y="4288536"/>
            <a:ext cx="2331720" cy="365760"/>
          </a:xfrm>
          <a:prstGeom prst="rect">
            <a:avLst/>
          </a:prstGeom>
          <a:noFill/>
          <a:ln/>
        </p:spPr>
        <p:txBody>
          <a:bodyPr wrap="square" lIns="0" tIns="0" rIns="0" bIns="0" rtlCol="0" anchor="ctr"/>
          <a:lstStyle/>
          <a:p>
            <a:pPr indent="0" marL="0">
              <a:buNone/>
            </a:pPr>
            <a:r>
              <a:rPr lang="en-US" sz="1600" b="1" dirty="0">
                <a:solidFill>
                  <a:srgbClr val="0A2A47"/>
                </a:solidFill>
                <a:latin typeface="Cambria" pitchFamily="34" charset="0"/>
                <a:ea typeface="Cambria" pitchFamily="34" charset="-122"/>
                <a:cs typeface="Cambria" pitchFamily="34" charset="-120"/>
              </a:rPr>
              <a:t>Body</a:t>
            </a:r>
            <a:endParaRPr lang="en-US" sz="1600" dirty="0"/>
          </a:p>
        </p:txBody>
      </p:sp>
      <p:sp>
        <p:nvSpPr>
          <p:cNvPr id="23" name="Text 17"/>
          <p:cNvSpPr/>
          <p:nvPr/>
        </p:nvSpPr>
        <p:spPr>
          <a:xfrm>
            <a:off x="914400" y="5029200"/>
            <a:ext cx="2971800" cy="914400"/>
          </a:xfrm>
          <a:prstGeom prst="rect">
            <a:avLst/>
          </a:prstGeom>
          <a:noFill/>
          <a:ln/>
        </p:spPr>
        <p:txBody>
          <a:bodyPr wrap="square" lIns="0" tIns="0" rIns="0" bIns="0" rtlCol="0" anchor="t"/>
          <a:lstStyle/>
          <a:p>
            <a:pPr indent="0" marL="0">
              <a:lnSpc>
                <a:spcPct val="115000"/>
              </a:lnSpc>
              <a:buNone/>
            </a:pPr>
            <a:r>
              <a:rPr lang="en-US" sz="1250" dirty="0">
                <a:solidFill>
                  <a:srgbClr val="445563"/>
                </a:solidFill>
                <a:latin typeface="Calibri" pitchFamily="34" charset="0"/>
                <a:ea typeface="Calibri" pitchFamily="34" charset="-122"/>
                <a:cs typeface="Calibri" pitchFamily="34" charset="-120"/>
              </a:rPr>
              <a:t>Stewarding physical health and rest</a:t>
            </a:r>
            <a:endParaRPr lang="en-US" sz="1250" dirty="0"/>
          </a:p>
        </p:txBody>
      </p:sp>
      <p:sp>
        <p:nvSpPr>
          <p:cNvPr id="24" name="Shape 18"/>
          <p:cNvSpPr/>
          <p:nvPr/>
        </p:nvSpPr>
        <p:spPr>
          <a:xfrm>
            <a:off x="4389120" y="4069080"/>
            <a:ext cx="3429000" cy="1965960"/>
          </a:xfrm>
          <a:prstGeom prst="roundRect">
            <a:avLst>
              <a:gd name="adj" fmla="val 3256"/>
            </a:avLst>
          </a:prstGeom>
          <a:solidFill>
            <a:srgbClr val="EAF1F6"/>
          </a:solidFill>
          <a:ln/>
          <a:effectLst>
            <a:outerShdw sx="100000" sy="100000" kx="0" ky="0" algn="bl" rotWithShape="0" blurRad="127000" dist="38100" dir="5400000">
              <a:srgbClr val="0A2A47">
                <a:alpha val="14000"/>
              </a:srgbClr>
            </a:outerShdw>
          </a:effectLst>
        </p:spPr>
      </p:sp>
      <p:sp>
        <p:nvSpPr>
          <p:cNvPr id="25" name="Shape 19"/>
          <p:cNvSpPr/>
          <p:nvPr/>
        </p:nvSpPr>
        <p:spPr>
          <a:xfrm>
            <a:off x="4617720" y="4325112"/>
            <a:ext cx="566928" cy="566928"/>
          </a:xfrm>
          <a:prstGeom prst="ellipse">
            <a:avLst/>
          </a:prstGeom>
          <a:solidFill>
            <a:srgbClr val="FFFFFF"/>
          </a:solidFill>
          <a:ln/>
        </p:spPr>
      </p:sp>
      <p:pic>
        <p:nvPicPr>
          <p:cNvPr id="26" name="Image 4" descr="preencoded.png"/>
          <p:cNvPicPr>
            <a:picLocks noChangeAspect="1"/>
          </p:cNvPicPr>
          <p:nvPr/>
        </p:nvPicPr>
        <p:blipFill>
          <a:blip r:embed="rId5"/>
          <a:stretch>
            <a:fillRect/>
          </a:stretch>
        </p:blipFill>
        <p:spPr>
          <a:xfrm>
            <a:off x="4754880" y="4462272"/>
            <a:ext cx="292608" cy="292608"/>
          </a:xfrm>
          <a:prstGeom prst="rect">
            <a:avLst/>
          </a:prstGeom>
        </p:spPr>
      </p:pic>
      <p:sp>
        <p:nvSpPr>
          <p:cNvPr id="27" name="Text 20"/>
          <p:cNvSpPr/>
          <p:nvPr/>
        </p:nvSpPr>
        <p:spPr>
          <a:xfrm>
            <a:off x="5303520" y="4288536"/>
            <a:ext cx="2331720" cy="365760"/>
          </a:xfrm>
          <a:prstGeom prst="rect">
            <a:avLst/>
          </a:prstGeom>
          <a:noFill/>
          <a:ln/>
        </p:spPr>
        <p:txBody>
          <a:bodyPr wrap="square" lIns="0" tIns="0" rIns="0" bIns="0" rtlCol="0" anchor="ctr"/>
          <a:lstStyle/>
          <a:p>
            <a:pPr indent="0" marL="0">
              <a:buNone/>
            </a:pPr>
            <a:r>
              <a:rPr lang="en-US" sz="1600" b="1" dirty="0">
                <a:solidFill>
                  <a:srgbClr val="0A2A47"/>
                </a:solidFill>
                <a:latin typeface="Cambria" pitchFamily="34" charset="0"/>
                <a:ea typeface="Cambria" pitchFamily="34" charset="-122"/>
                <a:cs typeface="Cambria" pitchFamily="34" charset="-120"/>
              </a:rPr>
              <a:t>Community</a:t>
            </a:r>
            <a:endParaRPr lang="en-US" sz="1600" dirty="0"/>
          </a:p>
        </p:txBody>
      </p:sp>
      <p:sp>
        <p:nvSpPr>
          <p:cNvPr id="28" name="Text 21"/>
          <p:cNvSpPr/>
          <p:nvPr/>
        </p:nvSpPr>
        <p:spPr>
          <a:xfrm>
            <a:off x="4617720" y="5029200"/>
            <a:ext cx="2971800" cy="914400"/>
          </a:xfrm>
          <a:prstGeom prst="rect">
            <a:avLst/>
          </a:prstGeom>
          <a:noFill/>
          <a:ln/>
        </p:spPr>
        <p:txBody>
          <a:bodyPr wrap="square" lIns="0" tIns="0" rIns="0" bIns="0" rtlCol="0" anchor="t"/>
          <a:lstStyle/>
          <a:p>
            <a:pPr indent="0" marL="0">
              <a:lnSpc>
                <a:spcPct val="115000"/>
              </a:lnSpc>
              <a:buNone/>
            </a:pPr>
            <a:r>
              <a:rPr lang="en-US" sz="1250" dirty="0">
                <a:solidFill>
                  <a:srgbClr val="445563"/>
                </a:solidFill>
                <a:latin typeface="Calibri" pitchFamily="34" charset="0"/>
                <a:ea typeface="Calibri" pitchFamily="34" charset="-122"/>
                <a:cs typeface="Calibri" pitchFamily="34" charset="-120"/>
              </a:rPr>
              <a:t>Relational depth and accountability</a:t>
            </a:r>
            <a:endParaRPr lang="en-US" sz="1250" dirty="0"/>
          </a:p>
        </p:txBody>
      </p:sp>
      <p:sp>
        <p:nvSpPr>
          <p:cNvPr id="29" name="Shape 22"/>
          <p:cNvSpPr/>
          <p:nvPr/>
        </p:nvSpPr>
        <p:spPr>
          <a:xfrm>
            <a:off x="8092440" y="4069080"/>
            <a:ext cx="3429000" cy="1965960"/>
          </a:xfrm>
          <a:prstGeom prst="roundRect">
            <a:avLst>
              <a:gd name="adj" fmla="val 3256"/>
            </a:avLst>
          </a:prstGeom>
          <a:solidFill>
            <a:srgbClr val="EAF1F6"/>
          </a:solidFill>
          <a:ln/>
          <a:effectLst>
            <a:outerShdw sx="100000" sy="100000" kx="0" ky="0" algn="bl" rotWithShape="0" blurRad="127000" dist="38100" dir="5400000">
              <a:srgbClr val="0A2A47">
                <a:alpha val="14000"/>
              </a:srgbClr>
            </a:outerShdw>
          </a:effectLst>
        </p:spPr>
      </p:sp>
      <p:sp>
        <p:nvSpPr>
          <p:cNvPr id="30" name="Shape 23"/>
          <p:cNvSpPr/>
          <p:nvPr/>
        </p:nvSpPr>
        <p:spPr>
          <a:xfrm>
            <a:off x="8321040" y="4325112"/>
            <a:ext cx="566928" cy="566928"/>
          </a:xfrm>
          <a:prstGeom prst="ellipse">
            <a:avLst/>
          </a:prstGeom>
          <a:solidFill>
            <a:srgbClr val="FFFFFF"/>
          </a:solidFill>
          <a:ln/>
        </p:spPr>
      </p:sp>
      <p:pic>
        <p:nvPicPr>
          <p:cNvPr id="31" name="Image 5" descr="preencoded.png"/>
          <p:cNvPicPr>
            <a:picLocks noChangeAspect="1"/>
          </p:cNvPicPr>
          <p:nvPr/>
        </p:nvPicPr>
        <p:blipFill>
          <a:blip r:embed="rId6"/>
          <a:stretch>
            <a:fillRect/>
          </a:stretch>
        </p:blipFill>
        <p:spPr>
          <a:xfrm>
            <a:off x="8458200" y="4462272"/>
            <a:ext cx="292608" cy="292608"/>
          </a:xfrm>
          <a:prstGeom prst="rect">
            <a:avLst/>
          </a:prstGeom>
        </p:spPr>
      </p:pic>
      <p:sp>
        <p:nvSpPr>
          <p:cNvPr id="32" name="Text 24"/>
          <p:cNvSpPr/>
          <p:nvPr/>
        </p:nvSpPr>
        <p:spPr>
          <a:xfrm>
            <a:off x="9006840" y="4288536"/>
            <a:ext cx="2331720" cy="365760"/>
          </a:xfrm>
          <a:prstGeom prst="rect">
            <a:avLst/>
          </a:prstGeom>
          <a:noFill/>
          <a:ln/>
        </p:spPr>
        <p:txBody>
          <a:bodyPr wrap="square" lIns="0" tIns="0" rIns="0" bIns="0" rtlCol="0" anchor="ctr"/>
          <a:lstStyle/>
          <a:p>
            <a:pPr indent="0" marL="0">
              <a:buNone/>
            </a:pPr>
            <a:r>
              <a:rPr lang="en-US" sz="1600" b="1" dirty="0">
                <a:solidFill>
                  <a:srgbClr val="0A2A47"/>
                </a:solidFill>
                <a:latin typeface="Cambria" pitchFamily="34" charset="0"/>
                <a:ea typeface="Cambria" pitchFamily="34" charset="-122"/>
                <a:cs typeface="Cambria" pitchFamily="34" charset="-120"/>
              </a:rPr>
              <a:t>Stewardship</a:t>
            </a:r>
            <a:endParaRPr lang="en-US" sz="1600" dirty="0"/>
          </a:p>
        </p:txBody>
      </p:sp>
      <p:sp>
        <p:nvSpPr>
          <p:cNvPr id="33" name="Text 25"/>
          <p:cNvSpPr/>
          <p:nvPr/>
        </p:nvSpPr>
        <p:spPr>
          <a:xfrm>
            <a:off x="8321040" y="5029200"/>
            <a:ext cx="2971800" cy="914400"/>
          </a:xfrm>
          <a:prstGeom prst="rect">
            <a:avLst/>
          </a:prstGeom>
          <a:noFill/>
          <a:ln/>
        </p:spPr>
        <p:txBody>
          <a:bodyPr wrap="square" lIns="0" tIns="0" rIns="0" bIns="0" rtlCol="0" anchor="t"/>
          <a:lstStyle/>
          <a:p>
            <a:pPr indent="0" marL="0">
              <a:lnSpc>
                <a:spcPct val="115000"/>
              </a:lnSpc>
              <a:buNone/>
            </a:pPr>
            <a:r>
              <a:rPr lang="en-US" sz="1250" dirty="0">
                <a:solidFill>
                  <a:srgbClr val="445563"/>
                </a:solidFill>
                <a:latin typeface="Calibri" pitchFamily="34" charset="0"/>
                <a:ea typeface="Calibri" pitchFamily="34" charset="-122"/>
                <a:cs typeface="Calibri" pitchFamily="34" charset="-120"/>
              </a:rPr>
              <a:t>Time, resources, and calling well-managed</a:t>
            </a:r>
            <a:endParaRPr lang="en-US" sz="1250" dirty="0"/>
          </a:p>
        </p:txBody>
      </p:sp>
      <p:sp>
        <p:nvSpPr>
          <p:cNvPr id="34" name="Text 2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445563"/>
                </a:solidFill>
                <a:latin typeface="Calibri" pitchFamily="34" charset="0"/>
                <a:ea typeface="Calibri" pitchFamily="34" charset="-122"/>
                <a:cs typeface="Calibri" pitchFamily="34" charset="-120"/>
              </a:rPr>
              <a:t>Living Water Network  |  Referral Partnership</a:t>
            </a:r>
            <a:endParaRPr lang="en-US" sz="900" dirty="0"/>
          </a:p>
        </p:txBody>
      </p:sp>
      <p:sp>
        <p:nvSpPr>
          <p:cNvPr id="35" name="Text 2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44556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1F6"/>
        </a:solidFill>
      </p:bgPr>
    </p:bg>
    <p:spTree>
      <p:nvGrpSpPr>
        <p:cNvPr id="1" name=""/>
        <p:cNvGrpSpPr/>
        <p:nvPr/>
      </p:nvGrpSpPr>
      <p:grpSpPr>
        <a:xfrm>
          <a:off x="0" y="0"/>
          <a:ext cx="0" cy="0"/>
          <a:chOff x="0" y="0"/>
          <a:chExt cx="0" cy="0"/>
        </a:xfrm>
      </p:grpSpPr>
      <p:sp>
        <p:nvSpPr>
          <p:cNvPr id="2" name="Text 0"/>
          <p:cNvSpPr/>
          <p:nvPr/>
        </p:nvSpPr>
        <p:spPr>
          <a:xfrm>
            <a:off x="685800" y="502920"/>
            <a:ext cx="10515600" cy="594360"/>
          </a:xfrm>
          <a:prstGeom prst="rect">
            <a:avLst/>
          </a:prstGeom>
          <a:noFill/>
          <a:ln/>
        </p:spPr>
        <p:txBody>
          <a:bodyPr wrap="square" lIns="0" tIns="0" rIns="0" bIns="0" rtlCol="0" anchor="ctr"/>
          <a:lstStyle/>
          <a:p>
            <a:pPr indent="0" marL="0">
              <a:buNone/>
            </a:pPr>
            <a:r>
              <a:rPr lang="en-US" sz="3000" b="1" dirty="0">
                <a:solidFill>
                  <a:srgbClr val="0A2A47"/>
                </a:solidFill>
                <a:latin typeface="Cambria" pitchFamily="34" charset="0"/>
                <a:ea typeface="Cambria" pitchFamily="34" charset="-122"/>
                <a:cs typeface="Cambria" pitchFamily="34" charset="-120"/>
              </a:rPr>
              <a:t>The full journey: three phases, nine months</a:t>
            </a:r>
            <a:endParaRPr lang="en-US" sz="3000" dirty="0"/>
          </a:p>
        </p:txBody>
      </p:sp>
      <p:sp>
        <p:nvSpPr>
          <p:cNvPr id="3" name="Text 1"/>
          <p:cNvSpPr/>
          <p:nvPr/>
        </p:nvSpPr>
        <p:spPr>
          <a:xfrm>
            <a:off x="685800" y="1133856"/>
            <a:ext cx="10058400" cy="365760"/>
          </a:xfrm>
          <a:prstGeom prst="rect">
            <a:avLst/>
          </a:prstGeom>
          <a:noFill/>
          <a:ln/>
        </p:spPr>
        <p:txBody>
          <a:bodyPr wrap="square" lIns="0" tIns="0" rIns="0" bIns="0" rtlCol="0" anchor="ctr"/>
          <a:lstStyle/>
          <a:p>
            <a:pPr indent="0" marL="0">
              <a:buNone/>
            </a:pPr>
            <a:r>
              <a:rPr lang="en-US" sz="1500" dirty="0">
                <a:solidFill>
                  <a:srgbClr val="445563"/>
                </a:solidFill>
                <a:latin typeface="Calibri" pitchFamily="34" charset="0"/>
                <a:ea typeface="Calibri" pitchFamily="34" charset="-122"/>
                <a:cs typeface="Calibri" pitchFamily="34" charset="-120"/>
              </a:rPr>
              <a:t>Delivered virtually with in-person intensives and one international missions trip</a:t>
            </a:r>
            <a:endParaRPr lang="en-US" sz="1500" dirty="0"/>
          </a:p>
        </p:txBody>
      </p:sp>
      <p:sp>
        <p:nvSpPr>
          <p:cNvPr id="4" name="Shape 2"/>
          <p:cNvSpPr/>
          <p:nvPr/>
        </p:nvSpPr>
        <p:spPr>
          <a:xfrm>
            <a:off x="685800" y="1965960"/>
            <a:ext cx="3429000" cy="4114800"/>
          </a:xfrm>
          <a:prstGeom prst="roundRect">
            <a:avLst>
              <a:gd name="adj" fmla="val 2133"/>
            </a:avLst>
          </a:prstGeom>
          <a:solidFill>
            <a:srgbClr val="FFFFFF"/>
          </a:solidFill>
          <a:ln/>
          <a:effectLst>
            <a:outerShdw sx="100000" sy="100000" kx="0" ky="0" algn="bl" rotWithShape="0" blurRad="127000" dist="38100" dir="5400000">
              <a:srgbClr val="0A2A47">
                <a:alpha val="14000"/>
              </a:srgbClr>
            </a:outerShdw>
          </a:effectLst>
        </p:spPr>
      </p:sp>
      <p:sp>
        <p:nvSpPr>
          <p:cNvPr id="5" name="Shape 3"/>
          <p:cNvSpPr/>
          <p:nvPr/>
        </p:nvSpPr>
        <p:spPr>
          <a:xfrm>
            <a:off x="960120" y="2258568"/>
            <a:ext cx="777240" cy="777240"/>
          </a:xfrm>
          <a:prstGeom prst="ellipse">
            <a:avLst/>
          </a:prstGeom>
          <a:solidFill>
            <a:srgbClr val="0A2A47"/>
          </a:solidFill>
          <a:ln/>
        </p:spPr>
      </p:sp>
      <p:sp>
        <p:nvSpPr>
          <p:cNvPr id="6" name="Text 4"/>
          <p:cNvSpPr/>
          <p:nvPr/>
        </p:nvSpPr>
        <p:spPr>
          <a:xfrm>
            <a:off x="960120" y="2258568"/>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p:nvPr/>
        </p:nvSpPr>
        <p:spPr>
          <a:xfrm>
            <a:off x="1920240" y="2331720"/>
            <a:ext cx="1965960" cy="320040"/>
          </a:xfrm>
          <a:prstGeom prst="rect">
            <a:avLst/>
          </a:prstGeom>
          <a:noFill/>
          <a:ln/>
        </p:spPr>
        <p:txBody>
          <a:bodyPr wrap="square" lIns="0" tIns="0" rIns="0" bIns="0" rtlCol="0" anchor="ctr"/>
          <a:lstStyle/>
          <a:p>
            <a:pPr indent="0" marL="0">
              <a:buNone/>
            </a:pPr>
            <a:r>
              <a:rPr lang="en-US" sz="1100" b="1" spc="100" kern="0" dirty="0">
                <a:solidFill>
                  <a:srgbClr val="C05A12"/>
                </a:solidFill>
                <a:latin typeface="Calibri" pitchFamily="34" charset="0"/>
                <a:ea typeface="Calibri" pitchFamily="34" charset="-122"/>
                <a:cs typeface="Calibri" pitchFamily="34" charset="-120"/>
              </a:rPr>
              <a:t>MONTHS 1–3</a:t>
            </a:r>
            <a:endParaRPr lang="en-US" sz="1100" dirty="0"/>
          </a:p>
        </p:txBody>
      </p:sp>
      <p:sp>
        <p:nvSpPr>
          <p:cNvPr id="8" name="Text 6"/>
          <p:cNvSpPr/>
          <p:nvPr/>
        </p:nvSpPr>
        <p:spPr>
          <a:xfrm>
            <a:off x="1920240" y="2624328"/>
            <a:ext cx="1965960" cy="411480"/>
          </a:xfrm>
          <a:prstGeom prst="rect">
            <a:avLst/>
          </a:prstGeom>
          <a:noFill/>
          <a:ln/>
        </p:spPr>
        <p:txBody>
          <a:bodyPr wrap="square" lIns="0" tIns="0" rIns="0" bIns="0" rtlCol="0" anchor="ctr"/>
          <a:lstStyle/>
          <a:p>
            <a:pPr indent="0" marL="0">
              <a:buNone/>
            </a:pPr>
            <a:r>
              <a:rPr lang="en-US" sz="1900" b="1" dirty="0">
                <a:solidFill>
                  <a:srgbClr val="0A2A47"/>
                </a:solidFill>
                <a:latin typeface="Cambria" pitchFamily="34" charset="0"/>
                <a:ea typeface="Cambria" pitchFamily="34" charset="-122"/>
                <a:cs typeface="Cambria" pitchFamily="34" charset="-120"/>
              </a:rPr>
              <a:t>At the Table</a:t>
            </a:r>
            <a:endParaRPr lang="en-US" sz="1900" dirty="0"/>
          </a:p>
        </p:txBody>
      </p:sp>
      <p:sp>
        <p:nvSpPr>
          <p:cNvPr id="9" name="Text 7"/>
          <p:cNvSpPr/>
          <p:nvPr/>
        </p:nvSpPr>
        <p:spPr>
          <a:xfrm>
            <a:off x="978408" y="3383280"/>
            <a:ext cx="2843784" cy="2560320"/>
          </a:xfrm>
          <a:prstGeom prst="rect">
            <a:avLst/>
          </a:prstGeom>
          <a:noFill/>
          <a:ln/>
        </p:spPr>
        <p:txBody>
          <a:bodyPr wrap="square" lIns="0" tIns="0" rIns="0" bIns="0" rtlCol="0" anchor="t"/>
          <a:lstStyle/>
          <a:p>
            <a:pPr indent="0" marL="0">
              <a:lnSpc>
                <a:spcPct val="125000"/>
              </a:lnSpc>
              <a:buNone/>
            </a:pPr>
            <a:r>
              <a:rPr lang="en-US" sz="1300" dirty="0">
                <a:solidFill>
                  <a:srgbClr val="445563"/>
                </a:solidFill>
                <a:latin typeface="Calibri" pitchFamily="34" charset="0"/>
                <a:ea typeface="Calibri" pitchFamily="34" charset="-122"/>
                <a:cs typeface="Calibri" pitchFamily="34" charset="-120"/>
              </a:rPr>
              <a:t>Whole-person formation across the six pillars — Presence, Mind, Heart, Body, Community, Stewardship.</a:t>
            </a:r>
            <a:endParaRPr lang="en-US" sz="1300" dirty="0"/>
          </a:p>
        </p:txBody>
      </p:sp>
      <p:pic>
        <p:nvPicPr>
          <p:cNvPr id="10" name="Image 0" descr="preencoded.png"/>
          <p:cNvPicPr>
            <a:picLocks noChangeAspect="1"/>
          </p:cNvPicPr>
          <p:nvPr/>
        </p:nvPicPr>
        <p:blipFill>
          <a:blip r:embed="rId1"/>
          <a:stretch>
            <a:fillRect/>
          </a:stretch>
        </p:blipFill>
        <p:spPr>
          <a:xfrm>
            <a:off x="4133088" y="3895344"/>
            <a:ext cx="237744" cy="256032"/>
          </a:xfrm>
          <a:prstGeom prst="rect">
            <a:avLst/>
          </a:prstGeom>
        </p:spPr>
      </p:pic>
      <p:sp>
        <p:nvSpPr>
          <p:cNvPr id="11" name="Shape 8"/>
          <p:cNvSpPr/>
          <p:nvPr/>
        </p:nvSpPr>
        <p:spPr>
          <a:xfrm>
            <a:off x="4389120" y="1965960"/>
            <a:ext cx="3429000" cy="4114800"/>
          </a:xfrm>
          <a:prstGeom prst="roundRect">
            <a:avLst>
              <a:gd name="adj" fmla="val 2133"/>
            </a:avLst>
          </a:prstGeom>
          <a:solidFill>
            <a:srgbClr val="FFFFFF"/>
          </a:solidFill>
          <a:ln/>
          <a:effectLst>
            <a:outerShdw sx="100000" sy="100000" kx="0" ky="0" algn="bl" rotWithShape="0" blurRad="127000" dist="38100" dir="5400000">
              <a:srgbClr val="0A2A47">
                <a:alpha val="14000"/>
              </a:srgbClr>
            </a:outerShdw>
          </a:effectLst>
        </p:spPr>
      </p:sp>
      <p:sp>
        <p:nvSpPr>
          <p:cNvPr id="12" name="Shape 9"/>
          <p:cNvSpPr/>
          <p:nvPr/>
        </p:nvSpPr>
        <p:spPr>
          <a:xfrm>
            <a:off x="4663440" y="2258568"/>
            <a:ext cx="777240" cy="777240"/>
          </a:xfrm>
          <a:prstGeom prst="ellipse">
            <a:avLst/>
          </a:prstGeom>
          <a:solidFill>
            <a:srgbClr val="445563"/>
          </a:solidFill>
          <a:ln/>
        </p:spPr>
      </p:sp>
      <p:sp>
        <p:nvSpPr>
          <p:cNvPr id="13" name="Text 10"/>
          <p:cNvSpPr/>
          <p:nvPr/>
        </p:nvSpPr>
        <p:spPr>
          <a:xfrm>
            <a:off x="4663440" y="2258568"/>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4" name="Text 11"/>
          <p:cNvSpPr/>
          <p:nvPr/>
        </p:nvSpPr>
        <p:spPr>
          <a:xfrm>
            <a:off x="5623560" y="2331720"/>
            <a:ext cx="1965960" cy="320040"/>
          </a:xfrm>
          <a:prstGeom prst="rect">
            <a:avLst/>
          </a:prstGeom>
          <a:noFill/>
          <a:ln/>
        </p:spPr>
        <p:txBody>
          <a:bodyPr wrap="square" lIns="0" tIns="0" rIns="0" bIns="0" rtlCol="0" anchor="ctr"/>
          <a:lstStyle/>
          <a:p>
            <a:pPr indent="0" marL="0">
              <a:buNone/>
            </a:pPr>
            <a:r>
              <a:rPr lang="en-US" sz="1100" b="1" spc="100" kern="0" dirty="0">
                <a:solidFill>
                  <a:srgbClr val="C05A12"/>
                </a:solidFill>
                <a:latin typeface="Calibri" pitchFamily="34" charset="0"/>
                <a:ea typeface="Calibri" pitchFamily="34" charset="-122"/>
                <a:cs typeface="Calibri" pitchFamily="34" charset="-120"/>
              </a:rPr>
              <a:t>MONTHS 4–6</a:t>
            </a:r>
            <a:endParaRPr lang="en-US" sz="1100" dirty="0"/>
          </a:p>
        </p:txBody>
      </p:sp>
      <p:sp>
        <p:nvSpPr>
          <p:cNvPr id="15" name="Text 12"/>
          <p:cNvSpPr/>
          <p:nvPr/>
        </p:nvSpPr>
        <p:spPr>
          <a:xfrm>
            <a:off x="5623560" y="2624328"/>
            <a:ext cx="1965960" cy="411480"/>
          </a:xfrm>
          <a:prstGeom prst="rect">
            <a:avLst/>
          </a:prstGeom>
          <a:noFill/>
          <a:ln/>
        </p:spPr>
        <p:txBody>
          <a:bodyPr wrap="square" lIns="0" tIns="0" rIns="0" bIns="0" rtlCol="0" anchor="ctr"/>
          <a:lstStyle/>
          <a:p>
            <a:pPr indent="0" marL="0">
              <a:buNone/>
            </a:pPr>
            <a:r>
              <a:rPr lang="en-US" sz="1900" b="1" dirty="0">
                <a:solidFill>
                  <a:srgbClr val="0A2A47"/>
                </a:solidFill>
                <a:latin typeface="Cambria" pitchFamily="34" charset="0"/>
                <a:ea typeface="Cambria" pitchFamily="34" charset="-122"/>
                <a:cs typeface="Cambria" pitchFamily="34" charset="-120"/>
              </a:rPr>
              <a:t>Discover &amp; Refine</a:t>
            </a:r>
            <a:endParaRPr lang="en-US" sz="1900" dirty="0"/>
          </a:p>
        </p:txBody>
      </p:sp>
      <p:sp>
        <p:nvSpPr>
          <p:cNvPr id="16" name="Text 13"/>
          <p:cNvSpPr/>
          <p:nvPr/>
        </p:nvSpPr>
        <p:spPr>
          <a:xfrm>
            <a:off x="4681728" y="3383280"/>
            <a:ext cx="2843784" cy="2560320"/>
          </a:xfrm>
          <a:prstGeom prst="rect">
            <a:avLst/>
          </a:prstGeom>
          <a:noFill/>
          <a:ln/>
        </p:spPr>
        <p:txBody>
          <a:bodyPr wrap="square" lIns="0" tIns="0" rIns="0" bIns="0" rtlCol="0" anchor="t"/>
          <a:lstStyle/>
          <a:p>
            <a:pPr indent="0" marL="0">
              <a:lnSpc>
                <a:spcPct val="125000"/>
              </a:lnSpc>
              <a:buNone/>
            </a:pPr>
            <a:r>
              <a:rPr lang="en-US" sz="1300" dirty="0">
                <a:solidFill>
                  <a:srgbClr val="445563"/>
                </a:solidFill>
                <a:latin typeface="Calibri" pitchFamily="34" charset="0"/>
                <a:ea typeface="Calibri" pitchFamily="34" charset="-122"/>
                <a:cs typeface="Calibri" pitchFamily="34" charset="-120"/>
              </a:rPr>
              <a:t>Calling discovery, gift identification, inner healing, and licensed therapeutic support.</a:t>
            </a:r>
            <a:endParaRPr lang="en-US" sz="1300" dirty="0"/>
          </a:p>
        </p:txBody>
      </p:sp>
      <p:pic>
        <p:nvPicPr>
          <p:cNvPr id="17" name="Image 1" descr="preencoded.png"/>
          <p:cNvPicPr>
            <a:picLocks noChangeAspect="1"/>
          </p:cNvPicPr>
          <p:nvPr/>
        </p:nvPicPr>
        <p:blipFill>
          <a:blip r:embed="rId2"/>
          <a:stretch>
            <a:fillRect/>
          </a:stretch>
        </p:blipFill>
        <p:spPr>
          <a:xfrm>
            <a:off x="7836408" y="3895344"/>
            <a:ext cx="237744" cy="256032"/>
          </a:xfrm>
          <a:prstGeom prst="rect">
            <a:avLst/>
          </a:prstGeom>
        </p:spPr>
      </p:pic>
      <p:sp>
        <p:nvSpPr>
          <p:cNvPr id="18" name="Shape 14"/>
          <p:cNvSpPr/>
          <p:nvPr/>
        </p:nvSpPr>
        <p:spPr>
          <a:xfrm>
            <a:off x="8092440" y="1965960"/>
            <a:ext cx="3429000" cy="4114800"/>
          </a:xfrm>
          <a:prstGeom prst="roundRect">
            <a:avLst>
              <a:gd name="adj" fmla="val 2133"/>
            </a:avLst>
          </a:prstGeom>
          <a:solidFill>
            <a:srgbClr val="FFFFFF"/>
          </a:solidFill>
          <a:ln/>
          <a:effectLst>
            <a:outerShdw sx="100000" sy="100000" kx="0" ky="0" algn="bl" rotWithShape="0" blurRad="127000" dist="38100" dir="5400000">
              <a:srgbClr val="0A2A47">
                <a:alpha val="14000"/>
              </a:srgbClr>
            </a:outerShdw>
          </a:effectLst>
        </p:spPr>
      </p:sp>
      <p:sp>
        <p:nvSpPr>
          <p:cNvPr id="19" name="Shape 15"/>
          <p:cNvSpPr/>
          <p:nvPr/>
        </p:nvSpPr>
        <p:spPr>
          <a:xfrm>
            <a:off x="8366760" y="2258568"/>
            <a:ext cx="777240" cy="777240"/>
          </a:xfrm>
          <a:prstGeom prst="ellipse">
            <a:avLst/>
          </a:prstGeom>
          <a:solidFill>
            <a:srgbClr val="C05A12"/>
          </a:solidFill>
          <a:ln/>
        </p:spPr>
      </p:sp>
      <p:sp>
        <p:nvSpPr>
          <p:cNvPr id="20" name="Text 16"/>
          <p:cNvSpPr/>
          <p:nvPr/>
        </p:nvSpPr>
        <p:spPr>
          <a:xfrm>
            <a:off x="8366760" y="2258568"/>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1" name="Text 17"/>
          <p:cNvSpPr/>
          <p:nvPr/>
        </p:nvSpPr>
        <p:spPr>
          <a:xfrm>
            <a:off x="9326880" y="2331720"/>
            <a:ext cx="1965960" cy="320040"/>
          </a:xfrm>
          <a:prstGeom prst="rect">
            <a:avLst/>
          </a:prstGeom>
          <a:noFill/>
          <a:ln/>
        </p:spPr>
        <p:txBody>
          <a:bodyPr wrap="square" lIns="0" tIns="0" rIns="0" bIns="0" rtlCol="0" anchor="ctr"/>
          <a:lstStyle/>
          <a:p>
            <a:pPr indent="0" marL="0">
              <a:buNone/>
            </a:pPr>
            <a:r>
              <a:rPr lang="en-US" sz="1100" b="1" spc="100" kern="0" dirty="0">
                <a:solidFill>
                  <a:srgbClr val="C05A12"/>
                </a:solidFill>
                <a:latin typeface="Calibri" pitchFamily="34" charset="0"/>
                <a:ea typeface="Calibri" pitchFamily="34" charset="-122"/>
                <a:cs typeface="Calibri" pitchFamily="34" charset="-120"/>
              </a:rPr>
              <a:t>MONTHS 7–9</a:t>
            </a:r>
            <a:endParaRPr lang="en-US" sz="1100" dirty="0"/>
          </a:p>
        </p:txBody>
      </p:sp>
      <p:sp>
        <p:nvSpPr>
          <p:cNvPr id="22" name="Text 18"/>
          <p:cNvSpPr/>
          <p:nvPr/>
        </p:nvSpPr>
        <p:spPr>
          <a:xfrm>
            <a:off x="9326880" y="2624328"/>
            <a:ext cx="1965960" cy="411480"/>
          </a:xfrm>
          <a:prstGeom prst="rect">
            <a:avLst/>
          </a:prstGeom>
          <a:noFill/>
          <a:ln/>
        </p:spPr>
        <p:txBody>
          <a:bodyPr wrap="square" lIns="0" tIns="0" rIns="0" bIns="0" rtlCol="0" anchor="ctr"/>
          <a:lstStyle/>
          <a:p>
            <a:pPr indent="0" marL="0">
              <a:buNone/>
            </a:pPr>
            <a:r>
              <a:rPr lang="en-US" sz="1900" b="1" dirty="0">
                <a:solidFill>
                  <a:srgbClr val="0A2A47"/>
                </a:solidFill>
                <a:latin typeface="Cambria" pitchFamily="34" charset="0"/>
                <a:ea typeface="Cambria" pitchFamily="34" charset="-122"/>
                <a:cs typeface="Cambria" pitchFamily="34" charset="-120"/>
              </a:rPr>
              <a:t>Activate</a:t>
            </a:r>
            <a:endParaRPr lang="en-US" sz="1900" dirty="0"/>
          </a:p>
        </p:txBody>
      </p:sp>
      <p:sp>
        <p:nvSpPr>
          <p:cNvPr id="23" name="Text 19"/>
          <p:cNvSpPr/>
          <p:nvPr/>
        </p:nvSpPr>
        <p:spPr>
          <a:xfrm>
            <a:off x="8385048" y="3383280"/>
            <a:ext cx="2843784" cy="2560320"/>
          </a:xfrm>
          <a:prstGeom prst="rect">
            <a:avLst/>
          </a:prstGeom>
          <a:noFill/>
          <a:ln/>
        </p:spPr>
        <p:txBody>
          <a:bodyPr wrap="square" lIns="0" tIns="0" rIns="0" bIns="0" rtlCol="0" anchor="t"/>
          <a:lstStyle/>
          <a:p>
            <a:pPr indent="0" marL="0">
              <a:lnSpc>
                <a:spcPct val="125000"/>
              </a:lnSpc>
              <a:buNone/>
            </a:pPr>
            <a:r>
              <a:rPr lang="en-US" sz="1300" dirty="0">
                <a:solidFill>
                  <a:srgbClr val="445563"/>
                </a:solidFill>
                <a:latin typeface="Calibri" pitchFamily="34" charset="0"/>
                <a:ea typeface="Calibri" pitchFamily="34" charset="-122"/>
                <a:cs typeface="Calibri" pitchFamily="34" charset="-120"/>
              </a:rPr>
              <a:t>Local serving, missions fundraising, and an international missions trip.</a:t>
            </a:r>
            <a:endParaRPr lang="en-US" sz="1300" dirty="0"/>
          </a:p>
        </p:txBody>
      </p:sp>
      <p:sp>
        <p:nvSpPr>
          <p:cNvPr id="24" name="Text 20"/>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445563"/>
                </a:solidFill>
                <a:latin typeface="Calibri" pitchFamily="34" charset="0"/>
                <a:ea typeface="Calibri" pitchFamily="34" charset="-122"/>
                <a:cs typeface="Calibri" pitchFamily="34" charset="-120"/>
              </a:rPr>
              <a:t>Living Water Network  |  Referral Partnership</a:t>
            </a:r>
            <a:endParaRPr lang="en-US" sz="900" dirty="0"/>
          </a:p>
        </p:txBody>
      </p:sp>
      <p:sp>
        <p:nvSpPr>
          <p:cNvPr id="25" name="Text 2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44556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515600" cy="594360"/>
          </a:xfrm>
          <a:prstGeom prst="rect">
            <a:avLst/>
          </a:prstGeom>
          <a:noFill/>
          <a:ln/>
        </p:spPr>
        <p:txBody>
          <a:bodyPr wrap="square" lIns="0" tIns="0" rIns="0" bIns="0" rtlCol="0" anchor="ctr"/>
          <a:lstStyle/>
          <a:p>
            <a:pPr indent="0" marL="0">
              <a:buNone/>
            </a:pPr>
            <a:r>
              <a:rPr lang="en-US" sz="3000" b="1" dirty="0">
                <a:solidFill>
                  <a:srgbClr val="0A2A47"/>
                </a:solidFill>
                <a:latin typeface="Cambria" pitchFamily="34" charset="0"/>
                <a:ea typeface="Cambria" pitchFamily="34" charset="-122"/>
                <a:cs typeface="Cambria" pitchFamily="34" charset="-120"/>
              </a:rPr>
              <a:t>Three tracks. One shared foundation.</a:t>
            </a:r>
            <a:endParaRPr lang="en-US" sz="3000" dirty="0"/>
          </a:p>
        </p:txBody>
      </p:sp>
      <p:sp>
        <p:nvSpPr>
          <p:cNvPr id="3" name="Text 1"/>
          <p:cNvSpPr/>
          <p:nvPr/>
        </p:nvSpPr>
        <p:spPr>
          <a:xfrm>
            <a:off x="685800" y="1078992"/>
            <a:ext cx="10058400" cy="365760"/>
          </a:xfrm>
          <a:prstGeom prst="rect">
            <a:avLst/>
          </a:prstGeom>
          <a:noFill/>
          <a:ln/>
        </p:spPr>
        <p:txBody>
          <a:bodyPr wrap="square" lIns="0" tIns="0" rIns="0" bIns="0" rtlCol="0" anchor="ctr"/>
          <a:lstStyle/>
          <a:p>
            <a:pPr indent="0" marL="0">
              <a:buNone/>
            </a:pPr>
            <a:r>
              <a:rPr lang="en-US" sz="1500" dirty="0">
                <a:solidFill>
                  <a:srgbClr val="445563"/>
                </a:solidFill>
                <a:latin typeface="Calibri" pitchFamily="34" charset="0"/>
                <a:ea typeface="Calibri" pitchFamily="34" charset="-122"/>
                <a:cs typeface="Calibri" pitchFamily="34" charset="-120"/>
              </a:rPr>
              <a:t>Everyone walks Phase 1 together, then diverges into a track built for their calling</a:t>
            </a:r>
            <a:endParaRPr lang="en-US" sz="1500" dirty="0"/>
          </a:p>
        </p:txBody>
      </p:sp>
      <p:sp>
        <p:nvSpPr>
          <p:cNvPr id="4" name="Shape 2"/>
          <p:cNvSpPr/>
          <p:nvPr/>
        </p:nvSpPr>
        <p:spPr>
          <a:xfrm>
            <a:off x="685800" y="1691640"/>
            <a:ext cx="3429000" cy="4617720"/>
          </a:xfrm>
          <a:prstGeom prst="roundRect">
            <a:avLst>
              <a:gd name="adj" fmla="val 2133"/>
            </a:avLst>
          </a:prstGeom>
          <a:solidFill>
            <a:srgbClr val="EAF1F6"/>
          </a:solidFill>
          <a:ln/>
          <a:effectLst>
            <a:outerShdw sx="100000" sy="100000" kx="0" ky="0" algn="bl" rotWithShape="0" blurRad="127000" dist="38100" dir="5400000">
              <a:srgbClr val="0A2A47">
                <a:alpha val="14000"/>
              </a:srgbClr>
            </a:outerShdw>
          </a:effectLst>
        </p:spPr>
      </p:sp>
      <p:sp>
        <p:nvSpPr>
          <p:cNvPr id="5" name="Shape 3"/>
          <p:cNvSpPr/>
          <p:nvPr/>
        </p:nvSpPr>
        <p:spPr>
          <a:xfrm>
            <a:off x="685800" y="1691640"/>
            <a:ext cx="3429000" cy="1371600"/>
          </a:xfrm>
          <a:prstGeom prst="roundRect">
            <a:avLst>
              <a:gd name="adj" fmla="val 5333"/>
            </a:avLst>
          </a:prstGeom>
          <a:solidFill>
            <a:srgbClr val="0A2A47"/>
          </a:solidFill>
          <a:ln/>
        </p:spPr>
      </p:sp>
      <p:sp>
        <p:nvSpPr>
          <p:cNvPr id="6" name="Shape 4"/>
          <p:cNvSpPr/>
          <p:nvPr/>
        </p:nvSpPr>
        <p:spPr>
          <a:xfrm>
            <a:off x="685800" y="2377440"/>
            <a:ext cx="3429000" cy="685800"/>
          </a:xfrm>
          <a:prstGeom prst="rect">
            <a:avLst/>
          </a:prstGeom>
          <a:solidFill>
            <a:srgbClr val="0A2A47"/>
          </a:solidFill>
          <a:ln/>
        </p:spPr>
      </p:sp>
      <p:sp>
        <p:nvSpPr>
          <p:cNvPr id="7" name="Shape 5"/>
          <p:cNvSpPr/>
          <p:nvPr/>
        </p:nvSpPr>
        <p:spPr>
          <a:xfrm>
            <a:off x="941832" y="1920240"/>
            <a:ext cx="594360" cy="594360"/>
          </a:xfrm>
          <a:prstGeom prst="ellipse">
            <a:avLst/>
          </a:prstGeom>
          <a:solidFill>
            <a:srgbClr val="FFFFFF">
              <a:alpha val="85000"/>
            </a:srgbClr>
          </a:solidFill>
          <a:ln/>
        </p:spPr>
      </p:sp>
      <p:pic>
        <p:nvPicPr>
          <p:cNvPr id="8" name="Image 0" descr="preencoded.png"/>
          <p:cNvPicPr>
            <a:picLocks noChangeAspect="1"/>
          </p:cNvPicPr>
          <p:nvPr/>
        </p:nvPicPr>
        <p:blipFill>
          <a:blip r:embed="rId1"/>
          <a:stretch>
            <a:fillRect/>
          </a:stretch>
        </p:blipFill>
        <p:spPr>
          <a:xfrm>
            <a:off x="1088136" y="2066544"/>
            <a:ext cx="301752" cy="301752"/>
          </a:xfrm>
          <a:prstGeom prst="rect">
            <a:avLst/>
          </a:prstGeom>
        </p:spPr>
      </p:pic>
      <p:sp>
        <p:nvSpPr>
          <p:cNvPr id="9" name="Text 6"/>
          <p:cNvSpPr/>
          <p:nvPr/>
        </p:nvSpPr>
        <p:spPr>
          <a:xfrm>
            <a:off x="1645920" y="1892808"/>
            <a:ext cx="23317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Shepherd</a:t>
            </a:r>
            <a:endParaRPr lang="en-US" sz="1900" dirty="0"/>
          </a:p>
        </p:txBody>
      </p:sp>
      <p:sp>
        <p:nvSpPr>
          <p:cNvPr id="10" name="Text 7"/>
          <p:cNvSpPr/>
          <p:nvPr/>
        </p:nvSpPr>
        <p:spPr>
          <a:xfrm>
            <a:off x="1645920" y="2258568"/>
            <a:ext cx="2331720" cy="274320"/>
          </a:xfrm>
          <a:prstGeom prst="rect">
            <a:avLst/>
          </a:prstGeom>
          <a:noFill/>
          <a:ln/>
        </p:spPr>
        <p:txBody>
          <a:bodyPr wrap="square" lIns="0" tIns="0" rIns="0" bIns="0" rtlCol="0" anchor="ctr"/>
          <a:lstStyle/>
          <a:p>
            <a:pPr indent="0" marL="0">
              <a:buNone/>
            </a:pPr>
            <a:r>
              <a:rPr lang="en-US" sz="1050" spc="100" kern="0" dirty="0">
                <a:solidFill>
                  <a:srgbClr val="E7EEF3"/>
                </a:solidFill>
                <a:latin typeface="Calibri" pitchFamily="34" charset="0"/>
                <a:ea typeface="Calibri" pitchFamily="34" charset="-122"/>
                <a:cs typeface="Calibri" pitchFamily="34" charset="-120"/>
              </a:rPr>
              <a:t>MINISTRY &amp; MISSION</a:t>
            </a:r>
            <a:endParaRPr lang="en-US" sz="1050" dirty="0"/>
          </a:p>
        </p:txBody>
      </p:sp>
      <p:sp>
        <p:nvSpPr>
          <p:cNvPr id="11" name="Text 8"/>
          <p:cNvSpPr/>
          <p:nvPr/>
        </p:nvSpPr>
        <p:spPr>
          <a:xfrm>
            <a:off x="941832" y="3227832"/>
            <a:ext cx="2916936" cy="548640"/>
          </a:xfrm>
          <a:prstGeom prst="rect">
            <a:avLst/>
          </a:prstGeom>
          <a:noFill/>
          <a:ln/>
        </p:spPr>
        <p:txBody>
          <a:bodyPr wrap="square" lIns="0" tIns="0" rIns="0" bIns="0" rtlCol="0" anchor="ctr"/>
          <a:lstStyle/>
          <a:p>
            <a:pPr indent="0" marL="0">
              <a:lnSpc>
                <a:spcPct val="120000"/>
              </a:lnSpc>
              <a:buNone/>
            </a:pPr>
            <a:r>
              <a:rPr lang="en-US" sz="1300" b="1" dirty="0">
                <a:solidFill>
                  <a:srgbClr val="0A2A47"/>
                </a:solidFill>
                <a:latin typeface="Calibri" pitchFamily="34" charset="0"/>
                <a:ea typeface="Calibri" pitchFamily="34" charset="-122"/>
                <a:cs typeface="Calibri" pitchFamily="34" charset="-120"/>
              </a:rPr>
              <a:t>For those called to pastoral or ministry work.</a:t>
            </a:r>
            <a:endParaRPr lang="en-US" sz="1300" dirty="0"/>
          </a:p>
        </p:txBody>
      </p:sp>
      <p:sp>
        <p:nvSpPr>
          <p:cNvPr id="12" name="Shape 9"/>
          <p:cNvSpPr/>
          <p:nvPr/>
        </p:nvSpPr>
        <p:spPr>
          <a:xfrm>
            <a:off x="941832" y="3886200"/>
            <a:ext cx="2916936" cy="2240280"/>
          </a:xfrm>
          <a:prstGeom prst="roundRect">
            <a:avLst>
              <a:gd name="adj" fmla="val 2449"/>
            </a:avLst>
          </a:prstGeom>
          <a:solidFill>
            <a:srgbClr val="FFFFFF"/>
          </a:solidFill>
          <a:ln/>
        </p:spPr>
      </p:sp>
      <p:sp>
        <p:nvSpPr>
          <p:cNvPr id="13" name="Text 10"/>
          <p:cNvSpPr/>
          <p:nvPr/>
        </p:nvSpPr>
        <p:spPr>
          <a:xfrm>
            <a:off x="1106424" y="4050792"/>
            <a:ext cx="2587752" cy="1920240"/>
          </a:xfrm>
          <a:prstGeom prst="rect">
            <a:avLst/>
          </a:prstGeom>
          <a:noFill/>
          <a:ln/>
        </p:spPr>
        <p:txBody>
          <a:bodyPr wrap="square" lIns="0" tIns="0" rIns="0" bIns="0" rtlCol="0" anchor="t"/>
          <a:lstStyle/>
          <a:p>
            <a:pPr indent="0" marL="0">
              <a:lnSpc>
                <a:spcPct val="128000"/>
              </a:lnSpc>
              <a:buNone/>
            </a:pPr>
            <a:r>
              <a:rPr lang="en-US" sz="1200" i="1" dirty="0">
                <a:solidFill>
                  <a:srgbClr val="445563"/>
                </a:solidFill>
                <a:latin typeface="Calibri" pitchFamily="34" charset="0"/>
                <a:ea typeface="Calibri" pitchFamily="34" charset="-122"/>
                <a:cs typeface="Calibri" pitchFamily="34" charset="-120"/>
              </a:rPr>
              <a:t>Pastors: this is who you send — the emerging leader in your church who's called but not yet formed.</a:t>
            </a:r>
            <a:endParaRPr lang="en-US" sz="1200" dirty="0"/>
          </a:p>
        </p:txBody>
      </p:sp>
      <p:sp>
        <p:nvSpPr>
          <p:cNvPr id="14" name="Shape 11"/>
          <p:cNvSpPr/>
          <p:nvPr/>
        </p:nvSpPr>
        <p:spPr>
          <a:xfrm>
            <a:off x="4389120" y="1691640"/>
            <a:ext cx="3429000" cy="4617720"/>
          </a:xfrm>
          <a:prstGeom prst="roundRect">
            <a:avLst>
              <a:gd name="adj" fmla="val 2133"/>
            </a:avLst>
          </a:prstGeom>
          <a:solidFill>
            <a:srgbClr val="EAF1F6"/>
          </a:solidFill>
          <a:ln/>
          <a:effectLst>
            <a:outerShdw sx="100000" sy="100000" kx="0" ky="0" algn="bl" rotWithShape="0" blurRad="127000" dist="38100" dir="5400000">
              <a:srgbClr val="0A2A47">
                <a:alpha val="14000"/>
              </a:srgbClr>
            </a:outerShdw>
          </a:effectLst>
        </p:spPr>
      </p:sp>
      <p:sp>
        <p:nvSpPr>
          <p:cNvPr id="15" name="Shape 12"/>
          <p:cNvSpPr/>
          <p:nvPr/>
        </p:nvSpPr>
        <p:spPr>
          <a:xfrm>
            <a:off x="4389120" y="1691640"/>
            <a:ext cx="3429000" cy="1371600"/>
          </a:xfrm>
          <a:prstGeom prst="roundRect">
            <a:avLst>
              <a:gd name="adj" fmla="val 5333"/>
            </a:avLst>
          </a:prstGeom>
          <a:solidFill>
            <a:srgbClr val="C05A12"/>
          </a:solidFill>
          <a:ln/>
        </p:spPr>
      </p:sp>
      <p:sp>
        <p:nvSpPr>
          <p:cNvPr id="16" name="Shape 13"/>
          <p:cNvSpPr/>
          <p:nvPr/>
        </p:nvSpPr>
        <p:spPr>
          <a:xfrm>
            <a:off x="4389120" y="2377440"/>
            <a:ext cx="3429000" cy="685800"/>
          </a:xfrm>
          <a:prstGeom prst="rect">
            <a:avLst/>
          </a:prstGeom>
          <a:solidFill>
            <a:srgbClr val="C05A12"/>
          </a:solidFill>
          <a:ln/>
        </p:spPr>
      </p:sp>
      <p:sp>
        <p:nvSpPr>
          <p:cNvPr id="17" name="Shape 14"/>
          <p:cNvSpPr/>
          <p:nvPr/>
        </p:nvSpPr>
        <p:spPr>
          <a:xfrm>
            <a:off x="4645152" y="1920240"/>
            <a:ext cx="594360" cy="594360"/>
          </a:xfrm>
          <a:prstGeom prst="ellipse">
            <a:avLst/>
          </a:prstGeom>
          <a:solidFill>
            <a:srgbClr val="FFFFFF">
              <a:alpha val="85000"/>
            </a:srgbClr>
          </a:solidFill>
          <a:ln/>
        </p:spPr>
      </p:sp>
      <p:pic>
        <p:nvPicPr>
          <p:cNvPr id="18" name="Image 1" descr="preencoded.png"/>
          <p:cNvPicPr>
            <a:picLocks noChangeAspect="1"/>
          </p:cNvPicPr>
          <p:nvPr/>
        </p:nvPicPr>
        <p:blipFill>
          <a:blip r:embed="rId2"/>
          <a:stretch>
            <a:fillRect/>
          </a:stretch>
        </p:blipFill>
        <p:spPr>
          <a:xfrm>
            <a:off x="4791456" y="2066544"/>
            <a:ext cx="301752" cy="301752"/>
          </a:xfrm>
          <a:prstGeom prst="rect">
            <a:avLst/>
          </a:prstGeom>
        </p:spPr>
      </p:pic>
      <p:sp>
        <p:nvSpPr>
          <p:cNvPr id="19" name="Text 15"/>
          <p:cNvSpPr/>
          <p:nvPr/>
        </p:nvSpPr>
        <p:spPr>
          <a:xfrm>
            <a:off x="5349240" y="1892808"/>
            <a:ext cx="23317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Builder</a:t>
            </a:r>
            <a:endParaRPr lang="en-US" sz="1900" dirty="0"/>
          </a:p>
        </p:txBody>
      </p:sp>
      <p:sp>
        <p:nvSpPr>
          <p:cNvPr id="20" name="Text 16"/>
          <p:cNvSpPr/>
          <p:nvPr/>
        </p:nvSpPr>
        <p:spPr>
          <a:xfrm>
            <a:off x="5349240" y="2258568"/>
            <a:ext cx="2331720" cy="274320"/>
          </a:xfrm>
          <a:prstGeom prst="rect">
            <a:avLst/>
          </a:prstGeom>
          <a:noFill/>
          <a:ln/>
        </p:spPr>
        <p:txBody>
          <a:bodyPr wrap="square" lIns="0" tIns="0" rIns="0" bIns="0" rtlCol="0" anchor="ctr"/>
          <a:lstStyle/>
          <a:p>
            <a:pPr indent="0" marL="0">
              <a:buNone/>
            </a:pPr>
            <a:r>
              <a:rPr lang="en-US" sz="1050" spc="100" kern="0" dirty="0">
                <a:solidFill>
                  <a:srgbClr val="E7EEF3"/>
                </a:solidFill>
                <a:latin typeface="Calibri" pitchFamily="34" charset="0"/>
                <a:ea typeface="Calibri" pitchFamily="34" charset="-122"/>
                <a:cs typeface="Calibri" pitchFamily="34" charset="-120"/>
              </a:rPr>
              <a:t>MARKETPLACE &amp; ENTREPRENEURSHIP</a:t>
            </a:r>
            <a:endParaRPr lang="en-US" sz="1050" dirty="0"/>
          </a:p>
        </p:txBody>
      </p:sp>
      <p:sp>
        <p:nvSpPr>
          <p:cNvPr id="21" name="Text 17"/>
          <p:cNvSpPr/>
          <p:nvPr/>
        </p:nvSpPr>
        <p:spPr>
          <a:xfrm>
            <a:off x="4645152" y="3227832"/>
            <a:ext cx="2916936" cy="548640"/>
          </a:xfrm>
          <a:prstGeom prst="rect">
            <a:avLst/>
          </a:prstGeom>
          <a:noFill/>
          <a:ln/>
        </p:spPr>
        <p:txBody>
          <a:bodyPr wrap="square" lIns="0" tIns="0" rIns="0" bIns="0" rtlCol="0" anchor="ctr"/>
          <a:lstStyle/>
          <a:p>
            <a:pPr indent="0" marL="0">
              <a:lnSpc>
                <a:spcPct val="120000"/>
              </a:lnSpc>
              <a:buNone/>
            </a:pPr>
            <a:r>
              <a:rPr lang="en-US" sz="1300" b="1" dirty="0">
                <a:solidFill>
                  <a:srgbClr val="0A2A47"/>
                </a:solidFill>
                <a:latin typeface="Calibri" pitchFamily="34" charset="0"/>
                <a:ea typeface="Calibri" pitchFamily="34" charset="-122"/>
                <a:cs typeface="Calibri" pitchFamily="34" charset="-120"/>
              </a:rPr>
              <a:t>For business owners and entrepreneurs.</a:t>
            </a:r>
            <a:endParaRPr lang="en-US" sz="1300" dirty="0"/>
          </a:p>
        </p:txBody>
      </p:sp>
      <p:sp>
        <p:nvSpPr>
          <p:cNvPr id="22" name="Shape 18"/>
          <p:cNvSpPr/>
          <p:nvPr/>
        </p:nvSpPr>
        <p:spPr>
          <a:xfrm>
            <a:off x="4645152" y="3886200"/>
            <a:ext cx="2916936" cy="2240280"/>
          </a:xfrm>
          <a:prstGeom prst="roundRect">
            <a:avLst>
              <a:gd name="adj" fmla="val 2449"/>
            </a:avLst>
          </a:prstGeom>
          <a:solidFill>
            <a:srgbClr val="FFFFFF"/>
          </a:solidFill>
          <a:ln/>
        </p:spPr>
      </p:sp>
      <p:sp>
        <p:nvSpPr>
          <p:cNvPr id="23" name="Text 19"/>
          <p:cNvSpPr/>
          <p:nvPr/>
        </p:nvSpPr>
        <p:spPr>
          <a:xfrm>
            <a:off x="4809744" y="4050792"/>
            <a:ext cx="2587752" cy="1920240"/>
          </a:xfrm>
          <a:prstGeom prst="rect">
            <a:avLst/>
          </a:prstGeom>
          <a:noFill/>
          <a:ln/>
        </p:spPr>
        <p:txBody>
          <a:bodyPr wrap="square" lIns="0" tIns="0" rIns="0" bIns="0" rtlCol="0" anchor="t"/>
          <a:lstStyle/>
          <a:p>
            <a:pPr indent="0" marL="0">
              <a:lnSpc>
                <a:spcPct val="128000"/>
              </a:lnSpc>
              <a:buNone/>
            </a:pPr>
            <a:r>
              <a:rPr lang="en-US" sz="1200" i="1" dirty="0">
                <a:solidFill>
                  <a:srgbClr val="445563"/>
                </a:solidFill>
                <a:latin typeface="Calibri" pitchFamily="34" charset="0"/>
                <a:ea typeface="Calibri" pitchFamily="34" charset="-122"/>
                <a:cs typeface="Calibri" pitchFamily="34" charset="-120"/>
              </a:rPr>
              <a:t>Business owners: this is who you send — the high-potential leader on your team who needs more than a management course.</a:t>
            </a:r>
            <a:endParaRPr lang="en-US" sz="1200" dirty="0"/>
          </a:p>
        </p:txBody>
      </p:sp>
      <p:sp>
        <p:nvSpPr>
          <p:cNvPr id="24" name="Shape 20"/>
          <p:cNvSpPr/>
          <p:nvPr/>
        </p:nvSpPr>
        <p:spPr>
          <a:xfrm>
            <a:off x="8092440" y="1691640"/>
            <a:ext cx="3429000" cy="4617720"/>
          </a:xfrm>
          <a:prstGeom prst="roundRect">
            <a:avLst>
              <a:gd name="adj" fmla="val 2133"/>
            </a:avLst>
          </a:prstGeom>
          <a:solidFill>
            <a:srgbClr val="EAF1F6"/>
          </a:solidFill>
          <a:ln/>
          <a:effectLst>
            <a:outerShdw sx="100000" sy="100000" kx="0" ky="0" algn="bl" rotWithShape="0" blurRad="127000" dist="38100" dir="5400000">
              <a:srgbClr val="0A2A47">
                <a:alpha val="14000"/>
              </a:srgbClr>
            </a:outerShdw>
          </a:effectLst>
        </p:spPr>
      </p:sp>
      <p:sp>
        <p:nvSpPr>
          <p:cNvPr id="25" name="Shape 21"/>
          <p:cNvSpPr/>
          <p:nvPr/>
        </p:nvSpPr>
        <p:spPr>
          <a:xfrm>
            <a:off x="8092440" y="1691640"/>
            <a:ext cx="3429000" cy="1371600"/>
          </a:xfrm>
          <a:prstGeom prst="roundRect">
            <a:avLst>
              <a:gd name="adj" fmla="val 5333"/>
            </a:avLst>
          </a:prstGeom>
          <a:solidFill>
            <a:srgbClr val="445563"/>
          </a:solidFill>
          <a:ln/>
        </p:spPr>
      </p:sp>
      <p:sp>
        <p:nvSpPr>
          <p:cNvPr id="26" name="Shape 22"/>
          <p:cNvSpPr/>
          <p:nvPr/>
        </p:nvSpPr>
        <p:spPr>
          <a:xfrm>
            <a:off x="8092440" y="2377440"/>
            <a:ext cx="3429000" cy="685800"/>
          </a:xfrm>
          <a:prstGeom prst="rect">
            <a:avLst/>
          </a:prstGeom>
          <a:solidFill>
            <a:srgbClr val="445563"/>
          </a:solidFill>
          <a:ln/>
        </p:spPr>
      </p:sp>
      <p:sp>
        <p:nvSpPr>
          <p:cNvPr id="27" name="Shape 23"/>
          <p:cNvSpPr/>
          <p:nvPr/>
        </p:nvSpPr>
        <p:spPr>
          <a:xfrm>
            <a:off x="8348472" y="1920240"/>
            <a:ext cx="594360" cy="594360"/>
          </a:xfrm>
          <a:prstGeom prst="ellipse">
            <a:avLst/>
          </a:prstGeom>
          <a:solidFill>
            <a:srgbClr val="FFFFFF">
              <a:alpha val="85000"/>
            </a:srgbClr>
          </a:solidFill>
          <a:ln/>
        </p:spPr>
      </p:sp>
      <p:pic>
        <p:nvPicPr>
          <p:cNvPr id="28" name="Image 2" descr="preencoded.png"/>
          <p:cNvPicPr>
            <a:picLocks noChangeAspect="1"/>
          </p:cNvPicPr>
          <p:nvPr/>
        </p:nvPicPr>
        <p:blipFill>
          <a:blip r:embed="rId3"/>
          <a:stretch>
            <a:fillRect/>
          </a:stretch>
        </p:blipFill>
        <p:spPr>
          <a:xfrm>
            <a:off x="8494776" y="2066544"/>
            <a:ext cx="301752" cy="301752"/>
          </a:xfrm>
          <a:prstGeom prst="rect">
            <a:avLst/>
          </a:prstGeom>
        </p:spPr>
      </p:pic>
      <p:sp>
        <p:nvSpPr>
          <p:cNvPr id="29" name="Text 24"/>
          <p:cNvSpPr/>
          <p:nvPr/>
        </p:nvSpPr>
        <p:spPr>
          <a:xfrm>
            <a:off x="9052560" y="1892808"/>
            <a:ext cx="23317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Canvas</a:t>
            </a:r>
            <a:endParaRPr lang="en-US" sz="1900" dirty="0"/>
          </a:p>
        </p:txBody>
      </p:sp>
      <p:sp>
        <p:nvSpPr>
          <p:cNvPr id="30" name="Text 25"/>
          <p:cNvSpPr/>
          <p:nvPr/>
        </p:nvSpPr>
        <p:spPr>
          <a:xfrm>
            <a:off x="9052560" y="2258568"/>
            <a:ext cx="2331720" cy="274320"/>
          </a:xfrm>
          <a:prstGeom prst="rect">
            <a:avLst/>
          </a:prstGeom>
          <a:noFill/>
          <a:ln/>
        </p:spPr>
        <p:txBody>
          <a:bodyPr wrap="square" lIns="0" tIns="0" rIns="0" bIns="0" rtlCol="0" anchor="ctr"/>
          <a:lstStyle/>
          <a:p>
            <a:pPr indent="0" marL="0">
              <a:buNone/>
            </a:pPr>
            <a:r>
              <a:rPr lang="en-US" sz="1050" spc="100" kern="0" dirty="0">
                <a:solidFill>
                  <a:srgbClr val="E7EEF3"/>
                </a:solidFill>
                <a:latin typeface="Calibri" pitchFamily="34" charset="0"/>
                <a:ea typeface="Calibri" pitchFamily="34" charset="-122"/>
                <a:cs typeface="Calibri" pitchFamily="34" charset="-120"/>
              </a:rPr>
              <a:t>CREATIVES &amp; INFLUENCERS</a:t>
            </a:r>
            <a:endParaRPr lang="en-US" sz="1050" dirty="0"/>
          </a:p>
        </p:txBody>
      </p:sp>
      <p:sp>
        <p:nvSpPr>
          <p:cNvPr id="31" name="Text 26"/>
          <p:cNvSpPr/>
          <p:nvPr/>
        </p:nvSpPr>
        <p:spPr>
          <a:xfrm>
            <a:off x="8348472" y="3227832"/>
            <a:ext cx="2916936" cy="548640"/>
          </a:xfrm>
          <a:prstGeom prst="rect">
            <a:avLst/>
          </a:prstGeom>
          <a:noFill/>
          <a:ln/>
        </p:spPr>
        <p:txBody>
          <a:bodyPr wrap="square" lIns="0" tIns="0" rIns="0" bIns="0" rtlCol="0" anchor="ctr"/>
          <a:lstStyle/>
          <a:p>
            <a:pPr indent="0" marL="0">
              <a:lnSpc>
                <a:spcPct val="120000"/>
              </a:lnSpc>
              <a:buNone/>
            </a:pPr>
            <a:r>
              <a:rPr lang="en-US" sz="1300" b="1" dirty="0">
                <a:solidFill>
                  <a:srgbClr val="0A2A47"/>
                </a:solidFill>
                <a:latin typeface="Calibri" pitchFamily="34" charset="0"/>
                <a:ea typeface="Calibri" pitchFamily="34" charset="-122"/>
                <a:cs typeface="Calibri" pitchFamily="34" charset="-120"/>
              </a:rPr>
              <a:t>For creative professionals and influencers.</a:t>
            </a:r>
            <a:endParaRPr lang="en-US" sz="1300" dirty="0"/>
          </a:p>
        </p:txBody>
      </p:sp>
      <p:sp>
        <p:nvSpPr>
          <p:cNvPr id="32" name="Shape 27"/>
          <p:cNvSpPr/>
          <p:nvPr/>
        </p:nvSpPr>
        <p:spPr>
          <a:xfrm>
            <a:off x="8348472" y="3886200"/>
            <a:ext cx="2916936" cy="2240280"/>
          </a:xfrm>
          <a:prstGeom prst="roundRect">
            <a:avLst>
              <a:gd name="adj" fmla="val 2449"/>
            </a:avLst>
          </a:prstGeom>
          <a:solidFill>
            <a:srgbClr val="FFFFFF"/>
          </a:solidFill>
          <a:ln/>
        </p:spPr>
      </p:sp>
      <p:sp>
        <p:nvSpPr>
          <p:cNvPr id="33" name="Text 28"/>
          <p:cNvSpPr/>
          <p:nvPr/>
        </p:nvSpPr>
        <p:spPr>
          <a:xfrm>
            <a:off x="8513064" y="4050792"/>
            <a:ext cx="2587752" cy="1920240"/>
          </a:xfrm>
          <a:prstGeom prst="rect">
            <a:avLst/>
          </a:prstGeom>
          <a:noFill/>
          <a:ln/>
        </p:spPr>
        <p:txBody>
          <a:bodyPr wrap="square" lIns="0" tIns="0" rIns="0" bIns="0" rtlCol="0" anchor="t"/>
          <a:lstStyle/>
          <a:p>
            <a:pPr indent="0" marL="0">
              <a:lnSpc>
                <a:spcPct val="128000"/>
              </a:lnSpc>
              <a:buNone/>
            </a:pPr>
            <a:r>
              <a:rPr lang="en-US" sz="1200" i="1" dirty="0">
                <a:solidFill>
                  <a:srgbClr val="445563"/>
                </a:solidFill>
                <a:latin typeface="Calibri" pitchFamily="34" charset="0"/>
                <a:ea typeface="Calibri" pitchFamily="34" charset="-122"/>
                <a:cs typeface="Calibri" pitchFamily="34" charset="-120"/>
              </a:rPr>
              <a:t>For the gifted creative voice who needs rootedness to match their reach.</a:t>
            </a:r>
            <a:endParaRPr lang="en-US" sz="1200" dirty="0"/>
          </a:p>
        </p:txBody>
      </p:sp>
      <p:sp>
        <p:nvSpPr>
          <p:cNvPr id="34" name="Text 29"/>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445563"/>
                </a:solidFill>
                <a:latin typeface="Calibri" pitchFamily="34" charset="0"/>
                <a:ea typeface="Calibri" pitchFamily="34" charset="-122"/>
                <a:cs typeface="Calibri" pitchFamily="34" charset="-120"/>
              </a:rPr>
              <a:t>Living Water Network  |  Referral Partnership</a:t>
            </a:r>
            <a:endParaRPr lang="en-US" sz="900" dirty="0"/>
          </a:p>
        </p:txBody>
      </p:sp>
      <p:sp>
        <p:nvSpPr>
          <p:cNvPr id="35"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44556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A47"/>
        </a:solidFill>
      </p:bgPr>
    </p:bg>
    <p:spTree>
      <p:nvGrpSpPr>
        <p:cNvPr id="1" name=""/>
        <p:cNvGrpSpPr/>
        <p:nvPr/>
      </p:nvGrpSpPr>
      <p:grpSpPr>
        <a:xfrm>
          <a:off x="0" y="0"/>
          <a:ext cx="0" cy="0"/>
          <a:chOff x="0" y="0"/>
          <a:chExt cx="0" cy="0"/>
        </a:xfrm>
      </p:grpSpPr>
      <p:sp>
        <p:nvSpPr>
          <p:cNvPr id="2" name="Text 0"/>
          <p:cNvSpPr/>
          <p:nvPr/>
        </p:nvSpPr>
        <p:spPr>
          <a:xfrm>
            <a:off x="685800" y="502920"/>
            <a:ext cx="96012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Who should come to mind right now?</a:t>
            </a:r>
            <a:endParaRPr lang="en-US" sz="3000" dirty="0"/>
          </a:p>
        </p:txBody>
      </p:sp>
      <p:sp>
        <p:nvSpPr>
          <p:cNvPr id="3" name="Text 1"/>
          <p:cNvSpPr/>
          <p:nvPr/>
        </p:nvSpPr>
        <p:spPr>
          <a:xfrm>
            <a:off x="685800" y="1133856"/>
            <a:ext cx="9144000" cy="365760"/>
          </a:xfrm>
          <a:prstGeom prst="rect">
            <a:avLst/>
          </a:prstGeom>
          <a:noFill/>
          <a:ln/>
        </p:spPr>
        <p:txBody>
          <a:bodyPr wrap="square" lIns="0" tIns="0" rIns="0" bIns="0" rtlCol="0" anchor="ctr"/>
          <a:lstStyle/>
          <a:p>
            <a:pPr indent="0" marL="0">
              <a:buNone/>
            </a:pPr>
            <a:r>
              <a:rPr lang="en-US" sz="1500" dirty="0">
                <a:solidFill>
                  <a:srgbClr val="7CCBE6"/>
                </a:solidFill>
                <a:latin typeface="Calibri" pitchFamily="34" charset="0"/>
                <a:ea typeface="Calibri" pitchFamily="34" charset="-122"/>
                <a:cs typeface="Calibri" pitchFamily="34" charset="-120"/>
              </a:rPr>
              <a:t>The kind of person who thrives in Groundwork</a:t>
            </a:r>
            <a:endParaRPr lang="en-US" sz="1500" dirty="0"/>
          </a:p>
        </p:txBody>
      </p:sp>
      <p:sp>
        <p:nvSpPr>
          <p:cNvPr id="4" name="Shape 2"/>
          <p:cNvSpPr/>
          <p:nvPr/>
        </p:nvSpPr>
        <p:spPr>
          <a:xfrm>
            <a:off x="713232" y="1901952"/>
            <a:ext cx="365760" cy="365760"/>
          </a:xfrm>
          <a:prstGeom prst="ellipse">
            <a:avLst/>
          </a:prstGeom>
          <a:solidFill>
            <a:srgbClr val="0F3A61"/>
          </a:solidFill>
          <a:ln/>
        </p:spPr>
      </p:sp>
      <p:pic>
        <p:nvPicPr>
          <p:cNvPr id="5" name="Image 0" descr="preencoded.png"/>
          <p:cNvPicPr>
            <a:picLocks noChangeAspect="1"/>
          </p:cNvPicPr>
          <p:nvPr/>
        </p:nvPicPr>
        <p:blipFill>
          <a:blip r:embed="rId1"/>
          <a:stretch>
            <a:fillRect/>
          </a:stretch>
        </p:blipFill>
        <p:spPr>
          <a:xfrm>
            <a:off x="813816" y="2002536"/>
            <a:ext cx="164592" cy="164592"/>
          </a:xfrm>
          <a:prstGeom prst="rect">
            <a:avLst/>
          </a:prstGeom>
        </p:spPr>
      </p:pic>
      <p:sp>
        <p:nvSpPr>
          <p:cNvPr id="6" name="Text 3"/>
          <p:cNvSpPr/>
          <p:nvPr/>
        </p:nvSpPr>
        <p:spPr>
          <a:xfrm>
            <a:off x="1280160" y="1874520"/>
            <a:ext cx="5806440" cy="777240"/>
          </a:xfrm>
          <a:prstGeom prst="rect">
            <a:avLst/>
          </a:prstGeom>
          <a:noFill/>
          <a:ln/>
        </p:spPr>
        <p:txBody>
          <a:bodyPr wrap="square" lIns="0" tIns="0" rIns="0" bIns="0" rtlCol="0" anchor="ctr"/>
          <a:lstStyle/>
          <a:p>
            <a:pPr indent="0" marL="0">
              <a:lnSpc>
                <a:spcPct val="120000"/>
              </a:lnSpc>
              <a:buNone/>
            </a:pPr>
            <a:r>
              <a:rPr lang="en-US" sz="1400" dirty="0">
                <a:solidFill>
                  <a:srgbClr val="EAF1F6"/>
                </a:solidFill>
                <a:latin typeface="Calibri" pitchFamily="34" charset="0"/>
                <a:ea typeface="Calibri" pitchFamily="34" charset="-122"/>
                <a:cs typeface="Calibri" pitchFamily="34" charset="-120"/>
              </a:rPr>
              <a:t>Gifted, but leading (or about to lead) beyond their current formation</a:t>
            </a:r>
            <a:endParaRPr lang="en-US" sz="1400" dirty="0"/>
          </a:p>
        </p:txBody>
      </p:sp>
      <p:sp>
        <p:nvSpPr>
          <p:cNvPr id="7" name="Shape 4"/>
          <p:cNvSpPr/>
          <p:nvPr/>
        </p:nvSpPr>
        <p:spPr>
          <a:xfrm>
            <a:off x="713232" y="2743200"/>
            <a:ext cx="365760" cy="365760"/>
          </a:xfrm>
          <a:prstGeom prst="ellipse">
            <a:avLst/>
          </a:prstGeom>
          <a:solidFill>
            <a:srgbClr val="0F3A61"/>
          </a:solidFill>
          <a:ln/>
        </p:spPr>
      </p:sp>
      <p:pic>
        <p:nvPicPr>
          <p:cNvPr id="8" name="Image 1" descr="preencoded.png"/>
          <p:cNvPicPr>
            <a:picLocks noChangeAspect="1"/>
          </p:cNvPicPr>
          <p:nvPr/>
        </p:nvPicPr>
        <p:blipFill>
          <a:blip r:embed="rId2"/>
          <a:stretch>
            <a:fillRect/>
          </a:stretch>
        </p:blipFill>
        <p:spPr>
          <a:xfrm>
            <a:off x="813816" y="2843784"/>
            <a:ext cx="164592" cy="164592"/>
          </a:xfrm>
          <a:prstGeom prst="rect">
            <a:avLst/>
          </a:prstGeom>
        </p:spPr>
      </p:pic>
      <p:sp>
        <p:nvSpPr>
          <p:cNvPr id="9" name="Text 5"/>
          <p:cNvSpPr/>
          <p:nvPr/>
        </p:nvSpPr>
        <p:spPr>
          <a:xfrm>
            <a:off x="1280160" y="2715768"/>
            <a:ext cx="5806440" cy="777240"/>
          </a:xfrm>
          <a:prstGeom prst="rect">
            <a:avLst/>
          </a:prstGeom>
          <a:noFill/>
          <a:ln/>
        </p:spPr>
        <p:txBody>
          <a:bodyPr wrap="square" lIns="0" tIns="0" rIns="0" bIns="0" rtlCol="0" anchor="ctr"/>
          <a:lstStyle/>
          <a:p>
            <a:pPr indent="0" marL="0">
              <a:lnSpc>
                <a:spcPct val="120000"/>
              </a:lnSpc>
              <a:buNone/>
            </a:pPr>
            <a:r>
              <a:rPr lang="en-US" sz="1400" dirty="0">
                <a:solidFill>
                  <a:srgbClr val="EAF1F6"/>
                </a:solidFill>
                <a:latin typeface="Calibri" pitchFamily="34" charset="0"/>
                <a:ea typeface="Calibri" pitchFamily="34" charset="-122"/>
                <a:cs typeface="Calibri" pitchFamily="34" charset="-120"/>
              </a:rPr>
              <a:t>Shows real promise, yet you sense something under the surface isn't settled</a:t>
            </a:r>
            <a:endParaRPr lang="en-US" sz="1400" dirty="0"/>
          </a:p>
        </p:txBody>
      </p:sp>
      <p:sp>
        <p:nvSpPr>
          <p:cNvPr id="10" name="Shape 6"/>
          <p:cNvSpPr/>
          <p:nvPr/>
        </p:nvSpPr>
        <p:spPr>
          <a:xfrm>
            <a:off x="713232" y="3584448"/>
            <a:ext cx="365760" cy="365760"/>
          </a:xfrm>
          <a:prstGeom prst="ellipse">
            <a:avLst/>
          </a:prstGeom>
          <a:solidFill>
            <a:srgbClr val="0F3A61"/>
          </a:solidFill>
          <a:ln/>
        </p:spPr>
      </p:sp>
      <p:pic>
        <p:nvPicPr>
          <p:cNvPr id="11" name="Image 2" descr="preencoded.png"/>
          <p:cNvPicPr>
            <a:picLocks noChangeAspect="1"/>
          </p:cNvPicPr>
          <p:nvPr/>
        </p:nvPicPr>
        <p:blipFill>
          <a:blip r:embed="rId3"/>
          <a:stretch>
            <a:fillRect/>
          </a:stretch>
        </p:blipFill>
        <p:spPr>
          <a:xfrm>
            <a:off x="813816" y="3685032"/>
            <a:ext cx="164592" cy="164592"/>
          </a:xfrm>
          <a:prstGeom prst="rect">
            <a:avLst/>
          </a:prstGeom>
        </p:spPr>
      </p:pic>
      <p:sp>
        <p:nvSpPr>
          <p:cNvPr id="12" name="Text 7"/>
          <p:cNvSpPr/>
          <p:nvPr/>
        </p:nvSpPr>
        <p:spPr>
          <a:xfrm>
            <a:off x="1280160" y="3557016"/>
            <a:ext cx="5806440" cy="777240"/>
          </a:xfrm>
          <a:prstGeom prst="rect">
            <a:avLst/>
          </a:prstGeom>
          <a:noFill/>
          <a:ln/>
        </p:spPr>
        <p:txBody>
          <a:bodyPr wrap="square" lIns="0" tIns="0" rIns="0" bIns="0" rtlCol="0" anchor="ctr"/>
          <a:lstStyle/>
          <a:p>
            <a:pPr indent="0" marL="0">
              <a:lnSpc>
                <a:spcPct val="120000"/>
              </a:lnSpc>
              <a:buNone/>
            </a:pPr>
            <a:r>
              <a:rPr lang="en-US" sz="1400" dirty="0">
                <a:solidFill>
                  <a:srgbClr val="EAF1F6"/>
                </a:solidFill>
                <a:latin typeface="Calibri" pitchFamily="34" charset="0"/>
                <a:ea typeface="Calibri" pitchFamily="34" charset="-122"/>
                <a:cs typeface="Calibri" pitchFamily="34" charset="-120"/>
              </a:rPr>
              <a:t>Hungry to grow, teachable, and willing to be honest about their blind spots</a:t>
            </a:r>
            <a:endParaRPr lang="en-US" sz="1400" dirty="0"/>
          </a:p>
        </p:txBody>
      </p:sp>
      <p:sp>
        <p:nvSpPr>
          <p:cNvPr id="13" name="Shape 8"/>
          <p:cNvSpPr/>
          <p:nvPr/>
        </p:nvSpPr>
        <p:spPr>
          <a:xfrm>
            <a:off x="713232" y="4425696"/>
            <a:ext cx="365760" cy="365760"/>
          </a:xfrm>
          <a:prstGeom prst="ellipse">
            <a:avLst/>
          </a:prstGeom>
          <a:solidFill>
            <a:srgbClr val="0F3A61"/>
          </a:solidFill>
          <a:ln/>
        </p:spPr>
      </p:sp>
      <p:pic>
        <p:nvPicPr>
          <p:cNvPr id="14" name="Image 3" descr="preencoded.png"/>
          <p:cNvPicPr>
            <a:picLocks noChangeAspect="1"/>
          </p:cNvPicPr>
          <p:nvPr/>
        </p:nvPicPr>
        <p:blipFill>
          <a:blip r:embed="rId4"/>
          <a:stretch>
            <a:fillRect/>
          </a:stretch>
        </p:blipFill>
        <p:spPr>
          <a:xfrm>
            <a:off x="813816" y="4526280"/>
            <a:ext cx="164592" cy="164592"/>
          </a:xfrm>
          <a:prstGeom prst="rect">
            <a:avLst/>
          </a:prstGeom>
        </p:spPr>
      </p:pic>
      <p:sp>
        <p:nvSpPr>
          <p:cNvPr id="15" name="Text 9"/>
          <p:cNvSpPr/>
          <p:nvPr/>
        </p:nvSpPr>
        <p:spPr>
          <a:xfrm>
            <a:off x="1280160" y="4398264"/>
            <a:ext cx="5806440" cy="777240"/>
          </a:xfrm>
          <a:prstGeom prst="rect">
            <a:avLst/>
          </a:prstGeom>
          <a:noFill/>
          <a:ln/>
        </p:spPr>
        <p:txBody>
          <a:bodyPr wrap="square" lIns="0" tIns="0" rIns="0" bIns="0" rtlCol="0" anchor="ctr"/>
          <a:lstStyle/>
          <a:p>
            <a:pPr indent="0" marL="0">
              <a:lnSpc>
                <a:spcPct val="120000"/>
              </a:lnSpc>
              <a:buNone/>
            </a:pPr>
            <a:r>
              <a:rPr lang="en-US" sz="1400" dirty="0">
                <a:solidFill>
                  <a:srgbClr val="EAF1F6"/>
                </a:solidFill>
                <a:latin typeface="Calibri" pitchFamily="34" charset="0"/>
                <a:ea typeface="Calibri" pitchFamily="34" charset="-122"/>
                <a:cs typeface="Calibri" pitchFamily="34" charset="-120"/>
              </a:rPr>
              <a:t>Carries real responsibility — staff, volunteers, a team, a ministry, a growing business</a:t>
            </a:r>
            <a:endParaRPr lang="en-US" sz="1400" dirty="0"/>
          </a:p>
        </p:txBody>
      </p:sp>
      <p:sp>
        <p:nvSpPr>
          <p:cNvPr id="16" name="Shape 10"/>
          <p:cNvSpPr/>
          <p:nvPr/>
        </p:nvSpPr>
        <p:spPr>
          <a:xfrm>
            <a:off x="713232" y="5266944"/>
            <a:ext cx="365760" cy="365760"/>
          </a:xfrm>
          <a:prstGeom prst="ellipse">
            <a:avLst/>
          </a:prstGeom>
          <a:solidFill>
            <a:srgbClr val="0F3A61"/>
          </a:solidFill>
          <a:ln/>
        </p:spPr>
      </p:sp>
      <p:pic>
        <p:nvPicPr>
          <p:cNvPr id="17" name="Image 4" descr="preencoded.png"/>
          <p:cNvPicPr>
            <a:picLocks noChangeAspect="1"/>
          </p:cNvPicPr>
          <p:nvPr/>
        </p:nvPicPr>
        <p:blipFill>
          <a:blip r:embed="rId5"/>
          <a:stretch>
            <a:fillRect/>
          </a:stretch>
        </p:blipFill>
        <p:spPr>
          <a:xfrm>
            <a:off x="813816" y="5367528"/>
            <a:ext cx="164592" cy="164592"/>
          </a:xfrm>
          <a:prstGeom prst="rect">
            <a:avLst/>
          </a:prstGeom>
        </p:spPr>
      </p:pic>
      <p:sp>
        <p:nvSpPr>
          <p:cNvPr id="18" name="Text 11"/>
          <p:cNvSpPr/>
          <p:nvPr/>
        </p:nvSpPr>
        <p:spPr>
          <a:xfrm>
            <a:off x="1280160" y="5239512"/>
            <a:ext cx="5806440" cy="777240"/>
          </a:xfrm>
          <a:prstGeom prst="rect">
            <a:avLst/>
          </a:prstGeom>
          <a:noFill/>
          <a:ln/>
        </p:spPr>
        <p:txBody>
          <a:bodyPr wrap="square" lIns="0" tIns="0" rIns="0" bIns="0" rtlCol="0" anchor="ctr"/>
          <a:lstStyle/>
          <a:p>
            <a:pPr indent="0" marL="0">
              <a:lnSpc>
                <a:spcPct val="120000"/>
              </a:lnSpc>
              <a:buNone/>
            </a:pPr>
            <a:r>
              <a:rPr lang="en-US" sz="1400" dirty="0">
                <a:solidFill>
                  <a:srgbClr val="EAF1F6"/>
                </a:solidFill>
                <a:latin typeface="Calibri" pitchFamily="34" charset="0"/>
                <a:ea typeface="Calibri" pitchFamily="34" charset="-122"/>
                <a:cs typeface="Calibri" pitchFamily="34" charset="-120"/>
              </a:rPr>
              <a:t>You've quietly wondered, “Who is helping them become who they're capable of being?”</a:t>
            </a:r>
            <a:endParaRPr lang="en-US" sz="1400" dirty="0"/>
          </a:p>
        </p:txBody>
      </p:sp>
      <p:sp>
        <p:nvSpPr>
          <p:cNvPr id="19" name="Shape 12"/>
          <p:cNvSpPr/>
          <p:nvPr/>
        </p:nvSpPr>
        <p:spPr>
          <a:xfrm>
            <a:off x="7680960" y="640080"/>
            <a:ext cx="4032504" cy="5632704"/>
          </a:xfrm>
          <a:prstGeom prst="roundRect">
            <a:avLst>
              <a:gd name="adj" fmla="val 1361"/>
            </a:avLst>
          </a:prstGeom>
          <a:solidFill>
            <a:srgbClr val="0D3358"/>
          </a:solidFill>
          <a:ln/>
        </p:spPr>
      </p:sp>
      <p:pic>
        <p:nvPicPr>
          <p:cNvPr id="20" name="Image 5" descr="/tmp/lwn_deck/images/resized-omar-marketplace-event.jpg"/>
          <p:cNvPicPr>
            <a:picLocks noChangeAspect="1"/>
          </p:cNvPicPr>
          <p:nvPr/>
        </p:nvPicPr>
        <p:blipFill>
          <a:blip r:embed="rId6"/>
          <a:srcRect l="0" r="0" t="0" b="0"/>
          <a:stretch/>
        </p:blipFill>
        <p:spPr>
          <a:xfrm>
            <a:off x="7754112" y="713232"/>
            <a:ext cx="3886200" cy="5486400"/>
          </a:xfrm>
          <a:prstGeom prst="rect">
            <a:avLst/>
          </a:prstGeom>
        </p:spPr>
      </p:pic>
      <p:sp>
        <p:nvSpPr>
          <p:cNvPr id="21" name="Text 13"/>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AEC3D4"/>
                </a:solidFill>
                <a:latin typeface="Calibri" pitchFamily="34" charset="0"/>
                <a:ea typeface="Calibri" pitchFamily="34" charset="-122"/>
                <a:cs typeface="Calibri" pitchFamily="34" charset="-120"/>
              </a:rPr>
              <a:t>Living Water Network  |  Referral Partnership</a:t>
            </a:r>
            <a:endParaRPr lang="en-US" sz="900" dirty="0"/>
          </a:p>
        </p:txBody>
      </p:sp>
      <p:sp>
        <p:nvSpPr>
          <p:cNvPr id="22" name="Text 1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AEC3D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6400800" cy="594360"/>
          </a:xfrm>
          <a:prstGeom prst="rect">
            <a:avLst/>
          </a:prstGeom>
          <a:noFill/>
          <a:ln/>
        </p:spPr>
        <p:txBody>
          <a:bodyPr wrap="square" lIns="0" tIns="0" rIns="0" bIns="0" rtlCol="0" anchor="ctr"/>
          <a:lstStyle/>
          <a:p>
            <a:pPr indent="0" marL="0">
              <a:buNone/>
            </a:pPr>
            <a:r>
              <a:rPr lang="en-US" sz="3000" b="1" dirty="0">
                <a:solidFill>
                  <a:srgbClr val="0A2A47"/>
                </a:solidFill>
                <a:latin typeface="Cambria" pitchFamily="34" charset="0"/>
                <a:ea typeface="Cambria" pitchFamily="34" charset="-122"/>
                <a:cs typeface="Cambria" pitchFamily="34" charset="-120"/>
              </a:rPr>
              <a:t>Why LWN exists</a:t>
            </a:r>
            <a:endParaRPr lang="en-US" sz="3000" dirty="0"/>
          </a:p>
        </p:txBody>
      </p:sp>
      <p:sp>
        <p:nvSpPr>
          <p:cNvPr id="3" name="Shape 1"/>
          <p:cNvSpPr/>
          <p:nvPr/>
        </p:nvSpPr>
        <p:spPr>
          <a:xfrm>
            <a:off x="685800" y="1417320"/>
            <a:ext cx="2286000" cy="2286000"/>
          </a:xfrm>
          <a:prstGeom prst="ellipse">
            <a:avLst/>
          </a:prstGeom>
          <a:solidFill>
            <a:srgbClr val="EAF1F6"/>
          </a:solidFill>
          <a:ln/>
        </p:spPr>
      </p:sp>
      <p:pic>
        <p:nvPicPr>
          <p:cNvPr id="4" name="Image 0" descr="/tmp/lwn_deck/images/resized-founder-headshot.jpg"/>
          <p:cNvPicPr>
            <a:picLocks noChangeAspect="1"/>
          </p:cNvPicPr>
          <p:nvPr/>
        </p:nvPicPr>
        <p:blipFill>
          <a:blip r:embed="rId1"/>
          <a:stretch>
            <a:fillRect/>
          </a:stretch>
        </p:blipFill>
        <p:spPr>
          <a:xfrm>
            <a:off x="731520" y="1463040"/>
            <a:ext cx="2194560" cy="2194560"/>
          </a:xfrm>
          <a:prstGeom prst="ellipse">
            <a:avLst/>
          </a:prstGeom>
        </p:spPr>
      </p:pic>
      <p:sp>
        <p:nvSpPr>
          <p:cNvPr id="5" name="Text 2"/>
          <p:cNvSpPr/>
          <p:nvPr/>
        </p:nvSpPr>
        <p:spPr>
          <a:xfrm>
            <a:off x="3108960" y="1508760"/>
            <a:ext cx="4572000" cy="411480"/>
          </a:xfrm>
          <a:prstGeom prst="rect">
            <a:avLst/>
          </a:prstGeom>
          <a:noFill/>
          <a:ln/>
        </p:spPr>
        <p:txBody>
          <a:bodyPr wrap="square" lIns="0" tIns="0" rIns="0" bIns="0" rtlCol="0" anchor="ctr"/>
          <a:lstStyle/>
          <a:p>
            <a:pPr indent="0" marL="0">
              <a:buNone/>
            </a:pPr>
            <a:r>
              <a:rPr lang="en-US" sz="2000" b="1" dirty="0">
                <a:solidFill>
                  <a:srgbClr val="0A2A47"/>
                </a:solidFill>
                <a:latin typeface="Cambria" pitchFamily="34" charset="0"/>
                <a:ea typeface="Cambria" pitchFamily="34" charset="-122"/>
                <a:cs typeface="Cambria" pitchFamily="34" charset="-120"/>
              </a:rPr>
              <a:t>Omar J. Fandino</a:t>
            </a:r>
            <a:endParaRPr lang="en-US" sz="2000" dirty="0"/>
          </a:p>
        </p:txBody>
      </p:sp>
      <p:sp>
        <p:nvSpPr>
          <p:cNvPr id="6" name="Text 3"/>
          <p:cNvSpPr/>
          <p:nvPr/>
        </p:nvSpPr>
        <p:spPr>
          <a:xfrm>
            <a:off x="3108960" y="1938528"/>
            <a:ext cx="5486400" cy="365760"/>
          </a:xfrm>
          <a:prstGeom prst="rect">
            <a:avLst/>
          </a:prstGeom>
          <a:noFill/>
          <a:ln/>
        </p:spPr>
        <p:txBody>
          <a:bodyPr wrap="square" lIns="0" tIns="0" rIns="0" bIns="0" rtlCol="0" anchor="ctr"/>
          <a:lstStyle/>
          <a:p>
            <a:pPr indent="0" marL="0">
              <a:buNone/>
            </a:pPr>
            <a:r>
              <a:rPr lang="en-US" sz="1300" b="1" dirty="0">
                <a:solidFill>
                  <a:srgbClr val="C05A12"/>
                </a:solidFill>
                <a:latin typeface="Calibri" pitchFamily="34" charset="0"/>
                <a:ea typeface="Calibri" pitchFamily="34" charset="-122"/>
                <a:cs typeface="Calibri" pitchFamily="34" charset="-120"/>
              </a:rPr>
              <a:t>Founder &amp; CEO, Living Water Network  —  Atlanta, GA</a:t>
            </a:r>
            <a:endParaRPr lang="en-US" sz="1300" dirty="0"/>
          </a:p>
        </p:txBody>
      </p:sp>
      <p:sp>
        <p:nvSpPr>
          <p:cNvPr id="7" name="Text 4"/>
          <p:cNvSpPr/>
          <p:nvPr/>
        </p:nvSpPr>
        <p:spPr>
          <a:xfrm>
            <a:off x="3108960" y="2331720"/>
            <a:ext cx="5669280" cy="457200"/>
          </a:xfrm>
          <a:prstGeom prst="rect">
            <a:avLst/>
          </a:prstGeom>
          <a:noFill/>
          <a:ln/>
        </p:spPr>
        <p:txBody>
          <a:bodyPr wrap="square" lIns="0" tIns="0" rIns="0" bIns="0" rtlCol="0" anchor="ctr"/>
          <a:lstStyle/>
          <a:p>
            <a:pPr indent="0" marL="0">
              <a:buNone/>
            </a:pPr>
            <a:r>
              <a:rPr lang="en-US" sz="1250" i="1" dirty="0">
                <a:solidFill>
                  <a:srgbClr val="445563"/>
                </a:solidFill>
                <a:latin typeface="Calibri" pitchFamily="34" charset="0"/>
                <a:ea typeface="Calibri" pitchFamily="34" charset="-122"/>
                <a:cs typeface="Calibri" pitchFamily="34" charset="-120"/>
              </a:rPr>
              <a:t>Author of “At the Table,” the formation guide used as LWN's Phase 1 curriculum</a:t>
            </a:r>
            <a:endParaRPr lang="en-US" sz="1250" dirty="0"/>
          </a:p>
        </p:txBody>
      </p:sp>
      <p:pic>
        <p:nvPicPr>
          <p:cNvPr id="8" name="Image 1" descr="preencoded.png"/>
          <p:cNvPicPr>
            <a:picLocks noChangeAspect="1"/>
          </p:cNvPicPr>
          <p:nvPr/>
        </p:nvPicPr>
        <p:blipFill>
          <a:blip r:embed="rId2"/>
          <a:stretch>
            <a:fillRect/>
          </a:stretch>
        </p:blipFill>
        <p:spPr>
          <a:xfrm>
            <a:off x="685800" y="3931920"/>
            <a:ext cx="457200" cy="457200"/>
          </a:xfrm>
          <a:prstGeom prst="rect">
            <a:avLst/>
          </a:prstGeom>
        </p:spPr>
      </p:pic>
      <p:sp>
        <p:nvSpPr>
          <p:cNvPr id="9" name="Text 5"/>
          <p:cNvSpPr/>
          <p:nvPr/>
        </p:nvSpPr>
        <p:spPr>
          <a:xfrm>
            <a:off x="685800" y="4434840"/>
            <a:ext cx="10424160" cy="1463040"/>
          </a:xfrm>
          <a:prstGeom prst="rect">
            <a:avLst/>
          </a:prstGeom>
          <a:noFill/>
          <a:ln/>
        </p:spPr>
        <p:txBody>
          <a:bodyPr wrap="square" lIns="0" tIns="0" rIns="0" bIns="0" rtlCol="0" anchor="ctr"/>
          <a:lstStyle/>
          <a:p>
            <a:pPr indent="0" marL="0">
              <a:lnSpc>
                <a:spcPct val="130000"/>
              </a:lnSpc>
              <a:buNone/>
            </a:pPr>
            <a:r>
              <a:rPr lang="en-US" sz="1800" i="1" dirty="0">
                <a:solidFill>
                  <a:srgbClr val="0A2A47"/>
                </a:solidFill>
                <a:latin typeface="Cambria" pitchFamily="34" charset="0"/>
                <a:ea typeface="Cambria" pitchFamily="34" charset="-122"/>
                <a:cs typeface="Cambria" pitchFamily="34" charset="-120"/>
              </a:rPr>
              <a:t>“I kept meeting gifted leaders — in churches and in business — who were talented enough to lead but had never been formed enough to lead well. LWN exists to close that gap: to give leaders a real, guided path to wholeness before we hand them more influence.”</a:t>
            </a:r>
            <a:endParaRPr lang="en-US" sz="1800" dirty="0"/>
          </a:p>
        </p:txBody>
      </p:sp>
      <p:sp>
        <p:nvSpPr>
          <p:cNvPr id="10"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445563"/>
                </a:solidFill>
                <a:latin typeface="Calibri" pitchFamily="34" charset="0"/>
                <a:ea typeface="Calibri" pitchFamily="34" charset="-122"/>
                <a:cs typeface="Calibri" pitchFamily="34" charset="-120"/>
              </a:rPr>
              <a:t>Living Water Network  |  Referral Partnership</a:t>
            </a:r>
            <a:endParaRPr lang="en-US" sz="900" dirty="0"/>
          </a:p>
        </p:txBody>
      </p:sp>
      <p:sp>
        <p:nvSpPr>
          <p:cNvPr id="11"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44556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1F6"/>
        </a:solidFill>
      </p:bgPr>
    </p:bg>
    <p:spTree>
      <p:nvGrpSpPr>
        <p:cNvPr id="1" name=""/>
        <p:cNvGrpSpPr/>
        <p:nvPr/>
      </p:nvGrpSpPr>
      <p:grpSpPr>
        <a:xfrm>
          <a:off x="0" y="0"/>
          <a:ext cx="0" cy="0"/>
          <a:chOff x="0" y="0"/>
          <a:chExt cx="0" cy="0"/>
        </a:xfrm>
      </p:grpSpPr>
      <p:sp>
        <p:nvSpPr>
          <p:cNvPr id="2" name="Text 0"/>
          <p:cNvSpPr/>
          <p:nvPr/>
        </p:nvSpPr>
        <p:spPr>
          <a:xfrm>
            <a:off x="685800" y="502920"/>
            <a:ext cx="10515600" cy="640080"/>
          </a:xfrm>
          <a:prstGeom prst="rect">
            <a:avLst/>
          </a:prstGeom>
          <a:noFill/>
          <a:ln/>
        </p:spPr>
        <p:txBody>
          <a:bodyPr wrap="square" lIns="0" tIns="0" rIns="0" bIns="0" rtlCol="0" anchor="ctr"/>
          <a:lstStyle/>
          <a:p>
            <a:pPr indent="0" marL="0">
              <a:buNone/>
            </a:pPr>
            <a:r>
              <a:rPr lang="en-US" sz="3000" b="1" dirty="0">
                <a:solidFill>
                  <a:srgbClr val="0A2A47"/>
                </a:solidFill>
                <a:latin typeface="Cambria" pitchFamily="34" charset="0"/>
                <a:ea typeface="Cambria" pitchFamily="34" charset="-122"/>
                <a:cs typeface="Cambria" pitchFamily="34" charset="-120"/>
              </a:rPr>
              <a:t>“I can't afford to send them.” Yes, you can.</a:t>
            </a:r>
            <a:endParaRPr lang="en-US" sz="3000" dirty="0"/>
          </a:p>
        </p:txBody>
      </p:sp>
      <p:sp>
        <p:nvSpPr>
          <p:cNvPr id="3" name="Text 1"/>
          <p:cNvSpPr/>
          <p:nvPr/>
        </p:nvSpPr>
        <p:spPr>
          <a:xfrm>
            <a:off x="685800" y="1170432"/>
            <a:ext cx="10058400" cy="365760"/>
          </a:xfrm>
          <a:prstGeom prst="rect">
            <a:avLst/>
          </a:prstGeom>
          <a:noFill/>
          <a:ln/>
        </p:spPr>
        <p:txBody>
          <a:bodyPr wrap="square" lIns="0" tIns="0" rIns="0" bIns="0" rtlCol="0" anchor="ctr"/>
          <a:lstStyle/>
          <a:p>
            <a:pPr indent="0" marL="0">
              <a:buNone/>
            </a:pPr>
            <a:r>
              <a:rPr lang="en-US" sz="1500" dirty="0">
                <a:solidFill>
                  <a:srgbClr val="445563"/>
                </a:solidFill>
                <a:latin typeface="Calibri" pitchFamily="34" charset="0"/>
                <a:ea typeface="Calibri" pitchFamily="34" charset="-122"/>
                <a:cs typeface="Calibri" pitchFamily="34" charset="-120"/>
              </a:rPr>
              <a:t>Groundwork runs on a scholarship model — the referred person is not asked to fund it</a:t>
            </a:r>
            <a:endParaRPr lang="en-US" sz="1500" dirty="0"/>
          </a:p>
        </p:txBody>
      </p:sp>
      <p:sp>
        <p:nvSpPr>
          <p:cNvPr id="4" name="Shape 2"/>
          <p:cNvSpPr/>
          <p:nvPr/>
        </p:nvSpPr>
        <p:spPr>
          <a:xfrm>
            <a:off x="685800" y="2011680"/>
            <a:ext cx="5120640" cy="4023360"/>
          </a:xfrm>
          <a:prstGeom prst="roundRect">
            <a:avLst>
              <a:gd name="adj" fmla="val 1818"/>
            </a:avLst>
          </a:prstGeom>
          <a:solidFill>
            <a:srgbClr val="FFFFFF"/>
          </a:solidFill>
          <a:ln/>
          <a:effectLst>
            <a:outerShdw sx="100000" sy="100000" kx="0" ky="0" algn="bl" rotWithShape="0" blurRad="127000" dist="38100" dir="5400000">
              <a:srgbClr val="0A2A47">
                <a:alpha val="14000"/>
              </a:srgbClr>
            </a:outerShdw>
          </a:effectLst>
        </p:spPr>
      </p:sp>
      <p:pic>
        <p:nvPicPr>
          <p:cNvPr id="5" name="Image 0" descr="preencoded.png"/>
          <p:cNvPicPr>
            <a:picLocks noChangeAspect="1"/>
          </p:cNvPicPr>
          <p:nvPr/>
        </p:nvPicPr>
        <p:blipFill>
          <a:blip r:embed="rId1"/>
          <a:stretch>
            <a:fillRect/>
          </a:stretch>
        </p:blipFill>
        <p:spPr>
          <a:xfrm>
            <a:off x="1005840" y="2331720"/>
            <a:ext cx="457200" cy="457200"/>
          </a:xfrm>
          <a:prstGeom prst="rect">
            <a:avLst/>
          </a:prstGeom>
        </p:spPr>
      </p:pic>
      <p:sp>
        <p:nvSpPr>
          <p:cNvPr id="6" name="Text 3"/>
          <p:cNvSpPr/>
          <p:nvPr/>
        </p:nvSpPr>
        <p:spPr>
          <a:xfrm>
            <a:off x="1600200" y="2286000"/>
            <a:ext cx="3931920" cy="502920"/>
          </a:xfrm>
          <a:prstGeom prst="rect">
            <a:avLst/>
          </a:prstGeom>
          <a:noFill/>
          <a:ln/>
        </p:spPr>
        <p:txBody>
          <a:bodyPr wrap="square" lIns="0" tIns="0" rIns="0" bIns="0" rtlCol="0" anchor="ctr"/>
          <a:lstStyle/>
          <a:p>
            <a:pPr indent="0" marL="0">
              <a:buNone/>
            </a:pPr>
            <a:r>
              <a:rPr lang="en-US" sz="2400" b="1" dirty="0">
                <a:solidFill>
                  <a:srgbClr val="0A2A47"/>
                </a:solidFill>
                <a:latin typeface="Cambria" pitchFamily="34" charset="0"/>
                <a:ea typeface="Cambria" pitchFamily="34" charset="-122"/>
                <a:cs typeface="Cambria" pitchFamily="34" charset="-120"/>
              </a:rPr>
              <a:t>$3,000–$5,000</a:t>
            </a:r>
            <a:endParaRPr lang="en-US" sz="2400" dirty="0"/>
          </a:p>
        </p:txBody>
      </p:sp>
      <p:sp>
        <p:nvSpPr>
          <p:cNvPr id="7" name="Text 4"/>
          <p:cNvSpPr/>
          <p:nvPr/>
        </p:nvSpPr>
        <p:spPr>
          <a:xfrm>
            <a:off x="1005840" y="2926080"/>
            <a:ext cx="4480560" cy="914400"/>
          </a:xfrm>
          <a:prstGeom prst="rect">
            <a:avLst/>
          </a:prstGeom>
          <a:noFill/>
          <a:ln/>
        </p:spPr>
        <p:txBody>
          <a:bodyPr wrap="square" lIns="0" tIns="0" rIns="0" bIns="0" rtlCol="0" anchor="ctr"/>
          <a:lstStyle/>
          <a:p>
            <a:pPr indent="0" marL="0">
              <a:lnSpc>
                <a:spcPct val="125000"/>
              </a:lnSpc>
              <a:buNone/>
            </a:pPr>
            <a:r>
              <a:rPr lang="en-US" sz="1300" dirty="0">
                <a:solidFill>
                  <a:srgbClr val="445563"/>
                </a:solidFill>
                <a:latin typeface="Calibri" pitchFamily="34" charset="0"/>
                <a:ea typeface="Calibri" pitchFamily="34" charset="-122"/>
                <a:cs typeface="Calibri" pitchFamily="34" charset="-120"/>
              </a:rPr>
              <a:t>The real per-leader cost of Groundwork, covered by ministry and business partners — not billed to the person you refer.</a:t>
            </a:r>
            <a:endParaRPr lang="en-US" sz="1300" dirty="0"/>
          </a:p>
        </p:txBody>
      </p:sp>
      <p:sp>
        <p:nvSpPr>
          <p:cNvPr id="8" name="Shape 5"/>
          <p:cNvSpPr/>
          <p:nvPr/>
        </p:nvSpPr>
        <p:spPr>
          <a:xfrm>
            <a:off x="1005840" y="3977640"/>
            <a:ext cx="4480560" cy="0"/>
          </a:xfrm>
          <a:prstGeom prst="line">
            <a:avLst/>
          </a:prstGeom>
          <a:noFill/>
          <a:ln w="12700">
            <a:solidFill>
              <a:srgbClr val="D7E2E9"/>
            </a:solidFill>
            <a:prstDash val="solid"/>
          </a:ln>
        </p:spPr>
      </p:sp>
      <p:pic>
        <p:nvPicPr>
          <p:cNvPr id="9" name="Image 1" descr="preencoded.png"/>
          <p:cNvPicPr>
            <a:picLocks noChangeAspect="1"/>
          </p:cNvPicPr>
          <p:nvPr/>
        </p:nvPicPr>
        <p:blipFill>
          <a:blip r:embed="rId2"/>
          <a:stretch>
            <a:fillRect/>
          </a:stretch>
        </p:blipFill>
        <p:spPr>
          <a:xfrm>
            <a:off x="1005840" y="4206240"/>
            <a:ext cx="365760" cy="365760"/>
          </a:xfrm>
          <a:prstGeom prst="rect">
            <a:avLst/>
          </a:prstGeom>
        </p:spPr>
      </p:pic>
      <p:sp>
        <p:nvSpPr>
          <p:cNvPr id="10" name="Text 6"/>
          <p:cNvSpPr/>
          <p:nvPr/>
        </p:nvSpPr>
        <p:spPr>
          <a:xfrm>
            <a:off x="1508760" y="4206240"/>
            <a:ext cx="4023360" cy="640080"/>
          </a:xfrm>
          <a:prstGeom prst="rect">
            <a:avLst/>
          </a:prstGeom>
          <a:noFill/>
          <a:ln/>
        </p:spPr>
        <p:txBody>
          <a:bodyPr wrap="square" lIns="0" tIns="0" rIns="0" bIns="0" rtlCol="0" anchor="ctr"/>
          <a:lstStyle/>
          <a:p>
            <a:pPr indent="0" marL="0">
              <a:lnSpc>
                <a:spcPct val="115000"/>
              </a:lnSpc>
              <a:buNone/>
            </a:pPr>
            <a:r>
              <a:rPr lang="en-US" sz="1400" b="1" dirty="0">
                <a:solidFill>
                  <a:srgbClr val="0A2A47"/>
                </a:solidFill>
                <a:latin typeface="Calibri" pitchFamily="34" charset="0"/>
                <a:ea typeface="Calibri" pitchFamily="34" charset="-122"/>
                <a:cs typeface="Calibri" pitchFamily="34" charset="-120"/>
              </a:rPr>
              <a:t>A modest application fee to reserve their spot — that's it.</a:t>
            </a:r>
            <a:endParaRPr lang="en-US" sz="1400" dirty="0"/>
          </a:p>
        </p:txBody>
      </p:sp>
      <p:pic>
        <p:nvPicPr>
          <p:cNvPr id="11" name="Image 2" descr="preencoded.png"/>
          <p:cNvPicPr>
            <a:picLocks noChangeAspect="1"/>
          </p:cNvPicPr>
          <p:nvPr/>
        </p:nvPicPr>
        <p:blipFill>
          <a:blip r:embed="rId3"/>
          <a:stretch>
            <a:fillRect/>
          </a:stretch>
        </p:blipFill>
        <p:spPr>
          <a:xfrm>
            <a:off x="1005840" y="4892040"/>
            <a:ext cx="365760" cy="365760"/>
          </a:xfrm>
          <a:prstGeom prst="rect">
            <a:avLst/>
          </a:prstGeom>
        </p:spPr>
      </p:pic>
      <p:sp>
        <p:nvSpPr>
          <p:cNvPr id="12" name="Text 7"/>
          <p:cNvSpPr/>
          <p:nvPr/>
        </p:nvSpPr>
        <p:spPr>
          <a:xfrm>
            <a:off x="1508760" y="4892040"/>
            <a:ext cx="4023360" cy="640080"/>
          </a:xfrm>
          <a:prstGeom prst="rect">
            <a:avLst/>
          </a:prstGeom>
          <a:noFill/>
          <a:ln/>
        </p:spPr>
        <p:txBody>
          <a:bodyPr wrap="square" lIns="0" tIns="0" rIns="0" bIns="0" rtlCol="0" anchor="ctr"/>
          <a:lstStyle/>
          <a:p>
            <a:pPr indent="0" marL="0">
              <a:lnSpc>
                <a:spcPct val="115000"/>
              </a:lnSpc>
              <a:buNone/>
            </a:pPr>
            <a:r>
              <a:rPr lang="en-US" sz="1400" b="1" dirty="0">
                <a:solidFill>
                  <a:srgbClr val="0A2A47"/>
                </a:solidFill>
                <a:latin typeface="Calibri" pitchFamily="34" charset="0"/>
                <a:ea typeface="Calibri" pitchFamily="34" charset="-122"/>
                <a:cs typeface="Calibri" pitchFamily="34" charset="-120"/>
              </a:rPr>
              <a:t>No leader is turned away from Groundwork for financial need.</a:t>
            </a:r>
            <a:endParaRPr lang="en-US" sz="1400" dirty="0"/>
          </a:p>
        </p:txBody>
      </p:sp>
      <p:sp>
        <p:nvSpPr>
          <p:cNvPr id="13" name="Shape 8"/>
          <p:cNvSpPr/>
          <p:nvPr/>
        </p:nvSpPr>
        <p:spPr>
          <a:xfrm>
            <a:off x="6080760" y="2011680"/>
            <a:ext cx="5440680" cy="4023360"/>
          </a:xfrm>
          <a:prstGeom prst="roundRect">
            <a:avLst>
              <a:gd name="adj" fmla="val 1818"/>
            </a:avLst>
          </a:prstGeom>
          <a:solidFill>
            <a:srgbClr val="0A2A47"/>
          </a:solidFill>
          <a:ln/>
        </p:spPr>
      </p:sp>
      <p:sp>
        <p:nvSpPr>
          <p:cNvPr id="14" name="Text 9"/>
          <p:cNvSpPr/>
          <p:nvPr/>
        </p:nvSpPr>
        <p:spPr>
          <a:xfrm>
            <a:off x="6400800" y="2286000"/>
            <a:ext cx="484632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How the scholarship model works</a:t>
            </a:r>
            <a:endParaRPr lang="en-US" sz="1700" dirty="0"/>
          </a:p>
        </p:txBody>
      </p:sp>
      <p:sp>
        <p:nvSpPr>
          <p:cNvPr id="15" name="Text 10"/>
          <p:cNvSpPr/>
          <p:nvPr/>
        </p:nvSpPr>
        <p:spPr>
          <a:xfrm>
            <a:off x="6400800" y="2880360"/>
            <a:ext cx="4846320" cy="2651760"/>
          </a:xfrm>
          <a:prstGeom prst="rect">
            <a:avLst/>
          </a:prstGeom>
          <a:noFill/>
          <a:ln/>
        </p:spPr>
        <p:txBody>
          <a:bodyPr wrap="square" lIns="0" tIns="0" rIns="0" bIns="0" rtlCol="0" anchor="ctr"/>
          <a:lstStyle/>
          <a:p>
            <a:pPr marL="342900" indent="-342900">
              <a:lnSpc>
                <a:spcPct val="130000"/>
              </a:lnSpc>
              <a:spcAft>
                <a:spcPts val="1200"/>
              </a:spcAft>
              <a:buSzPct val="100000"/>
              <a:buChar char="•"/>
            </a:pPr>
            <a:r>
              <a:rPr lang="en-US" sz="1350" dirty="0">
                <a:solidFill>
                  <a:srgbClr val="EAF1F6"/>
                </a:solidFill>
                <a:latin typeface="Calibri" pitchFamily="34" charset="0"/>
                <a:ea typeface="Calibri" pitchFamily="34" charset="-122"/>
                <a:cs typeface="Calibri" pitchFamily="34" charset="-120"/>
              </a:rPr>
              <a:t>Ministry and business partners fund the full cost of formation for each leader.</a:t>
            </a:r>
            <a:endParaRPr lang="en-US" sz="1350" dirty="0"/>
          </a:p>
          <a:p>
            <a:pPr marL="342900" indent="-342900">
              <a:lnSpc>
                <a:spcPct val="130000"/>
              </a:lnSpc>
              <a:spcAft>
                <a:spcPts val="1200"/>
              </a:spcAft>
              <a:buSzPct val="100000"/>
              <a:buChar char="•"/>
            </a:pPr>
            <a:r>
              <a:rPr lang="en-US" sz="1350" dirty="0">
                <a:solidFill>
                  <a:srgbClr val="EAF1F6"/>
                </a:solidFill>
                <a:latin typeface="Calibri" pitchFamily="34" charset="0"/>
                <a:ea typeface="Calibri" pitchFamily="34" charset="-122"/>
                <a:cs typeface="Calibri" pitchFamily="34" charset="-120"/>
              </a:rPr>
              <a:t>Referred candidates pay only the application fee — removing cost as a barrier for the person you're sending.</a:t>
            </a:r>
            <a:endParaRPr lang="en-US" sz="1350" dirty="0"/>
          </a:p>
          <a:p>
            <a:pPr marL="342900" indent="-342900">
              <a:lnSpc>
                <a:spcPct val="130000"/>
              </a:lnSpc>
              <a:spcAft>
                <a:spcPts val="1200"/>
              </a:spcAft>
              <a:buSzPct val="100000"/>
              <a:buChar char="•"/>
            </a:pPr>
            <a:r>
              <a:rPr lang="en-US" sz="1350" dirty="0">
                <a:solidFill>
                  <a:srgbClr val="EAF1F6"/>
                </a:solidFill>
                <a:latin typeface="Calibri" pitchFamily="34" charset="0"/>
                <a:ea typeface="Calibri" pitchFamily="34" charset="-122"/>
                <a:cs typeface="Calibri" pitchFamily="34" charset="-120"/>
              </a:rPr>
              <a:t>This keeps Groundwork focused on character and calling, not who can pay.</a:t>
            </a:r>
            <a:endParaRPr lang="en-US" sz="1350" dirty="0"/>
          </a:p>
        </p:txBody>
      </p:sp>
      <p:sp>
        <p:nvSpPr>
          <p:cNvPr id="16" name="Text 11"/>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445563"/>
                </a:solidFill>
                <a:latin typeface="Calibri" pitchFamily="34" charset="0"/>
                <a:ea typeface="Calibri" pitchFamily="34" charset="-122"/>
                <a:cs typeface="Calibri" pitchFamily="34" charset="-120"/>
              </a:rPr>
              <a:t>Living Water Network  |  Referral Partnership</a:t>
            </a:r>
            <a:endParaRPr lang="en-US" sz="900" dirty="0"/>
          </a:p>
        </p:txBody>
      </p:sp>
      <p:sp>
        <p:nvSpPr>
          <p:cNvPr id="17"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44556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A47"/>
        </a:solidFill>
      </p:bgPr>
    </p:bg>
    <p:spTree>
      <p:nvGrpSpPr>
        <p:cNvPr id="1" name=""/>
        <p:cNvGrpSpPr/>
        <p:nvPr/>
      </p:nvGrpSpPr>
      <p:grpSpPr>
        <a:xfrm>
          <a:off x="0" y="0"/>
          <a:ext cx="0" cy="0"/>
          <a:chOff x="0" y="0"/>
          <a:chExt cx="0" cy="0"/>
        </a:xfrm>
      </p:grpSpPr>
      <p:sp>
        <p:nvSpPr>
          <p:cNvPr id="2" name="Shape 0"/>
          <p:cNvSpPr/>
          <p:nvPr/>
        </p:nvSpPr>
        <p:spPr>
          <a:xfrm>
            <a:off x="-2011680" y="4206240"/>
            <a:ext cx="5120640" cy="5120640"/>
          </a:xfrm>
          <a:prstGeom prst="ellipse">
            <a:avLst/>
          </a:prstGeom>
          <a:solidFill>
            <a:srgbClr val="0F3A61"/>
          </a:solidFill>
          <a:ln/>
        </p:spPr>
      </p:sp>
      <p:pic>
        <p:nvPicPr>
          <p:cNvPr id="3" name="Image 0" descr="preencoded.png"/>
          <p:cNvPicPr>
            <a:picLocks noChangeAspect="1"/>
          </p:cNvPicPr>
          <p:nvPr/>
        </p:nvPicPr>
        <p:blipFill>
          <a:blip r:embed="rId1"/>
          <a:stretch>
            <a:fillRect/>
          </a:stretch>
        </p:blipFill>
        <p:spPr>
          <a:xfrm>
            <a:off x="685800" y="640080"/>
            <a:ext cx="731520" cy="731520"/>
          </a:xfrm>
          <a:prstGeom prst="rect">
            <a:avLst/>
          </a:prstGeom>
        </p:spPr>
      </p:pic>
      <p:sp>
        <p:nvSpPr>
          <p:cNvPr id="4" name="Text 1"/>
          <p:cNvSpPr/>
          <p:nvPr/>
        </p:nvSpPr>
        <p:spPr>
          <a:xfrm>
            <a:off x="685800" y="150876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Who comes to mind?</a:t>
            </a:r>
            <a:endParaRPr lang="en-US" sz="4400" dirty="0"/>
          </a:p>
        </p:txBody>
      </p:sp>
      <p:sp>
        <p:nvSpPr>
          <p:cNvPr id="5" name="Text 2"/>
          <p:cNvSpPr/>
          <p:nvPr/>
        </p:nvSpPr>
        <p:spPr>
          <a:xfrm>
            <a:off x="685800" y="2468880"/>
            <a:ext cx="9601200" cy="548640"/>
          </a:xfrm>
          <a:prstGeom prst="rect">
            <a:avLst/>
          </a:prstGeom>
          <a:noFill/>
          <a:ln/>
        </p:spPr>
        <p:txBody>
          <a:bodyPr wrap="square" lIns="0" tIns="0" rIns="0" bIns="0" rtlCol="0" anchor="ctr"/>
          <a:lstStyle/>
          <a:p>
            <a:pPr indent="0" marL="0">
              <a:buNone/>
            </a:pPr>
            <a:r>
              <a:rPr lang="en-US" sz="1700" dirty="0">
                <a:solidFill>
                  <a:srgbClr val="7CCBE6"/>
                </a:solidFill>
                <a:latin typeface="Calibri" pitchFamily="34" charset="0"/>
                <a:ea typeface="Calibri" pitchFamily="34" charset="-122"/>
                <a:cs typeface="Calibri" pitchFamily="34" charset="-120"/>
              </a:rPr>
              <a:t>That's the ask. Take a moment — who in your church or company is gifted, but not yet formed?</a:t>
            </a:r>
            <a:endParaRPr lang="en-US" sz="1700" dirty="0"/>
          </a:p>
        </p:txBody>
      </p:sp>
      <p:sp>
        <p:nvSpPr>
          <p:cNvPr id="6" name="Text 3"/>
          <p:cNvSpPr/>
          <p:nvPr/>
        </p:nvSpPr>
        <p:spPr>
          <a:xfrm>
            <a:off x="685800" y="3246120"/>
            <a:ext cx="9692640" cy="914400"/>
          </a:xfrm>
          <a:prstGeom prst="rect">
            <a:avLst/>
          </a:prstGeom>
          <a:noFill/>
          <a:ln/>
        </p:spPr>
        <p:txBody>
          <a:bodyPr wrap="square" lIns="0" tIns="0" rIns="0" bIns="0" rtlCol="0" anchor="ctr"/>
          <a:lstStyle/>
          <a:p>
            <a:pPr indent="0" marL="0">
              <a:lnSpc>
                <a:spcPct val="130000"/>
              </a:lnSpc>
              <a:buNone/>
            </a:pPr>
            <a:r>
              <a:rPr lang="en-US" sz="1600" b="1" dirty="0">
                <a:solidFill>
                  <a:srgbClr val="FFFFFF"/>
                </a:solidFill>
                <a:latin typeface="Calibri" pitchFamily="34" charset="0"/>
                <a:ea typeface="Calibri" pitchFamily="34" charset="-122"/>
                <a:cs typeface="Calibri" pitchFamily="34" charset="-120"/>
              </a:rPr>
              <a:t xml:space="preserve">We're asking you to refer 1–3 people </a:t>
            </a:r>
            <a:pPr indent="0" marL="0">
              <a:lnSpc>
                <a:spcPct val="130000"/>
              </a:lnSpc>
              <a:buNone/>
            </a:pPr>
            <a:r>
              <a:rPr lang="en-US" sz="1600" dirty="0">
                <a:solidFill>
                  <a:srgbClr val="EAF1F6"/>
                </a:solidFill>
                <a:latin typeface="Calibri" pitchFamily="34" charset="0"/>
                <a:ea typeface="Calibri" pitchFamily="34" charset="-122"/>
                <a:cs typeface="Calibri" pitchFamily="34" charset="-120"/>
              </a:rPr>
              <a:t>from your church or company into the next Groundwork cohort. You know them. You've watched their potential. We'll take it from there.</a:t>
            </a:r>
            <a:endParaRPr lang="en-US" sz="1600" dirty="0"/>
          </a:p>
        </p:txBody>
      </p:sp>
      <p:sp>
        <p:nvSpPr>
          <p:cNvPr id="7" name="Shape 4"/>
          <p:cNvSpPr/>
          <p:nvPr/>
        </p:nvSpPr>
        <p:spPr>
          <a:xfrm>
            <a:off x="685800" y="4434840"/>
            <a:ext cx="5120640" cy="1737360"/>
          </a:xfrm>
          <a:prstGeom prst="roundRect">
            <a:avLst>
              <a:gd name="adj" fmla="val 4211"/>
            </a:avLst>
          </a:prstGeom>
          <a:solidFill>
            <a:srgbClr val="FFFFFF"/>
          </a:solidFill>
          <a:ln/>
        </p:spPr>
      </p:sp>
      <p:sp>
        <p:nvSpPr>
          <p:cNvPr id="8" name="Shape 5"/>
          <p:cNvSpPr/>
          <p:nvPr/>
        </p:nvSpPr>
        <p:spPr>
          <a:xfrm>
            <a:off x="960120" y="4709160"/>
            <a:ext cx="640080" cy="640080"/>
          </a:xfrm>
          <a:prstGeom prst="ellipse">
            <a:avLst/>
          </a:prstGeom>
          <a:solidFill>
            <a:srgbClr val="EAF1F6"/>
          </a:solidFill>
          <a:ln/>
        </p:spPr>
      </p:sp>
      <p:pic>
        <p:nvPicPr>
          <p:cNvPr id="9" name="Image 1" descr="preencoded.png"/>
          <p:cNvPicPr>
            <a:picLocks noChangeAspect="1"/>
          </p:cNvPicPr>
          <p:nvPr/>
        </p:nvPicPr>
        <p:blipFill>
          <a:blip r:embed="rId2"/>
          <a:stretch>
            <a:fillRect/>
          </a:stretch>
        </p:blipFill>
        <p:spPr>
          <a:xfrm>
            <a:off x="1115568" y="4864608"/>
            <a:ext cx="329184" cy="329184"/>
          </a:xfrm>
          <a:prstGeom prst="rect">
            <a:avLst/>
          </a:prstGeom>
        </p:spPr>
      </p:pic>
      <p:sp>
        <p:nvSpPr>
          <p:cNvPr id="10" name="Text 6"/>
          <p:cNvSpPr/>
          <p:nvPr/>
        </p:nvSpPr>
        <p:spPr>
          <a:xfrm>
            <a:off x="1783080" y="4663440"/>
            <a:ext cx="3840480" cy="365760"/>
          </a:xfrm>
          <a:prstGeom prst="rect">
            <a:avLst/>
          </a:prstGeom>
          <a:noFill/>
          <a:ln/>
        </p:spPr>
        <p:txBody>
          <a:bodyPr wrap="square" lIns="0" tIns="0" rIns="0" bIns="0" rtlCol="0" anchor="ctr"/>
          <a:lstStyle/>
          <a:p>
            <a:pPr indent="0" marL="0">
              <a:buNone/>
            </a:pPr>
            <a:r>
              <a:rPr lang="en-US" sz="1600" b="1" dirty="0">
                <a:solidFill>
                  <a:srgbClr val="0A2A47"/>
                </a:solidFill>
                <a:latin typeface="Cambria" pitchFamily="34" charset="0"/>
                <a:ea typeface="Cambria" pitchFamily="34" charset="-122"/>
                <a:cs typeface="Cambria" pitchFamily="34" charset="-120"/>
              </a:rPr>
              <a:t>Pastors</a:t>
            </a:r>
            <a:endParaRPr lang="en-US" sz="1600" dirty="0"/>
          </a:p>
        </p:txBody>
      </p:sp>
      <p:sp>
        <p:nvSpPr>
          <p:cNvPr id="11" name="Text 7"/>
          <p:cNvSpPr/>
          <p:nvPr/>
        </p:nvSpPr>
        <p:spPr>
          <a:xfrm>
            <a:off x="1783080" y="5056632"/>
            <a:ext cx="3840480" cy="1005840"/>
          </a:xfrm>
          <a:prstGeom prst="rect">
            <a:avLst/>
          </a:prstGeom>
          <a:noFill/>
          <a:ln/>
        </p:spPr>
        <p:txBody>
          <a:bodyPr wrap="square" lIns="0" tIns="0" rIns="0" bIns="0" rtlCol="0" anchor="t"/>
          <a:lstStyle/>
          <a:p>
            <a:pPr indent="0" marL="0">
              <a:lnSpc>
                <a:spcPct val="120000"/>
              </a:lnSpc>
              <a:buNone/>
            </a:pPr>
            <a:r>
              <a:rPr lang="en-US" sz="1200" dirty="0">
                <a:solidFill>
                  <a:srgbClr val="445563"/>
                </a:solidFill>
                <a:latin typeface="Calibri" pitchFamily="34" charset="0"/>
                <a:ea typeface="Calibri" pitchFamily="34" charset="-122"/>
                <a:cs typeface="Calibri" pitchFamily="34" charset="-120"/>
              </a:rPr>
              <a:t>Think of the emerging leader in your congregation ready for real formation, not just another program.</a:t>
            </a:r>
            <a:endParaRPr lang="en-US" sz="1200" dirty="0"/>
          </a:p>
        </p:txBody>
      </p:sp>
      <p:sp>
        <p:nvSpPr>
          <p:cNvPr id="12" name="Shape 8"/>
          <p:cNvSpPr/>
          <p:nvPr/>
        </p:nvSpPr>
        <p:spPr>
          <a:xfrm>
            <a:off x="6080760" y="4434840"/>
            <a:ext cx="5120640" cy="1737360"/>
          </a:xfrm>
          <a:prstGeom prst="roundRect">
            <a:avLst>
              <a:gd name="adj" fmla="val 4211"/>
            </a:avLst>
          </a:prstGeom>
          <a:solidFill>
            <a:srgbClr val="FFFFFF"/>
          </a:solidFill>
          <a:ln/>
        </p:spPr>
      </p:sp>
      <p:sp>
        <p:nvSpPr>
          <p:cNvPr id="13" name="Shape 9"/>
          <p:cNvSpPr/>
          <p:nvPr/>
        </p:nvSpPr>
        <p:spPr>
          <a:xfrm>
            <a:off x="6355080" y="4709160"/>
            <a:ext cx="640080" cy="640080"/>
          </a:xfrm>
          <a:prstGeom prst="ellipse">
            <a:avLst/>
          </a:prstGeom>
          <a:solidFill>
            <a:srgbClr val="EAF1F6"/>
          </a:solidFill>
          <a:ln/>
        </p:spPr>
      </p:sp>
      <p:pic>
        <p:nvPicPr>
          <p:cNvPr id="14" name="Image 2" descr="preencoded.png"/>
          <p:cNvPicPr>
            <a:picLocks noChangeAspect="1"/>
          </p:cNvPicPr>
          <p:nvPr/>
        </p:nvPicPr>
        <p:blipFill>
          <a:blip r:embed="rId3"/>
          <a:stretch>
            <a:fillRect/>
          </a:stretch>
        </p:blipFill>
        <p:spPr>
          <a:xfrm>
            <a:off x="6510528" y="4864608"/>
            <a:ext cx="329184" cy="329184"/>
          </a:xfrm>
          <a:prstGeom prst="rect">
            <a:avLst/>
          </a:prstGeom>
        </p:spPr>
      </p:pic>
      <p:sp>
        <p:nvSpPr>
          <p:cNvPr id="15" name="Text 10"/>
          <p:cNvSpPr/>
          <p:nvPr/>
        </p:nvSpPr>
        <p:spPr>
          <a:xfrm>
            <a:off x="7178040" y="4663440"/>
            <a:ext cx="3840480" cy="365760"/>
          </a:xfrm>
          <a:prstGeom prst="rect">
            <a:avLst/>
          </a:prstGeom>
          <a:noFill/>
          <a:ln/>
        </p:spPr>
        <p:txBody>
          <a:bodyPr wrap="square" lIns="0" tIns="0" rIns="0" bIns="0" rtlCol="0" anchor="ctr"/>
          <a:lstStyle/>
          <a:p>
            <a:pPr indent="0" marL="0">
              <a:buNone/>
            </a:pPr>
            <a:r>
              <a:rPr lang="en-US" sz="1600" b="1" dirty="0">
                <a:solidFill>
                  <a:srgbClr val="0A2A47"/>
                </a:solidFill>
                <a:latin typeface="Cambria" pitchFamily="34" charset="0"/>
                <a:ea typeface="Cambria" pitchFamily="34" charset="-122"/>
                <a:cs typeface="Cambria" pitchFamily="34" charset="-120"/>
              </a:rPr>
              <a:t>Business Owners</a:t>
            </a:r>
            <a:endParaRPr lang="en-US" sz="1600" dirty="0"/>
          </a:p>
        </p:txBody>
      </p:sp>
      <p:sp>
        <p:nvSpPr>
          <p:cNvPr id="16" name="Text 11"/>
          <p:cNvSpPr/>
          <p:nvPr/>
        </p:nvSpPr>
        <p:spPr>
          <a:xfrm>
            <a:off x="7178040" y="5056632"/>
            <a:ext cx="3840480" cy="1005840"/>
          </a:xfrm>
          <a:prstGeom prst="rect">
            <a:avLst/>
          </a:prstGeom>
          <a:noFill/>
          <a:ln/>
        </p:spPr>
        <p:txBody>
          <a:bodyPr wrap="square" lIns="0" tIns="0" rIns="0" bIns="0" rtlCol="0" anchor="t"/>
          <a:lstStyle/>
          <a:p>
            <a:pPr indent="0" marL="0">
              <a:lnSpc>
                <a:spcPct val="120000"/>
              </a:lnSpc>
              <a:buNone/>
            </a:pPr>
            <a:r>
              <a:rPr lang="en-US" sz="1200" dirty="0">
                <a:solidFill>
                  <a:srgbClr val="445563"/>
                </a:solidFill>
                <a:latin typeface="Calibri" pitchFamily="34" charset="0"/>
                <a:ea typeface="Calibri" pitchFamily="34" charset="-122"/>
                <a:cs typeface="Calibri" pitchFamily="34" charset="-120"/>
              </a:rPr>
              <a:t>Think of the high-potential team member or fellow entrepreneur worth investing in beyond the job description.</a:t>
            </a:r>
            <a:endParaRPr lang="en-US" sz="1200" dirty="0"/>
          </a:p>
        </p:txBody>
      </p:sp>
      <p:sp>
        <p:nvSpPr>
          <p:cNvPr id="17" name="Text 12"/>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AEC3D4"/>
                </a:solidFill>
                <a:latin typeface="Calibri" pitchFamily="34" charset="0"/>
                <a:ea typeface="Calibri" pitchFamily="34" charset="-122"/>
                <a:cs typeface="Calibri" pitchFamily="34" charset="-120"/>
              </a:rPr>
              <a:t>Living Water Network  |  Referral Partnership</a:t>
            </a:r>
            <a:endParaRPr lang="en-US" sz="900" dirty="0"/>
          </a:p>
        </p:txBody>
      </p:sp>
      <p:sp>
        <p:nvSpPr>
          <p:cNvPr id="18"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AEC3D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10058400" cy="594360"/>
          </a:xfrm>
          <a:prstGeom prst="rect">
            <a:avLst/>
          </a:prstGeom>
          <a:noFill/>
          <a:ln/>
        </p:spPr>
        <p:txBody>
          <a:bodyPr wrap="square" lIns="0" tIns="0" rIns="0" bIns="0" rtlCol="0" anchor="ctr"/>
          <a:lstStyle/>
          <a:p>
            <a:pPr indent="0" marL="0">
              <a:buNone/>
            </a:pPr>
            <a:r>
              <a:rPr lang="en-US" sz="3000" b="1" dirty="0">
                <a:solidFill>
                  <a:srgbClr val="0A2A47"/>
                </a:solidFill>
                <a:latin typeface="Cambria" pitchFamily="34" charset="0"/>
                <a:ea typeface="Cambria" pitchFamily="34" charset="-122"/>
                <a:cs typeface="Cambria" pitchFamily="34" charset="-120"/>
              </a:rPr>
              <a:t>What happens after you refer someone</a:t>
            </a:r>
            <a:endParaRPr lang="en-US" sz="3000" dirty="0"/>
          </a:p>
        </p:txBody>
      </p:sp>
      <p:sp>
        <p:nvSpPr>
          <p:cNvPr id="3" name="Text 1"/>
          <p:cNvSpPr/>
          <p:nvPr/>
        </p:nvSpPr>
        <p:spPr>
          <a:xfrm>
            <a:off x="685800" y="1133856"/>
            <a:ext cx="9144000" cy="365760"/>
          </a:xfrm>
          <a:prstGeom prst="rect">
            <a:avLst/>
          </a:prstGeom>
          <a:noFill/>
          <a:ln/>
        </p:spPr>
        <p:txBody>
          <a:bodyPr wrap="square" lIns="0" tIns="0" rIns="0" bIns="0" rtlCol="0" anchor="ctr"/>
          <a:lstStyle/>
          <a:p>
            <a:pPr indent="0" marL="0">
              <a:buNone/>
            </a:pPr>
            <a:r>
              <a:rPr lang="en-US" sz="1500" dirty="0">
                <a:solidFill>
                  <a:srgbClr val="445563"/>
                </a:solidFill>
                <a:latin typeface="Calibri" pitchFamily="34" charset="0"/>
                <a:ea typeface="Calibri" pitchFamily="34" charset="-122"/>
                <a:cs typeface="Calibri" pitchFamily="34" charset="-120"/>
              </a:rPr>
              <a:t>Simple, and no burden on you beyond the introduction</a:t>
            </a:r>
            <a:endParaRPr lang="en-US" sz="1500" dirty="0"/>
          </a:p>
        </p:txBody>
      </p:sp>
      <p:sp>
        <p:nvSpPr>
          <p:cNvPr id="4" name="Shape 2"/>
          <p:cNvSpPr/>
          <p:nvPr/>
        </p:nvSpPr>
        <p:spPr>
          <a:xfrm>
            <a:off x="685800" y="1965960"/>
            <a:ext cx="2514600" cy="3749040"/>
          </a:xfrm>
          <a:prstGeom prst="roundRect">
            <a:avLst>
              <a:gd name="adj" fmla="val 2909"/>
            </a:avLst>
          </a:prstGeom>
          <a:solidFill>
            <a:srgbClr val="EAF1F6"/>
          </a:solidFill>
          <a:ln/>
          <a:effectLst>
            <a:outerShdw sx="100000" sy="100000" kx="0" ky="0" algn="bl" rotWithShape="0" blurRad="127000" dist="38100" dir="5400000">
              <a:srgbClr val="0A2A47">
                <a:alpha val="14000"/>
              </a:srgbClr>
            </a:outerShdw>
          </a:effectLst>
        </p:spPr>
      </p:sp>
      <p:sp>
        <p:nvSpPr>
          <p:cNvPr id="5" name="Shape 3"/>
          <p:cNvSpPr/>
          <p:nvPr/>
        </p:nvSpPr>
        <p:spPr>
          <a:xfrm>
            <a:off x="1687068" y="2240280"/>
            <a:ext cx="512064" cy="512064"/>
          </a:xfrm>
          <a:prstGeom prst="ellipse">
            <a:avLst/>
          </a:prstGeom>
          <a:solidFill>
            <a:srgbClr val="0A2A47"/>
          </a:solidFill>
          <a:ln/>
        </p:spPr>
      </p:sp>
      <p:sp>
        <p:nvSpPr>
          <p:cNvPr id="6" name="Text 4"/>
          <p:cNvSpPr/>
          <p:nvPr/>
        </p:nvSpPr>
        <p:spPr>
          <a:xfrm>
            <a:off x="1687068"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pic>
        <p:nvPicPr>
          <p:cNvPr id="7" name="Image 0" descr="preencoded.png"/>
          <p:cNvPicPr>
            <a:picLocks noChangeAspect="1"/>
          </p:cNvPicPr>
          <p:nvPr/>
        </p:nvPicPr>
        <p:blipFill>
          <a:blip r:embed="rId1"/>
          <a:stretch>
            <a:fillRect/>
          </a:stretch>
        </p:blipFill>
        <p:spPr>
          <a:xfrm>
            <a:off x="1769364" y="2926080"/>
            <a:ext cx="347472" cy="347472"/>
          </a:xfrm>
          <a:prstGeom prst="rect">
            <a:avLst/>
          </a:prstGeom>
        </p:spPr>
      </p:pic>
      <p:sp>
        <p:nvSpPr>
          <p:cNvPr id="8" name="Text 5"/>
          <p:cNvSpPr/>
          <p:nvPr/>
        </p:nvSpPr>
        <p:spPr>
          <a:xfrm>
            <a:off x="868680" y="3383280"/>
            <a:ext cx="2148840" cy="594360"/>
          </a:xfrm>
          <a:prstGeom prst="rect">
            <a:avLst/>
          </a:prstGeom>
          <a:noFill/>
          <a:ln/>
        </p:spPr>
        <p:txBody>
          <a:bodyPr wrap="square" lIns="0" tIns="0" rIns="0" bIns="0" rtlCol="0" anchor="t"/>
          <a:lstStyle/>
          <a:p>
            <a:pPr algn="ctr" indent="0" marL="0">
              <a:buNone/>
            </a:pPr>
            <a:r>
              <a:rPr lang="en-US" sz="1450" b="1" dirty="0">
                <a:solidFill>
                  <a:srgbClr val="0A2A47"/>
                </a:solidFill>
                <a:latin typeface="Cambria" pitchFamily="34" charset="0"/>
                <a:ea typeface="Cambria" pitchFamily="34" charset="-122"/>
                <a:cs typeface="Cambria" pitchFamily="34" charset="-120"/>
              </a:rPr>
              <a:t>You make the introduction</a:t>
            </a:r>
            <a:endParaRPr lang="en-US" sz="1450" dirty="0"/>
          </a:p>
        </p:txBody>
      </p:sp>
      <p:sp>
        <p:nvSpPr>
          <p:cNvPr id="9" name="Text 6"/>
          <p:cNvSpPr/>
          <p:nvPr/>
        </p:nvSpPr>
        <p:spPr>
          <a:xfrm>
            <a:off x="868680" y="4023360"/>
            <a:ext cx="2148840" cy="1554480"/>
          </a:xfrm>
          <a:prstGeom prst="rect">
            <a:avLst/>
          </a:prstGeom>
          <a:noFill/>
          <a:ln/>
        </p:spPr>
        <p:txBody>
          <a:bodyPr wrap="square" lIns="0" tIns="0" rIns="0" bIns="0" rtlCol="0" anchor="t"/>
          <a:lstStyle/>
          <a:p>
            <a:pPr algn="ctr" indent="0" marL="0">
              <a:lnSpc>
                <a:spcPct val="120000"/>
              </a:lnSpc>
              <a:buNone/>
            </a:pPr>
            <a:r>
              <a:rPr lang="en-US" sz="1150" dirty="0">
                <a:solidFill>
                  <a:srgbClr val="445563"/>
                </a:solidFill>
                <a:latin typeface="Calibri" pitchFamily="34" charset="0"/>
                <a:ea typeface="Calibri" pitchFamily="34" charset="-122"/>
                <a:cs typeface="Calibri" pitchFamily="34" charset="-120"/>
              </a:rPr>
              <a:t>Share a name, or connect them to us directly — a quick email or text is enough.</a:t>
            </a:r>
            <a:endParaRPr lang="en-US" sz="1150" dirty="0"/>
          </a:p>
        </p:txBody>
      </p:sp>
      <p:sp>
        <p:nvSpPr>
          <p:cNvPr id="10" name="Shape 7"/>
          <p:cNvSpPr/>
          <p:nvPr/>
        </p:nvSpPr>
        <p:spPr>
          <a:xfrm>
            <a:off x="3218688" y="3730752"/>
            <a:ext cx="219456" cy="219456"/>
          </a:xfrm>
          <a:prstGeom prst="ellipse">
            <a:avLst/>
          </a:prstGeom>
          <a:solidFill>
            <a:srgbClr val="C05A12"/>
          </a:solidFill>
          <a:ln/>
        </p:spPr>
      </p:sp>
      <p:sp>
        <p:nvSpPr>
          <p:cNvPr id="11" name="Shape 8"/>
          <p:cNvSpPr/>
          <p:nvPr/>
        </p:nvSpPr>
        <p:spPr>
          <a:xfrm>
            <a:off x="3456432" y="1965960"/>
            <a:ext cx="2514600" cy="3749040"/>
          </a:xfrm>
          <a:prstGeom prst="roundRect">
            <a:avLst>
              <a:gd name="adj" fmla="val 2909"/>
            </a:avLst>
          </a:prstGeom>
          <a:solidFill>
            <a:srgbClr val="EAF1F6"/>
          </a:solidFill>
          <a:ln/>
          <a:effectLst>
            <a:outerShdw sx="100000" sy="100000" kx="0" ky="0" algn="bl" rotWithShape="0" blurRad="127000" dist="38100" dir="5400000">
              <a:srgbClr val="0A2A47">
                <a:alpha val="14000"/>
              </a:srgbClr>
            </a:outerShdw>
          </a:effectLst>
        </p:spPr>
      </p:sp>
      <p:sp>
        <p:nvSpPr>
          <p:cNvPr id="12" name="Shape 9"/>
          <p:cNvSpPr/>
          <p:nvPr/>
        </p:nvSpPr>
        <p:spPr>
          <a:xfrm>
            <a:off x="4457700" y="2240280"/>
            <a:ext cx="512064" cy="512064"/>
          </a:xfrm>
          <a:prstGeom prst="ellipse">
            <a:avLst/>
          </a:prstGeom>
          <a:solidFill>
            <a:srgbClr val="0A2A47"/>
          </a:solidFill>
          <a:ln/>
        </p:spPr>
      </p:sp>
      <p:sp>
        <p:nvSpPr>
          <p:cNvPr id="13" name="Text 10"/>
          <p:cNvSpPr/>
          <p:nvPr/>
        </p:nvSpPr>
        <p:spPr>
          <a:xfrm>
            <a:off x="4457700"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pic>
        <p:nvPicPr>
          <p:cNvPr id="14" name="Image 1" descr="preencoded.png"/>
          <p:cNvPicPr>
            <a:picLocks noChangeAspect="1"/>
          </p:cNvPicPr>
          <p:nvPr/>
        </p:nvPicPr>
        <p:blipFill>
          <a:blip r:embed="rId2"/>
          <a:stretch>
            <a:fillRect/>
          </a:stretch>
        </p:blipFill>
        <p:spPr>
          <a:xfrm>
            <a:off x="4539996" y="2926080"/>
            <a:ext cx="347472" cy="347472"/>
          </a:xfrm>
          <a:prstGeom prst="rect">
            <a:avLst/>
          </a:prstGeom>
        </p:spPr>
      </p:pic>
      <p:sp>
        <p:nvSpPr>
          <p:cNvPr id="15" name="Text 11"/>
          <p:cNvSpPr/>
          <p:nvPr/>
        </p:nvSpPr>
        <p:spPr>
          <a:xfrm>
            <a:off x="3639312" y="3383280"/>
            <a:ext cx="2148840" cy="594360"/>
          </a:xfrm>
          <a:prstGeom prst="rect">
            <a:avLst/>
          </a:prstGeom>
          <a:noFill/>
          <a:ln/>
        </p:spPr>
        <p:txBody>
          <a:bodyPr wrap="square" lIns="0" tIns="0" rIns="0" bIns="0" rtlCol="0" anchor="t"/>
          <a:lstStyle/>
          <a:p>
            <a:pPr algn="ctr" indent="0" marL="0">
              <a:buNone/>
            </a:pPr>
            <a:r>
              <a:rPr lang="en-US" sz="1450" b="1" dirty="0">
                <a:solidFill>
                  <a:srgbClr val="0A2A47"/>
                </a:solidFill>
                <a:latin typeface="Cambria" pitchFamily="34" charset="0"/>
                <a:ea typeface="Cambria" pitchFamily="34" charset="-122"/>
                <a:cs typeface="Cambria" pitchFamily="34" charset="-120"/>
              </a:rPr>
              <a:t>They complete an application</a:t>
            </a:r>
            <a:endParaRPr lang="en-US" sz="1450" dirty="0"/>
          </a:p>
        </p:txBody>
      </p:sp>
      <p:sp>
        <p:nvSpPr>
          <p:cNvPr id="16" name="Text 12"/>
          <p:cNvSpPr/>
          <p:nvPr/>
        </p:nvSpPr>
        <p:spPr>
          <a:xfrm>
            <a:off x="3639312" y="4023360"/>
            <a:ext cx="2148840" cy="1554480"/>
          </a:xfrm>
          <a:prstGeom prst="rect">
            <a:avLst/>
          </a:prstGeom>
          <a:noFill/>
          <a:ln/>
        </p:spPr>
        <p:txBody>
          <a:bodyPr wrap="square" lIns="0" tIns="0" rIns="0" bIns="0" rtlCol="0" anchor="t"/>
          <a:lstStyle/>
          <a:p>
            <a:pPr algn="ctr" indent="0" marL="0">
              <a:lnSpc>
                <a:spcPct val="120000"/>
              </a:lnSpc>
              <a:buNone/>
            </a:pPr>
            <a:r>
              <a:rPr lang="en-US" sz="1150" dirty="0">
                <a:solidFill>
                  <a:srgbClr val="445563"/>
                </a:solidFill>
                <a:latin typeface="Calibri" pitchFamily="34" charset="0"/>
                <a:ea typeface="Calibri" pitchFamily="34" charset="-122"/>
                <a:cs typeface="Calibri" pitchFamily="34" charset="-120"/>
              </a:rPr>
              <a:t>The candidate fills out a short application and pays the modest application fee.</a:t>
            </a:r>
            <a:endParaRPr lang="en-US" sz="1150" dirty="0"/>
          </a:p>
        </p:txBody>
      </p:sp>
      <p:sp>
        <p:nvSpPr>
          <p:cNvPr id="17" name="Shape 13"/>
          <p:cNvSpPr/>
          <p:nvPr/>
        </p:nvSpPr>
        <p:spPr>
          <a:xfrm>
            <a:off x="5989320" y="3730752"/>
            <a:ext cx="219456" cy="219456"/>
          </a:xfrm>
          <a:prstGeom prst="ellipse">
            <a:avLst/>
          </a:prstGeom>
          <a:solidFill>
            <a:srgbClr val="C05A12"/>
          </a:solidFill>
          <a:ln/>
        </p:spPr>
      </p:sp>
      <p:sp>
        <p:nvSpPr>
          <p:cNvPr id="18" name="Shape 14"/>
          <p:cNvSpPr/>
          <p:nvPr/>
        </p:nvSpPr>
        <p:spPr>
          <a:xfrm>
            <a:off x="6227064" y="1965960"/>
            <a:ext cx="2514600" cy="3749040"/>
          </a:xfrm>
          <a:prstGeom prst="roundRect">
            <a:avLst>
              <a:gd name="adj" fmla="val 2909"/>
            </a:avLst>
          </a:prstGeom>
          <a:solidFill>
            <a:srgbClr val="EAF1F6"/>
          </a:solidFill>
          <a:ln/>
          <a:effectLst>
            <a:outerShdw sx="100000" sy="100000" kx="0" ky="0" algn="bl" rotWithShape="0" blurRad="127000" dist="38100" dir="5400000">
              <a:srgbClr val="0A2A47">
                <a:alpha val="14000"/>
              </a:srgbClr>
            </a:outerShdw>
          </a:effectLst>
        </p:spPr>
      </p:sp>
      <p:sp>
        <p:nvSpPr>
          <p:cNvPr id="19" name="Shape 15"/>
          <p:cNvSpPr/>
          <p:nvPr/>
        </p:nvSpPr>
        <p:spPr>
          <a:xfrm>
            <a:off x="7228332" y="2240280"/>
            <a:ext cx="512064" cy="512064"/>
          </a:xfrm>
          <a:prstGeom prst="ellipse">
            <a:avLst/>
          </a:prstGeom>
          <a:solidFill>
            <a:srgbClr val="0A2A47"/>
          </a:solidFill>
          <a:ln/>
        </p:spPr>
      </p:sp>
      <p:sp>
        <p:nvSpPr>
          <p:cNvPr id="20" name="Text 16"/>
          <p:cNvSpPr/>
          <p:nvPr/>
        </p:nvSpPr>
        <p:spPr>
          <a:xfrm>
            <a:off x="7228332"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pic>
        <p:nvPicPr>
          <p:cNvPr id="21" name="Image 2" descr="preencoded.png"/>
          <p:cNvPicPr>
            <a:picLocks noChangeAspect="1"/>
          </p:cNvPicPr>
          <p:nvPr/>
        </p:nvPicPr>
        <p:blipFill>
          <a:blip r:embed="rId3"/>
          <a:stretch>
            <a:fillRect/>
          </a:stretch>
        </p:blipFill>
        <p:spPr>
          <a:xfrm>
            <a:off x="7310628" y="2926080"/>
            <a:ext cx="347472" cy="347472"/>
          </a:xfrm>
          <a:prstGeom prst="rect">
            <a:avLst/>
          </a:prstGeom>
        </p:spPr>
      </p:pic>
      <p:sp>
        <p:nvSpPr>
          <p:cNvPr id="22" name="Text 17"/>
          <p:cNvSpPr/>
          <p:nvPr/>
        </p:nvSpPr>
        <p:spPr>
          <a:xfrm>
            <a:off x="6409944" y="3383280"/>
            <a:ext cx="2148840" cy="594360"/>
          </a:xfrm>
          <a:prstGeom prst="rect">
            <a:avLst/>
          </a:prstGeom>
          <a:noFill/>
          <a:ln/>
        </p:spPr>
        <p:txBody>
          <a:bodyPr wrap="square" lIns="0" tIns="0" rIns="0" bIns="0" rtlCol="0" anchor="t"/>
          <a:lstStyle/>
          <a:p>
            <a:pPr algn="ctr" indent="0" marL="0">
              <a:buNone/>
            </a:pPr>
            <a:r>
              <a:rPr lang="en-US" sz="1450" b="1" dirty="0">
                <a:solidFill>
                  <a:srgbClr val="0A2A47"/>
                </a:solidFill>
                <a:latin typeface="Cambria" pitchFamily="34" charset="0"/>
                <a:ea typeface="Cambria" pitchFamily="34" charset="-122"/>
                <a:cs typeface="Cambria" pitchFamily="34" charset="-120"/>
              </a:rPr>
              <a:t>LWN's team follows up</a:t>
            </a:r>
            <a:endParaRPr lang="en-US" sz="1450" dirty="0"/>
          </a:p>
        </p:txBody>
      </p:sp>
      <p:sp>
        <p:nvSpPr>
          <p:cNvPr id="23" name="Text 18"/>
          <p:cNvSpPr/>
          <p:nvPr/>
        </p:nvSpPr>
        <p:spPr>
          <a:xfrm>
            <a:off x="6409944" y="4023360"/>
            <a:ext cx="2148840" cy="1554480"/>
          </a:xfrm>
          <a:prstGeom prst="rect">
            <a:avLst/>
          </a:prstGeom>
          <a:noFill/>
          <a:ln/>
        </p:spPr>
        <p:txBody>
          <a:bodyPr wrap="square" lIns="0" tIns="0" rIns="0" bIns="0" rtlCol="0" anchor="t"/>
          <a:lstStyle/>
          <a:p>
            <a:pPr algn="ctr" indent="0" marL="0">
              <a:lnSpc>
                <a:spcPct val="120000"/>
              </a:lnSpc>
              <a:buNone/>
            </a:pPr>
            <a:r>
              <a:rPr lang="en-US" sz="1150" dirty="0">
                <a:solidFill>
                  <a:srgbClr val="445563"/>
                </a:solidFill>
                <a:latin typeface="Calibri" pitchFamily="34" charset="0"/>
                <a:ea typeface="Calibri" pitchFamily="34" charset="-122"/>
                <a:cs typeface="Calibri" pitchFamily="34" charset="-120"/>
              </a:rPr>
              <a:t>We handle scheduling, screening, and onboarding into the next cohort — not you.</a:t>
            </a:r>
            <a:endParaRPr lang="en-US" sz="1150" dirty="0"/>
          </a:p>
        </p:txBody>
      </p:sp>
      <p:sp>
        <p:nvSpPr>
          <p:cNvPr id="24" name="Shape 19"/>
          <p:cNvSpPr/>
          <p:nvPr/>
        </p:nvSpPr>
        <p:spPr>
          <a:xfrm>
            <a:off x="8759952" y="3730752"/>
            <a:ext cx="219456" cy="219456"/>
          </a:xfrm>
          <a:prstGeom prst="ellipse">
            <a:avLst/>
          </a:prstGeom>
          <a:solidFill>
            <a:srgbClr val="C05A12"/>
          </a:solidFill>
          <a:ln/>
        </p:spPr>
      </p:sp>
      <p:sp>
        <p:nvSpPr>
          <p:cNvPr id="25" name="Shape 20"/>
          <p:cNvSpPr/>
          <p:nvPr/>
        </p:nvSpPr>
        <p:spPr>
          <a:xfrm>
            <a:off x="8997696" y="1965960"/>
            <a:ext cx="2514600" cy="3749040"/>
          </a:xfrm>
          <a:prstGeom prst="roundRect">
            <a:avLst>
              <a:gd name="adj" fmla="val 2909"/>
            </a:avLst>
          </a:prstGeom>
          <a:solidFill>
            <a:srgbClr val="EAF1F6"/>
          </a:solidFill>
          <a:ln/>
          <a:effectLst>
            <a:outerShdw sx="100000" sy="100000" kx="0" ky="0" algn="bl" rotWithShape="0" blurRad="127000" dist="38100" dir="5400000">
              <a:srgbClr val="0A2A47">
                <a:alpha val="14000"/>
              </a:srgbClr>
            </a:outerShdw>
          </a:effectLst>
        </p:spPr>
      </p:sp>
      <p:sp>
        <p:nvSpPr>
          <p:cNvPr id="26" name="Shape 21"/>
          <p:cNvSpPr/>
          <p:nvPr/>
        </p:nvSpPr>
        <p:spPr>
          <a:xfrm>
            <a:off x="9998964" y="2240280"/>
            <a:ext cx="512064" cy="512064"/>
          </a:xfrm>
          <a:prstGeom prst="ellipse">
            <a:avLst/>
          </a:prstGeom>
          <a:solidFill>
            <a:srgbClr val="0A2A47"/>
          </a:solidFill>
          <a:ln/>
        </p:spPr>
      </p:sp>
      <p:sp>
        <p:nvSpPr>
          <p:cNvPr id="27" name="Text 22"/>
          <p:cNvSpPr/>
          <p:nvPr/>
        </p:nvSpPr>
        <p:spPr>
          <a:xfrm>
            <a:off x="9998964" y="22402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pic>
        <p:nvPicPr>
          <p:cNvPr id="28" name="Image 3" descr="preencoded.png"/>
          <p:cNvPicPr>
            <a:picLocks noChangeAspect="1"/>
          </p:cNvPicPr>
          <p:nvPr/>
        </p:nvPicPr>
        <p:blipFill>
          <a:blip r:embed="rId4"/>
          <a:stretch>
            <a:fillRect/>
          </a:stretch>
        </p:blipFill>
        <p:spPr>
          <a:xfrm>
            <a:off x="10081260" y="2926080"/>
            <a:ext cx="347472" cy="347472"/>
          </a:xfrm>
          <a:prstGeom prst="rect">
            <a:avLst/>
          </a:prstGeom>
        </p:spPr>
      </p:pic>
      <p:sp>
        <p:nvSpPr>
          <p:cNvPr id="29" name="Text 23"/>
          <p:cNvSpPr/>
          <p:nvPr/>
        </p:nvSpPr>
        <p:spPr>
          <a:xfrm>
            <a:off x="9180576" y="3383280"/>
            <a:ext cx="2148840" cy="594360"/>
          </a:xfrm>
          <a:prstGeom prst="rect">
            <a:avLst/>
          </a:prstGeom>
          <a:noFill/>
          <a:ln/>
        </p:spPr>
        <p:txBody>
          <a:bodyPr wrap="square" lIns="0" tIns="0" rIns="0" bIns="0" rtlCol="0" anchor="t"/>
          <a:lstStyle/>
          <a:p>
            <a:pPr algn="ctr" indent="0" marL="0">
              <a:buNone/>
            </a:pPr>
            <a:r>
              <a:rPr lang="en-US" sz="1450" b="1" dirty="0">
                <a:solidFill>
                  <a:srgbClr val="0A2A47"/>
                </a:solidFill>
                <a:latin typeface="Cambria" pitchFamily="34" charset="0"/>
                <a:ea typeface="Cambria" pitchFamily="34" charset="-122"/>
                <a:cs typeface="Cambria" pitchFamily="34" charset="-120"/>
              </a:rPr>
              <a:t>They begin Groundwork</a:t>
            </a:r>
            <a:endParaRPr lang="en-US" sz="1450" dirty="0"/>
          </a:p>
        </p:txBody>
      </p:sp>
      <p:sp>
        <p:nvSpPr>
          <p:cNvPr id="30" name="Text 24"/>
          <p:cNvSpPr/>
          <p:nvPr/>
        </p:nvSpPr>
        <p:spPr>
          <a:xfrm>
            <a:off x="9180576" y="4023360"/>
            <a:ext cx="2148840" cy="1554480"/>
          </a:xfrm>
          <a:prstGeom prst="rect">
            <a:avLst/>
          </a:prstGeom>
          <a:noFill/>
          <a:ln/>
        </p:spPr>
        <p:txBody>
          <a:bodyPr wrap="square" lIns="0" tIns="0" rIns="0" bIns="0" rtlCol="0" anchor="t"/>
          <a:lstStyle/>
          <a:p>
            <a:pPr algn="ctr" indent="0" marL="0">
              <a:lnSpc>
                <a:spcPct val="120000"/>
              </a:lnSpc>
              <a:buNone/>
            </a:pPr>
            <a:r>
              <a:rPr lang="en-US" sz="1150" dirty="0">
                <a:solidFill>
                  <a:srgbClr val="445563"/>
                </a:solidFill>
                <a:latin typeface="Calibri" pitchFamily="34" charset="0"/>
                <a:ea typeface="Calibri" pitchFamily="34" charset="-122"/>
                <a:cs typeface="Calibri" pitchFamily="34" charset="-120"/>
              </a:rPr>
              <a:t>Your referral steps into a 9-month formation journey alongside 7–11 peers.</a:t>
            </a:r>
            <a:endParaRPr lang="en-US" sz="1150" dirty="0"/>
          </a:p>
        </p:txBody>
      </p:sp>
      <p:sp>
        <p:nvSpPr>
          <p:cNvPr id="31" name="Text 25"/>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445563"/>
                </a:solidFill>
                <a:latin typeface="Calibri" pitchFamily="34" charset="0"/>
                <a:ea typeface="Calibri" pitchFamily="34" charset="-122"/>
                <a:cs typeface="Calibri" pitchFamily="34" charset="-120"/>
              </a:rPr>
              <a:t>Living Water Network  |  Referral Partnership</a:t>
            </a:r>
            <a:endParaRPr lang="en-US" sz="900" dirty="0"/>
          </a:p>
        </p:txBody>
      </p:sp>
      <p:sp>
        <p:nvSpPr>
          <p:cNvPr id="32" name="Text 2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44556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1F6"/>
        </a:solidFill>
      </p:bgPr>
    </p:bg>
    <p:spTree>
      <p:nvGrpSpPr>
        <p:cNvPr id="1" name=""/>
        <p:cNvGrpSpPr/>
        <p:nvPr/>
      </p:nvGrpSpPr>
      <p:grpSpPr>
        <a:xfrm>
          <a:off x="0" y="0"/>
          <a:ext cx="0" cy="0"/>
          <a:chOff x="0" y="0"/>
          <a:chExt cx="0" cy="0"/>
        </a:xfrm>
      </p:grpSpPr>
      <p:sp>
        <p:nvSpPr>
          <p:cNvPr id="2" name="Text 0"/>
          <p:cNvSpPr/>
          <p:nvPr/>
        </p:nvSpPr>
        <p:spPr>
          <a:xfrm>
            <a:off x="685800" y="502920"/>
            <a:ext cx="8229600" cy="594360"/>
          </a:xfrm>
          <a:prstGeom prst="rect">
            <a:avLst/>
          </a:prstGeom>
          <a:noFill/>
          <a:ln/>
        </p:spPr>
        <p:txBody>
          <a:bodyPr wrap="square" lIns="0" tIns="0" rIns="0" bIns="0" rtlCol="0" anchor="ctr"/>
          <a:lstStyle/>
          <a:p>
            <a:pPr indent="0" marL="0">
              <a:buNone/>
            </a:pPr>
            <a:r>
              <a:rPr lang="en-US" sz="3000" b="1" dirty="0">
                <a:solidFill>
                  <a:srgbClr val="0A2A47"/>
                </a:solidFill>
                <a:latin typeface="Cambria" pitchFamily="34" charset="0"/>
                <a:ea typeface="Cambria" pitchFamily="34" charset="-122"/>
                <a:cs typeface="Cambria" pitchFamily="34" charset="-120"/>
              </a:rPr>
              <a:t>Why this matters for you</a:t>
            </a:r>
            <a:endParaRPr lang="en-US" sz="3000" dirty="0"/>
          </a:p>
        </p:txBody>
      </p:sp>
      <p:sp>
        <p:nvSpPr>
          <p:cNvPr id="3" name="Text 1"/>
          <p:cNvSpPr/>
          <p:nvPr/>
        </p:nvSpPr>
        <p:spPr>
          <a:xfrm>
            <a:off x="685800" y="1133856"/>
            <a:ext cx="9144000" cy="365760"/>
          </a:xfrm>
          <a:prstGeom prst="rect">
            <a:avLst/>
          </a:prstGeom>
          <a:noFill/>
          <a:ln/>
        </p:spPr>
        <p:txBody>
          <a:bodyPr wrap="square" lIns="0" tIns="0" rIns="0" bIns="0" rtlCol="0" anchor="ctr"/>
          <a:lstStyle/>
          <a:p>
            <a:pPr indent="0" marL="0">
              <a:buNone/>
            </a:pPr>
            <a:r>
              <a:rPr lang="en-US" sz="1500" dirty="0">
                <a:solidFill>
                  <a:srgbClr val="445563"/>
                </a:solidFill>
                <a:latin typeface="Calibri" pitchFamily="34" charset="0"/>
                <a:ea typeface="Calibri" pitchFamily="34" charset="-122"/>
                <a:cs typeface="Calibri" pitchFamily="34" charset="-120"/>
              </a:rPr>
              <a:t>Formed leaders make everything around them healthier</a:t>
            </a:r>
            <a:endParaRPr lang="en-US" sz="1500" dirty="0"/>
          </a:p>
        </p:txBody>
      </p:sp>
      <p:sp>
        <p:nvSpPr>
          <p:cNvPr id="4" name="Shape 2"/>
          <p:cNvSpPr/>
          <p:nvPr/>
        </p:nvSpPr>
        <p:spPr>
          <a:xfrm>
            <a:off x="685800" y="1874520"/>
            <a:ext cx="5120640" cy="1691640"/>
          </a:xfrm>
          <a:prstGeom prst="roundRect">
            <a:avLst>
              <a:gd name="adj" fmla="val 3784"/>
            </a:avLst>
          </a:prstGeom>
          <a:solidFill>
            <a:srgbClr val="FFFFFF"/>
          </a:solidFill>
          <a:ln/>
          <a:effectLst>
            <a:outerShdw sx="100000" sy="100000" kx="0" ky="0" algn="bl" rotWithShape="0" blurRad="127000" dist="38100" dir="5400000">
              <a:srgbClr val="0A2A47">
                <a:alpha val="14000"/>
              </a:srgbClr>
            </a:outerShdw>
          </a:effectLst>
        </p:spPr>
      </p:sp>
      <p:sp>
        <p:nvSpPr>
          <p:cNvPr id="5" name="Shape 3"/>
          <p:cNvSpPr/>
          <p:nvPr/>
        </p:nvSpPr>
        <p:spPr>
          <a:xfrm>
            <a:off x="941832" y="2130552"/>
            <a:ext cx="502920" cy="502920"/>
          </a:xfrm>
          <a:prstGeom prst="ellipse">
            <a:avLst/>
          </a:prstGeom>
          <a:solidFill>
            <a:srgbClr val="EAF1F6"/>
          </a:solidFill>
          <a:ln/>
        </p:spPr>
      </p:sp>
      <p:pic>
        <p:nvPicPr>
          <p:cNvPr id="6" name="Image 0" descr="preencoded.png"/>
          <p:cNvPicPr>
            <a:picLocks noChangeAspect="1"/>
          </p:cNvPicPr>
          <p:nvPr/>
        </p:nvPicPr>
        <p:blipFill>
          <a:blip r:embed="rId1"/>
          <a:stretch>
            <a:fillRect/>
          </a:stretch>
        </p:blipFill>
        <p:spPr>
          <a:xfrm>
            <a:off x="1069848" y="2258568"/>
            <a:ext cx="246888" cy="246888"/>
          </a:xfrm>
          <a:prstGeom prst="rect">
            <a:avLst/>
          </a:prstGeom>
        </p:spPr>
      </p:pic>
      <p:sp>
        <p:nvSpPr>
          <p:cNvPr id="7" name="Text 4"/>
          <p:cNvSpPr/>
          <p:nvPr/>
        </p:nvSpPr>
        <p:spPr>
          <a:xfrm>
            <a:off x="1600200" y="2093976"/>
            <a:ext cx="3977640" cy="384048"/>
          </a:xfrm>
          <a:prstGeom prst="rect">
            <a:avLst/>
          </a:prstGeom>
          <a:noFill/>
          <a:ln/>
        </p:spPr>
        <p:txBody>
          <a:bodyPr wrap="square" lIns="0" tIns="0" rIns="0" bIns="0" rtlCol="0" anchor="ctr"/>
          <a:lstStyle/>
          <a:p>
            <a:pPr indent="0" marL="0">
              <a:buNone/>
            </a:pPr>
            <a:r>
              <a:rPr lang="en-US" sz="1500" b="1" dirty="0">
                <a:solidFill>
                  <a:srgbClr val="0A2A47"/>
                </a:solidFill>
                <a:latin typeface="Cambria" pitchFamily="34" charset="0"/>
                <a:ea typeface="Cambria" pitchFamily="34" charset="-122"/>
                <a:cs typeface="Cambria" pitchFamily="34" charset="-120"/>
              </a:rPr>
              <a:t>Stronger succession pipelines</a:t>
            </a:r>
            <a:endParaRPr lang="en-US" sz="1500" dirty="0"/>
          </a:p>
        </p:txBody>
      </p:sp>
      <p:sp>
        <p:nvSpPr>
          <p:cNvPr id="8" name="Text 5"/>
          <p:cNvSpPr/>
          <p:nvPr/>
        </p:nvSpPr>
        <p:spPr>
          <a:xfrm>
            <a:off x="941832" y="2743200"/>
            <a:ext cx="4608576" cy="777240"/>
          </a:xfrm>
          <a:prstGeom prst="rect">
            <a:avLst/>
          </a:prstGeom>
          <a:noFill/>
          <a:ln/>
        </p:spPr>
        <p:txBody>
          <a:bodyPr wrap="square" lIns="0" tIns="0" rIns="0" bIns="0" rtlCol="0" anchor="t"/>
          <a:lstStyle/>
          <a:p>
            <a:pPr indent="0" marL="0">
              <a:lnSpc>
                <a:spcPct val="120000"/>
              </a:lnSpc>
              <a:buNone/>
            </a:pPr>
            <a:r>
              <a:rPr lang="en-US" sz="1200" dirty="0">
                <a:solidFill>
                  <a:srgbClr val="445563"/>
                </a:solidFill>
                <a:latin typeface="Calibri" pitchFamily="34" charset="0"/>
                <a:ea typeface="Calibri" pitchFamily="34" charset="-122"/>
                <a:cs typeface="Calibri" pitchFamily="34" charset="-120"/>
              </a:rPr>
              <a:t>You develop the next generation of pastors, elders, managers, or partners — before you need them.</a:t>
            </a:r>
            <a:endParaRPr lang="en-US" sz="1200" dirty="0"/>
          </a:p>
        </p:txBody>
      </p:sp>
      <p:sp>
        <p:nvSpPr>
          <p:cNvPr id="9" name="Shape 6"/>
          <p:cNvSpPr/>
          <p:nvPr/>
        </p:nvSpPr>
        <p:spPr>
          <a:xfrm>
            <a:off x="6080760" y="1874520"/>
            <a:ext cx="5120640" cy="1691640"/>
          </a:xfrm>
          <a:prstGeom prst="roundRect">
            <a:avLst>
              <a:gd name="adj" fmla="val 3784"/>
            </a:avLst>
          </a:prstGeom>
          <a:solidFill>
            <a:srgbClr val="FFFFFF"/>
          </a:solidFill>
          <a:ln/>
          <a:effectLst>
            <a:outerShdw sx="100000" sy="100000" kx="0" ky="0" algn="bl" rotWithShape="0" blurRad="127000" dist="38100" dir="5400000">
              <a:srgbClr val="0A2A47">
                <a:alpha val="14000"/>
              </a:srgbClr>
            </a:outerShdw>
          </a:effectLst>
        </p:spPr>
      </p:sp>
      <p:sp>
        <p:nvSpPr>
          <p:cNvPr id="10" name="Shape 7"/>
          <p:cNvSpPr/>
          <p:nvPr/>
        </p:nvSpPr>
        <p:spPr>
          <a:xfrm>
            <a:off x="6336792" y="2130552"/>
            <a:ext cx="502920" cy="502920"/>
          </a:xfrm>
          <a:prstGeom prst="ellipse">
            <a:avLst/>
          </a:prstGeom>
          <a:solidFill>
            <a:srgbClr val="EAF1F6"/>
          </a:solidFill>
          <a:ln/>
        </p:spPr>
      </p:sp>
      <p:pic>
        <p:nvPicPr>
          <p:cNvPr id="11" name="Image 1" descr="preencoded.png"/>
          <p:cNvPicPr>
            <a:picLocks noChangeAspect="1"/>
          </p:cNvPicPr>
          <p:nvPr/>
        </p:nvPicPr>
        <p:blipFill>
          <a:blip r:embed="rId2"/>
          <a:stretch>
            <a:fillRect/>
          </a:stretch>
        </p:blipFill>
        <p:spPr>
          <a:xfrm>
            <a:off x="6464808" y="2258568"/>
            <a:ext cx="246888" cy="246888"/>
          </a:xfrm>
          <a:prstGeom prst="rect">
            <a:avLst/>
          </a:prstGeom>
        </p:spPr>
      </p:pic>
      <p:sp>
        <p:nvSpPr>
          <p:cNvPr id="12" name="Text 8"/>
          <p:cNvSpPr/>
          <p:nvPr/>
        </p:nvSpPr>
        <p:spPr>
          <a:xfrm>
            <a:off x="6995160" y="2093976"/>
            <a:ext cx="3977640" cy="384048"/>
          </a:xfrm>
          <a:prstGeom prst="rect">
            <a:avLst/>
          </a:prstGeom>
          <a:noFill/>
          <a:ln/>
        </p:spPr>
        <p:txBody>
          <a:bodyPr wrap="square" lIns="0" tIns="0" rIns="0" bIns="0" rtlCol="0" anchor="ctr"/>
          <a:lstStyle/>
          <a:p>
            <a:pPr indent="0" marL="0">
              <a:buNone/>
            </a:pPr>
            <a:r>
              <a:rPr lang="en-US" sz="1500" b="1" dirty="0">
                <a:solidFill>
                  <a:srgbClr val="0A2A47"/>
                </a:solidFill>
                <a:latin typeface="Cambria" pitchFamily="34" charset="0"/>
                <a:ea typeface="Cambria" pitchFamily="34" charset="-122"/>
                <a:cs typeface="Cambria" pitchFamily="34" charset="-120"/>
              </a:rPr>
              <a:t>Better staff and volunteers</a:t>
            </a:r>
            <a:endParaRPr lang="en-US" sz="1500" dirty="0"/>
          </a:p>
        </p:txBody>
      </p:sp>
      <p:sp>
        <p:nvSpPr>
          <p:cNvPr id="13" name="Text 9"/>
          <p:cNvSpPr/>
          <p:nvPr/>
        </p:nvSpPr>
        <p:spPr>
          <a:xfrm>
            <a:off x="6336792" y="2743200"/>
            <a:ext cx="4608576" cy="777240"/>
          </a:xfrm>
          <a:prstGeom prst="rect">
            <a:avLst/>
          </a:prstGeom>
          <a:noFill/>
          <a:ln/>
        </p:spPr>
        <p:txBody>
          <a:bodyPr wrap="square" lIns="0" tIns="0" rIns="0" bIns="0" rtlCol="0" anchor="t"/>
          <a:lstStyle/>
          <a:p>
            <a:pPr indent="0" marL="0">
              <a:lnSpc>
                <a:spcPct val="120000"/>
              </a:lnSpc>
              <a:buNone/>
            </a:pPr>
            <a:r>
              <a:rPr lang="en-US" sz="1200" dirty="0">
                <a:solidFill>
                  <a:srgbClr val="445563"/>
                </a:solidFill>
                <a:latin typeface="Calibri" pitchFamily="34" charset="0"/>
                <a:ea typeface="Calibri" pitchFamily="34" charset="-122"/>
                <a:cs typeface="Calibri" pitchFamily="34" charset="-120"/>
              </a:rPr>
              <a:t>Formed character shows up in how people lead teams, handle conflict, and steward responsibility.</a:t>
            </a:r>
            <a:endParaRPr lang="en-US" sz="1200" dirty="0"/>
          </a:p>
        </p:txBody>
      </p:sp>
      <p:sp>
        <p:nvSpPr>
          <p:cNvPr id="14" name="Shape 10"/>
          <p:cNvSpPr/>
          <p:nvPr/>
        </p:nvSpPr>
        <p:spPr>
          <a:xfrm>
            <a:off x="685800" y="3840480"/>
            <a:ext cx="5120640" cy="1691640"/>
          </a:xfrm>
          <a:prstGeom prst="roundRect">
            <a:avLst>
              <a:gd name="adj" fmla="val 3784"/>
            </a:avLst>
          </a:prstGeom>
          <a:solidFill>
            <a:srgbClr val="FFFFFF"/>
          </a:solidFill>
          <a:ln/>
          <a:effectLst>
            <a:outerShdw sx="100000" sy="100000" kx="0" ky="0" algn="bl" rotWithShape="0" blurRad="127000" dist="38100" dir="5400000">
              <a:srgbClr val="0A2A47">
                <a:alpha val="14000"/>
              </a:srgbClr>
            </a:outerShdw>
          </a:effectLst>
        </p:spPr>
      </p:sp>
      <p:sp>
        <p:nvSpPr>
          <p:cNvPr id="15" name="Shape 11"/>
          <p:cNvSpPr/>
          <p:nvPr/>
        </p:nvSpPr>
        <p:spPr>
          <a:xfrm>
            <a:off x="941832" y="4096512"/>
            <a:ext cx="502920" cy="502920"/>
          </a:xfrm>
          <a:prstGeom prst="ellipse">
            <a:avLst/>
          </a:prstGeom>
          <a:solidFill>
            <a:srgbClr val="EAF1F6"/>
          </a:solidFill>
          <a:ln/>
        </p:spPr>
      </p:sp>
      <p:pic>
        <p:nvPicPr>
          <p:cNvPr id="16" name="Image 2" descr="preencoded.png"/>
          <p:cNvPicPr>
            <a:picLocks noChangeAspect="1"/>
          </p:cNvPicPr>
          <p:nvPr/>
        </p:nvPicPr>
        <p:blipFill>
          <a:blip r:embed="rId3"/>
          <a:stretch>
            <a:fillRect/>
          </a:stretch>
        </p:blipFill>
        <p:spPr>
          <a:xfrm>
            <a:off x="1069848" y="4224528"/>
            <a:ext cx="246888" cy="246888"/>
          </a:xfrm>
          <a:prstGeom prst="rect">
            <a:avLst/>
          </a:prstGeom>
        </p:spPr>
      </p:pic>
      <p:sp>
        <p:nvSpPr>
          <p:cNvPr id="17" name="Text 12"/>
          <p:cNvSpPr/>
          <p:nvPr/>
        </p:nvSpPr>
        <p:spPr>
          <a:xfrm>
            <a:off x="1600200" y="4059936"/>
            <a:ext cx="3977640" cy="384048"/>
          </a:xfrm>
          <a:prstGeom prst="rect">
            <a:avLst/>
          </a:prstGeom>
          <a:noFill/>
          <a:ln/>
        </p:spPr>
        <p:txBody>
          <a:bodyPr wrap="square" lIns="0" tIns="0" rIns="0" bIns="0" rtlCol="0" anchor="ctr"/>
          <a:lstStyle/>
          <a:p>
            <a:pPr indent="0" marL="0">
              <a:buNone/>
            </a:pPr>
            <a:r>
              <a:rPr lang="en-US" sz="1500" b="1" dirty="0">
                <a:solidFill>
                  <a:srgbClr val="0A2A47"/>
                </a:solidFill>
                <a:latin typeface="Cambria" pitchFamily="34" charset="0"/>
                <a:ea typeface="Cambria" pitchFamily="34" charset="-122"/>
                <a:cs typeface="Cambria" pitchFamily="34" charset="-120"/>
              </a:rPr>
              <a:t>Healthier culture</a:t>
            </a:r>
            <a:endParaRPr lang="en-US" sz="1500" dirty="0"/>
          </a:p>
        </p:txBody>
      </p:sp>
      <p:sp>
        <p:nvSpPr>
          <p:cNvPr id="18" name="Text 13"/>
          <p:cNvSpPr/>
          <p:nvPr/>
        </p:nvSpPr>
        <p:spPr>
          <a:xfrm>
            <a:off x="941832" y="4709160"/>
            <a:ext cx="4608576" cy="777240"/>
          </a:xfrm>
          <a:prstGeom prst="rect">
            <a:avLst/>
          </a:prstGeom>
          <a:noFill/>
          <a:ln/>
        </p:spPr>
        <p:txBody>
          <a:bodyPr wrap="square" lIns="0" tIns="0" rIns="0" bIns="0" rtlCol="0" anchor="t"/>
          <a:lstStyle/>
          <a:p>
            <a:pPr indent="0" marL="0">
              <a:lnSpc>
                <a:spcPct val="120000"/>
              </a:lnSpc>
              <a:buNone/>
            </a:pPr>
            <a:r>
              <a:rPr lang="en-US" sz="1200" dirty="0">
                <a:solidFill>
                  <a:srgbClr val="445563"/>
                </a:solidFill>
                <a:latin typeface="Calibri" pitchFamily="34" charset="0"/>
                <a:ea typeface="Calibri" pitchFamily="34" charset="-122"/>
                <a:cs typeface="Calibri" pitchFamily="34" charset="-120"/>
              </a:rPr>
              <a:t>One formed leader changes the emotional and spiritual temperature of a church or company.</a:t>
            </a:r>
            <a:endParaRPr lang="en-US" sz="1200" dirty="0"/>
          </a:p>
        </p:txBody>
      </p:sp>
      <p:sp>
        <p:nvSpPr>
          <p:cNvPr id="19" name="Shape 14"/>
          <p:cNvSpPr/>
          <p:nvPr/>
        </p:nvSpPr>
        <p:spPr>
          <a:xfrm>
            <a:off x="6080760" y="3840480"/>
            <a:ext cx="5120640" cy="1691640"/>
          </a:xfrm>
          <a:prstGeom prst="roundRect">
            <a:avLst>
              <a:gd name="adj" fmla="val 3784"/>
            </a:avLst>
          </a:prstGeom>
          <a:solidFill>
            <a:srgbClr val="FFFFFF"/>
          </a:solidFill>
          <a:ln/>
          <a:effectLst>
            <a:outerShdw sx="100000" sy="100000" kx="0" ky="0" algn="bl" rotWithShape="0" blurRad="127000" dist="38100" dir="5400000">
              <a:srgbClr val="0A2A47">
                <a:alpha val="14000"/>
              </a:srgbClr>
            </a:outerShdw>
          </a:effectLst>
        </p:spPr>
      </p:sp>
      <p:sp>
        <p:nvSpPr>
          <p:cNvPr id="20" name="Shape 15"/>
          <p:cNvSpPr/>
          <p:nvPr/>
        </p:nvSpPr>
        <p:spPr>
          <a:xfrm>
            <a:off x="6336792" y="4096512"/>
            <a:ext cx="502920" cy="502920"/>
          </a:xfrm>
          <a:prstGeom prst="ellipse">
            <a:avLst/>
          </a:prstGeom>
          <a:solidFill>
            <a:srgbClr val="EAF1F6"/>
          </a:solidFill>
          <a:ln/>
        </p:spPr>
      </p:sp>
      <p:pic>
        <p:nvPicPr>
          <p:cNvPr id="21" name="Image 3" descr="preencoded.png"/>
          <p:cNvPicPr>
            <a:picLocks noChangeAspect="1"/>
          </p:cNvPicPr>
          <p:nvPr/>
        </p:nvPicPr>
        <p:blipFill>
          <a:blip r:embed="rId4"/>
          <a:stretch>
            <a:fillRect/>
          </a:stretch>
        </p:blipFill>
        <p:spPr>
          <a:xfrm>
            <a:off x="6464808" y="4224528"/>
            <a:ext cx="246888" cy="246888"/>
          </a:xfrm>
          <a:prstGeom prst="rect">
            <a:avLst/>
          </a:prstGeom>
        </p:spPr>
      </p:pic>
      <p:sp>
        <p:nvSpPr>
          <p:cNvPr id="22" name="Text 16"/>
          <p:cNvSpPr/>
          <p:nvPr/>
        </p:nvSpPr>
        <p:spPr>
          <a:xfrm>
            <a:off x="6995160" y="4059936"/>
            <a:ext cx="3977640" cy="384048"/>
          </a:xfrm>
          <a:prstGeom prst="rect">
            <a:avLst/>
          </a:prstGeom>
          <a:noFill/>
          <a:ln/>
        </p:spPr>
        <p:txBody>
          <a:bodyPr wrap="square" lIns="0" tIns="0" rIns="0" bIns="0" rtlCol="0" anchor="ctr"/>
          <a:lstStyle/>
          <a:p>
            <a:pPr indent="0" marL="0">
              <a:buNone/>
            </a:pPr>
            <a:r>
              <a:rPr lang="en-US" sz="1500" b="1" dirty="0">
                <a:solidFill>
                  <a:srgbClr val="0A2A47"/>
                </a:solidFill>
                <a:latin typeface="Cambria" pitchFamily="34" charset="0"/>
                <a:ea typeface="Cambria" pitchFamily="34" charset="-122"/>
                <a:cs typeface="Cambria" pitchFamily="34" charset="-120"/>
              </a:rPr>
              <a:t>A trusted formation partner</a:t>
            </a:r>
            <a:endParaRPr lang="en-US" sz="1500" dirty="0"/>
          </a:p>
        </p:txBody>
      </p:sp>
      <p:sp>
        <p:nvSpPr>
          <p:cNvPr id="23" name="Text 17"/>
          <p:cNvSpPr/>
          <p:nvPr/>
        </p:nvSpPr>
        <p:spPr>
          <a:xfrm>
            <a:off x="6336792" y="4709160"/>
            <a:ext cx="4608576" cy="777240"/>
          </a:xfrm>
          <a:prstGeom prst="rect">
            <a:avLst/>
          </a:prstGeom>
          <a:noFill/>
          <a:ln/>
        </p:spPr>
        <p:txBody>
          <a:bodyPr wrap="square" lIns="0" tIns="0" rIns="0" bIns="0" rtlCol="0" anchor="t"/>
          <a:lstStyle/>
          <a:p>
            <a:pPr indent="0" marL="0">
              <a:lnSpc>
                <a:spcPct val="120000"/>
              </a:lnSpc>
              <a:buNone/>
            </a:pPr>
            <a:r>
              <a:rPr lang="en-US" sz="1200" dirty="0">
                <a:solidFill>
                  <a:srgbClr val="445563"/>
                </a:solidFill>
                <a:latin typeface="Calibri" pitchFamily="34" charset="0"/>
                <a:ea typeface="Calibri" pitchFamily="34" charset="-122"/>
                <a:cs typeface="Calibri" pitchFamily="34" charset="-120"/>
              </a:rPr>
              <a:t>You get infrastructure for deep leadership development without having to build it yourself.</a:t>
            </a:r>
            <a:endParaRPr lang="en-US" sz="1200" dirty="0"/>
          </a:p>
        </p:txBody>
      </p:sp>
      <p:sp>
        <p:nvSpPr>
          <p:cNvPr id="24" name="Text 1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445563"/>
                </a:solidFill>
                <a:latin typeface="Calibri" pitchFamily="34" charset="0"/>
                <a:ea typeface="Calibri" pitchFamily="34" charset="-122"/>
                <a:cs typeface="Calibri" pitchFamily="34" charset="-120"/>
              </a:rPr>
              <a:t>Living Water Network  |  Referral Partnership</a:t>
            </a:r>
            <a:endParaRPr lang="en-US" sz="900" dirty="0"/>
          </a:p>
        </p:txBody>
      </p:sp>
      <p:sp>
        <p:nvSpPr>
          <p:cNvPr id="25"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44556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A47"/>
        </a:solidFill>
      </p:bgPr>
    </p:bg>
    <p:spTree>
      <p:nvGrpSpPr>
        <p:cNvPr id="1" name=""/>
        <p:cNvGrpSpPr/>
        <p:nvPr/>
      </p:nvGrpSpPr>
      <p:grpSpPr>
        <a:xfrm>
          <a:off x="0" y="0"/>
          <a:ext cx="0" cy="0"/>
          <a:chOff x="0" y="0"/>
          <a:chExt cx="0" cy="0"/>
        </a:xfrm>
      </p:grpSpPr>
      <p:sp>
        <p:nvSpPr>
          <p:cNvPr id="2" name="Text 0"/>
          <p:cNvSpPr/>
          <p:nvPr/>
        </p:nvSpPr>
        <p:spPr>
          <a:xfrm>
            <a:off x="685800" y="54864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to refer someone</a:t>
            </a:r>
            <a:endParaRPr lang="en-US" sz="3200" dirty="0"/>
          </a:p>
        </p:txBody>
      </p:sp>
      <p:sp>
        <p:nvSpPr>
          <p:cNvPr id="3" name="Text 1"/>
          <p:cNvSpPr/>
          <p:nvPr/>
        </p:nvSpPr>
        <p:spPr>
          <a:xfrm>
            <a:off x="685800" y="1207008"/>
            <a:ext cx="7315200" cy="365760"/>
          </a:xfrm>
          <a:prstGeom prst="rect">
            <a:avLst/>
          </a:prstGeom>
          <a:noFill/>
          <a:ln/>
        </p:spPr>
        <p:txBody>
          <a:bodyPr wrap="square" lIns="0" tIns="0" rIns="0" bIns="0" rtlCol="0" anchor="ctr"/>
          <a:lstStyle/>
          <a:p>
            <a:pPr indent="0" marL="0">
              <a:buNone/>
            </a:pPr>
            <a:r>
              <a:rPr lang="en-US" sz="1500" dirty="0">
                <a:solidFill>
                  <a:srgbClr val="7CCBE6"/>
                </a:solidFill>
                <a:latin typeface="Calibri" pitchFamily="34" charset="0"/>
                <a:ea typeface="Calibri" pitchFamily="34" charset="-122"/>
                <a:cs typeface="Calibri" pitchFamily="34" charset="-120"/>
              </a:rPr>
              <a:t>Three easy ways to start</a:t>
            </a:r>
            <a:endParaRPr lang="en-US" sz="1500" dirty="0"/>
          </a:p>
        </p:txBody>
      </p:sp>
      <p:sp>
        <p:nvSpPr>
          <p:cNvPr id="4" name="Shape 2"/>
          <p:cNvSpPr/>
          <p:nvPr/>
        </p:nvSpPr>
        <p:spPr>
          <a:xfrm>
            <a:off x="685800" y="1965960"/>
            <a:ext cx="3429000" cy="2468880"/>
          </a:xfrm>
          <a:prstGeom prst="roundRect">
            <a:avLst>
              <a:gd name="adj" fmla="val 2963"/>
            </a:avLst>
          </a:prstGeom>
          <a:solidFill>
            <a:srgbClr val="0F3A61"/>
          </a:solidFill>
          <a:ln/>
        </p:spPr>
      </p:sp>
      <p:sp>
        <p:nvSpPr>
          <p:cNvPr id="5" name="Shape 3"/>
          <p:cNvSpPr/>
          <p:nvPr/>
        </p:nvSpPr>
        <p:spPr>
          <a:xfrm>
            <a:off x="941832" y="2221992"/>
            <a:ext cx="548640" cy="548640"/>
          </a:xfrm>
          <a:prstGeom prst="ellipse">
            <a:avLst/>
          </a:prstGeom>
          <a:solidFill>
            <a:srgbClr val="C05A12"/>
          </a:solidFill>
          <a:ln/>
        </p:spPr>
      </p:sp>
      <p:pic>
        <p:nvPicPr>
          <p:cNvPr id="6" name="Image 0" descr="preencoded.png"/>
          <p:cNvPicPr>
            <a:picLocks noChangeAspect="1"/>
          </p:cNvPicPr>
          <p:nvPr/>
        </p:nvPicPr>
        <p:blipFill>
          <a:blip r:embed="rId1"/>
          <a:stretch>
            <a:fillRect/>
          </a:stretch>
        </p:blipFill>
        <p:spPr>
          <a:xfrm>
            <a:off x="1069848" y="2350008"/>
            <a:ext cx="292608" cy="292608"/>
          </a:xfrm>
          <a:prstGeom prst="rect">
            <a:avLst/>
          </a:prstGeom>
        </p:spPr>
      </p:pic>
      <p:sp>
        <p:nvSpPr>
          <p:cNvPr id="7" name="Text 4"/>
          <p:cNvSpPr/>
          <p:nvPr/>
        </p:nvSpPr>
        <p:spPr>
          <a:xfrm>
            <a:off x="941832" y="2926080"/>
            <a:ext cx="2916936"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Email us a name</a:t>
            </a:r>
            <a:endParaRPr lang="en-US" sz="1550" dirty="0"/>
          </a:p>
        </p:txBody>
      </p:sp>
      <p:sp>
        <p:nvSpPr>
          <p:cNvPr id="8" name="Text 5"/>
          <p:cNvSpPr/>
          <p:nvPr/>
        </p:nvSpPr>
        <p:spPr>
          <a:xfrm>
            <a:off x="941832" y="3447288"/>
            <a:ext cx="2916936" cy="914400"/>
          </a:xfrm>
          <a:prstGeom prst="rect">
            <a:avLst/>
          </a:prstGeom>
          <a:noFill/>
          <a:ln/>
        </p:spPr>
        <p:txBody>
          <a:bodyPr wrap="square" lIns="0" tIns="0" rIns="0" bIns="0" rtlCol="0" anchor="t"/>
          <a:lstStyle/>
          <a:p>
            <a:pPr indent="0" marL="0">
              <a:lnSpc>
                <a:spcPct val="125000"/>
              </a:lnSpc>
              <a:buNone/>
            </a:pPr>
            <a:r>
              <a:rPr lang="en-US" sz="1200" dirty="0">
                <a:solidFill>
                  <a:srgbClr val="C9D9E5"/>
                </a:solidFill>
                <a:latin typeface="Calibri" pitchFamily="34" charset="0"/>
                <a:ea typeface="Calibri" pitchFamily="34" charset="-122"/>
                <a:cs typeface="Calibri" pitchFamily="34" charset="-120"/>
              </a:rPr>
              <a:t>Send Omar an email with the person's name and best contact — we'll take it from there.</a:t>
            </a:r>
            <a:endParaRPr lang="en-US" sz="1200" dirty="0"/>
          </a:p>
        </p:txBody>
      </p:sp>
      <p:sp>
        <p:nvSpPr>
          <p:cNvPr id="9" name="Shape 6"/>
          <p:cNvSpPr/>
          <p:nvPr/>
        </p:nvSpPr>
        <p:spPr>
          <a:xfrm>
            <a:off x="4389120" y="1965960"/>
            <a:ext cx="3429000" cy="2468880"/>
          </a:xfrm>
          <a:prstGeom prst="roundRect">
            <a:avLst>
              <a:gd name="adj" fmla="val 2963"/>
            </a:avLst>
          </a:prstGeom>
          <a:solidFill>
            <a:srgbClr val="0F3A61"/>
          </a:solidFill>
          <a:ln/>
        </p:spPr>
      </p:sp>
      <p:sp>
        <p:nvSpPr>
          <p:cNvPr id="10" name="Shape 7"/>
          <p:cNvSpPr/>
          <p:nvPr/>
        </p:nvSpPr>
        <p:spPr>
          <a:xfrm>
            <a:off x="4645152" y="2221992"/>
            <a:ext cx="548640" cy="548640"/>
          </a:xfrm>
          <a:prstGeom prst="ellipse">
            <a:avLst/>
          </a:prstGeom>
          <a:solidFill>
            <a:srgbClr val="C05A12"/>
          </a:solidFill>
          <a:ln/>
        </p:spPr>
      </p:sp>
      <p:pic>
        <p:nvPicPr>
          <p:cNvPr id="11" name="Image 1" descr="preencoded.png"/>
          <p:cNvPicPr>
            <a:picLocks noChangeAspect="1"/>
          </p:cNvPicPr>
          <p:nvPr/>
        </p:nvPicPr>
        <p:blipFill>
          <a:blip r:embed="rId2"/>
          <a:stretch>
            <a:fillRect/>
          </a:stretch>
        </p:blipFill>
        <p:spPr>
          <a:xfrm>
            <a:off x="4773168" y="2350008"/>
            <a:ext cx="292608" cy="292608"/>
          </a:xfrm>
          <a:prstGeom prst="rect">
            <a:avLst/>
          </a:prstGeom>
        </p:spPr>
      </p:pic>
      <p:sp>
        <p:nvSpPr>
          <p:cNvPr id="12" name="Text 8"/>
          <p:cNvSpPr/>
          <p:nvPr/>
        </p:nvSpPr>
        <p:spPr>
          <a:xfrm>
            <a:off x="4645152" y="2926080"/>
            <a:ext cx="2916936"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Point them to the application</a:t>
            </a:r>
            <a:endParaRPr lang="en-US" sz="1550" dirty="0"/>
          </a:p>
        </p:txBody>
      </p:sp>
      <p:sp>
        <p:nvSpPr>
          <p:cNvPr id="13" name="Text 9"/>
          <p:cNvSpPr/>
          <p:nvPr/>
        </p:nvSpPr>
        <p:spPr>
          <a:xfrm>
            <a:off x="4645152" y="3447288"/>
            <a:ext cx="2916936" cy="914400"/>
          </a:xfrm>
          <a:prstGeom prst="rect">
            <a:avLst/>
          </a:prstGeom>
          <a:noFill/>
          <a:ln/>
        </p:spPr>
        <p:txBody>
          <a:bodyPr wrap="square" lIns="0" tIns="0" rIns="0" bIns="0" rtlCol="0" anchor="t"/>
          <a:lstStyle/>
          <a:p>
            <a:pPr indent="0" marL="0">
              <a:lnSpc>
                <a:spcPct val="125000"/>
              </a:lnSpc>
              <a:buNone/>
            </a:pPr>
            <a:r>
              <a:rPr lang="en-US" sz="1200" dirty="0">
                <a:solidFill>
                  <a:srgbClr val="C9D9E5"/>
                </a:solidFill>
                <a:latin typeface="Calibri" pitchFamily="34" charset="0"/>
                <a:ea typeface="Calibri" pitchFamily="34" charset="-122"/>
                <a:cs typeface="Calibri" pitchFamily="34" charset="-120"/>
              </a:rPr>
              <a:t>Application opens at lwnetwork.org for the Spring 2027 cohort.</a:t>
            </a:r>
            <a:endParaRPr lang="en-US" sz="1200" dirty="0"/>
          </a:p>
        </p:txBody>
      </p:sp>
      <p:sp>
        <p:nvSpPr>
          <p:cNvPr id="14" name="Shape 10"/>
          <p:cNvSpPr/>
          <p:nvPr/>
        </p:nvSpPr>
        <p:spPr>
          <a:xfrm>
            <a:off x="8092440" y="1965960"/>
            <a:ext cx="3429000" cy="2468880"/>
          </a:xfrm>
          <a:prstGeom prst="roundRect">
            <a:avLst>
              <a:gd name="adj" fmla="val 2963"/>
            </a:avLst>
          </a:prstGeom>
          <a:solidFill>
            <a:srgbClr val="0F3A61"/>
          </a:solidFill>
          <a:ln/>
        </p:spPr>
      </p:sp>
      <p:sp>
        <p:nvSpPr>
          <p:cNvPr id="15" name="Shape 11"/>
          <p:cNvSpPr/>
          <p:nvPr/>
        </p:nvSpPr>
        <p:spPr>
          <a:xfrm>
            <a:off x="8348472" y="2221992"/>
            <a:ext cx="548640" cy="548640"/>
          </a:xfrm>
          <a:prstGeom prst="ellipse">
            <a:avLst/>
          </a:prstGeom>
          <a:solidFill>
            <a:srgbClr val="C05A12"/>
          </a:solidFill>
          <a:ln/>
        </p:spPr>
      </p:sp>
      <p:pic>
        <p:nvPicPr>
          <p:cNvPr id="16" name="Image 2" descr="preencoded.png"/>
          <p:cNvPicPr>
            <a:picLocks noChangeAspect="1"/>
          </p:cNvPicPr>
          <p:nvPr/>
        </p:nvPicPr>
        <p:blipFill>
          <a:blip r:embed="rId3"/>
          <a:stretch>
            <a:fillRect/>
          </a:stretch>
        </p:blipFill>
        <p:spPr>
          <a:xfrm>
            <a:off x="8476488" y="2350008"/>
            <a:ext cx="292608" cy="292608"/>
          </a:xfrm>
          <a:prstGeom prst="rect">
            <a:avLst/>
          </a:prstGeom>
        </p:spPr>
      </p:pic>
      <p:sp>
        <p:nvSpPr>
          <p:cNvPr id="17" name="Text 12"/>
          <p:cNvSpPr/>
          <p:nvPr/>
        </p:nvSpPr>
        <p:spPr>
          <a:xfrm>
            <a:off x="8348472" y="2926080"/>
            <a:ext cx="2916936" cy="5029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Ask us to talk it through</a:t>
            </a:r>
            <a:endParaRPr lang="en-US" sz="1550" dirty="0"/>
          </a:p>
        </p:txBody>
      </p:sp>
      <p:sp>
        <p:nvSpPr>
          <p:cNvPr id="18" name="Text 13"/>
          <p:cNvSpPr/>
          <p:nvPr/>
        </p:nvSpPr>
        <p:spPr>
          <a:xfrm>
            <a:off x="8348472" y="3447288"/>
            <a:ext cx="2916936" cy="914400"/>
          </a:xfrm>
          <a:prstGeom prst="rect">
            <a:avLst/>
          </a:prstGeom>
          <a:noFill/>
          <a:ln/>
        </p:spPr>
        <p:txBody>
          <a:bodyPr wrap="square" lIns="0" tIns="0" rIns="0" bIns="0" rtlCol="0" anchor="t"/>
          <a:lstStyle/>
          <a:p>
            <a:pPr indent="0" marL="0">
              <a:lnSpc>
                <a:spcPct val="125000"/>
              </a:lnSpc>
              <a:buNone/>
            </a:pPr>
            <a:r>
              <a:rPr lang="en-US" sz="1200" dirty="0">
                <a:solidFill>
                  <a:srgbClr val="C9D9E5"/>
                </a:solidFill>
                <a:latin typeface="Calibri" pitchFamily="34" charset="0"/>
                <a:ea typeface="Calibri" pitchFamily="34" charset="-122"/>
                <a:cs typeface="Calibri" pitchFamily="34" charset="-120"/>
              </a:rPr>
              <a:t>Not sure if it's a fit? We're glad to talk through a specific person with you first.</a:t>
            </a:r>
            <a:endParaRPr lang="en-US" sz="1200" dirty="0"/>
          </a:p>
        </p:txBody>
      </p:sp>
      <p:sp>
        <p:nvSpPr>
          <p:cNvPr id="19" name="Shape 14"/>
          <p:cNvSpPr/>
          <p:nvPr/>
        </p:nvSpPr>
        <p:spPr>
          <a:xfrm>
            <a:off x="685800" y="4709160"/>
            <a:ext cx="10835640" cy="1371600"/>
          </a:xfrm>
          <a:prstGeom prst="roundRect">
            <a:avLst>
              <a:gd name="adj" fmla="val 5333"/>
            </a:avLst>
          </a:prstGeom>
          <a:solidFill>
            <a:srgbClr val="FFFFFF"/>
          </a:solidFill>
          <a:ln/>
        </p:spPr>
      </p:sp>
      <p:sp>
        <p:nvSpPr>
          <p:cNvPr id="20" name="Text 15"/>
          <p:cNvSpPr/>
          <p:nvPr/>
        </p:nvSpPr>
        <p:spPr>
          <a:xfrm>
            <a:off x="1005840" y="4937760"/>
            <a:ext cx="5120640" cy="365760"/>
          </a:xfrm>
          <a:prstGeom prst="rect">
            <a:avLst/>
          </a:prstGeom>
          <a:noFill/>
          <a:ln/>
        </p:spPr>
        <p:txBody>
          <a:bodyPr wrap="square" lIns="0" tIns="0" rIns="0" bIns="0" rtlCol="0" anchor="ctr"/>
          <a:lstStyle/>
          <a:p>
            <a:pPr indent="0" marL="0">
              <a:buNone/>
            </a:pPr>
            <a:r>
              <a:rPr lang="en-US" sz="1500" b="1" dirty="0">
                <a:solidFill>
                  <a:srgbClr val="0A2A47"/>
                </a:solidFill>
                <a:latin typeface="Cambria" pitchFamily="34" charset="0"/>
                <a:ea typeface="Cambria" pitchFamily="34" charset="-122"/>
                <a:cs typeface="Cambria" pitchFamily="34" charset="-120"/>
              </a:rPr>
              <a:t>Omar J. Fandino, Founder &amp; CEO</a:t>
            </a:r>
            <a:endParaRPr lang="en-US" sz="1500" dirty="0"/>
          </a:p>
        </p:txBody>
      </p:sp>
      <p:sp>
        <p:nvSpPr>
          <p:cNvPr id="21" name="Text 16"/>
          <p:cNvSpPr/>
          <p:nvPr/>
        </p:nvSpPr>
        <p:spPr>
          <a:xfrm>
            <a:off x="1005840" y="5285232"/>
            <a:ext cx="5120640" cy="320040"/>
          </a:xfrm>
          <a:prstGeom prst="rect">
            <a:avLst/>
          </a:prstGeom>
          <a:noFill/>
          <a:ln/>
        </p:spPr>
        <p:txBody>
          <a:bodyPr wrap="square" lIns="0" tIns="0" rIns="0" bIns="0" rtlCol="0" anchor="ctr"/>
          <a:lstStyle/>
          <a:p>
            <a:pPr indent="0" marL="0">
              <a:buNone/>
            </a:pPr>
            <a:r>
              <a:rPr lang="en-US" sz="1300" b="1" dirty="0">
                <a:solidFill>
                  <a:srgbClr val="C05A12"/>
                </a:solidFill>
                <a:latin typeface="Calibri" pitchFamily="34" charset="0"/>
                <a:ea typeface="Calibri" pitchFamily="34" charset="-122"/>
                <a:cs typeface="Calibri" pitchFamily="34" charset="-120"/>
              </a:rPr>
              <a:t>ofandino@lwnetwork.org</a:t>
            </a:r>
            <a:endParaRPr lang="en-US" sz="1300" dirty="0"/>
          </a:p>
        </p:txBody>
      </p:sp>
      <p:sp>
        <p:nvSpPr>
          <p:cNvPr id="22" name="Text 17"/>
          <p:cNvSpPr/>
          <p:nvPr/>
        </p:nvSpPr>
        <p:spPr>
          <a:xfrm>
            <a:off x="1005840" y="5577840"/>
            <a:ext cx="5120640" cy="320040"/>
          </a:xfrm>
          <a:prstGeom prst="rect">
            <a:avLst/>
          </a:prstGeom>
          <a:noFill/>
          <a:ln/>
        </p:spPr>
        <p:txBody>
          <a:bodyPr wrap="square" lIns="0" tIns="0" rIns="0" bIns="0" rtlCol="0" anchor="ctr"/>
          <a:lstStyle/>
          <a:p>
            <a:pPr indent="0" marL="0">
              <a:buNone/>
            </a:pPr>
            <a:r>
              <a:rPr lang="en-US" sz="1300" dirty="0">
                <a:solidFill>
                  <a:srgbClr val="445563"/>
                </a:solidFill>
                <a:latin typeface="Calibri" pitchFamily="34" charset="0"/>
                <a:ea typeface="Calibri" pitchFamily="34" charset="-122"/>
                <a:cs typeface="Calibri" pitchFamily="34" charset="-120"/>
              </a:rPr>
              <a:t>lwnetwork.org</a:t>
            </a:r>
            <a:endParaRPr lang="en-US" sz="1300" dirty="0"/>
          </a:p>
        </p:txBody>
      </p:sp>
      <p:sp>
        <p:nvSpPr>
          <p:cNvPr id="23" name="Text 18"/>
          <p:cNvSpPr/>
          <p:nvPr/>
        </p:nvSpPr>
        <p:spPr>
          <a:xfrm>
            <a:off x="6309360" y="5074920"/>
            <a:ext cx="5029200" cy="731520"/>
          </a:xfrm>
          <a:prstGeom prst="rect">
            <a:avLst/>
          </a:prstGeom>
          <a:noFill/>
          <a:ln/>
        </p:spPr>
        <p:txBody>
          <a:bodyPr wrap="square" lIns="0" tIns="0" rIns="0" bIns="0" rtlCol="0" anchor="ctr"/>
          <a:lstStyle/>
          <a:p>
            <a:pPr indent="0" marL="0">
              <a:lnSpc>
                <a:spcPct val="120000"/>
              </a:lnSpc>
              <a:buNone/>
            </a:pPr>
            <a:r>
              <a:rPr lang="en-US" sz="1250" i="1" dirty="0">
                <a:solidFill>
                  <a:srgbClr val="445563"/>
                </a:solidFill>
                <a:latin typeface="Calibri" pitchFamily="34" charset="0"/>
                <a:ea typeface="Calibri" pitchFamily="34" charset="-122"/>
                <a:cs typeface="Calibri" pitchFamily="34" charset="-120"/>
              </a:rPr>
              <a:t>Application link: lwnetwork.org/cohort</a:t>
            </a:r>
            <a:endParaRPr lang="en-US" sz="1250" dirty="0"/>
          </a:p>
        </p:txBody>
      </p:sp>
      <p:sp>
        <p:nvSpPr>
          <p:cNvPr id="24" name="Text 19"/>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AEC3D4"/>
                </a:solidFill>
                <a:latin typeface="Calibri" pitchFamily="34" charset="0"/>
                <a:ea typeface="Calibri" pitchFamily="34" charset="-122"/>
                <a:cs typeface="Calibri" pitchFamily="34" charset="-120"/>
              </a:rPr>
              <a:t>Living Water Network  |  Referral Partnership</a:t>
            </a:r>
            <a:endParaRPr lang="en-US" sz="900" dirty="0"/>
          </a:p>
        </p:txBody>
      </p:sp>
      <p:sp>
        <p:nvSpPr>
          <p:cNvPr id="25" name="Text 2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AEC3D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A47"/>
        </a:solidFill>
      </p:bgPr>
    </p:bg>
    <p:spTree>
      <p:nvGrpSpPr>
        <p:cNvPr id="1" name=""/>
        <p:cNvGrpSpPr/>
        <p:nvPr/>
      </p:nvGrpSpPr>
      <p:grpSpPr>
        <a:xfrm>
          <a:off x="0" y="0"/>
          <a:ext cx="0" cy="0"/>
          <a:chOff x="0" y="0"/>
          <a:chExt cx="0" cy="0"/>
        </a:xfrm>
      </p:grpSpPr>
      <p:sp>
        <p:nvSpPr>
          <p:cNvPr id="2" name="Shape 0"/>
          <p:cNvSpPr/>
          <p:nvPr/>
        </p:nvSpPr>
        <p:spPr>
          <a:xfrm>
            <a:off x="8961120" y="-1645920"/>
            <a:ext cx="5029200" cy="5029200"/>
          </a:xfrm>
          <a:prstGeom prst="ellipse">
            <a:avLst/>
          </a:prstGeom>
          <a:solidFill>
            <a:srgbClr val="0F3A61"/>
          </a:solidFill>
          <a:ln/>
        </p:spPr>
      </p:sp>
      <p:pic>
        <p:nvPicPr>
          <p:cNvPr id="3" name="Image 0" descr="/tmp/lwn_deck/images/logo.png"/>
          <p:cNvPicPr>
            <a:picLocks noChangeAspect="1"/>
          </p:cNvPicPr>
          <p:nvPr/>
        </p:nvPicPr>
        <p:blipFill>
          <a:blip r:embed="rId1"/>
          <a:stretch>
            <a:fillRect/>
          </a:stretch>
        </p:blipFill>
        <p:spPr>
          <a:xfrm>
            <a:off x="5184648" y="1554480"/>
            <a:ext cx="914400" cy="914400"/>
          </a:xfrm>
          <a:prstGeom prst="rect">
            <a:avLst/>
          </a:prstGeom>
        </p:spPr>
      </p:pic>
      <p:sp>
        <p:nvSpPr>
          <p:cNvPr id="4" name="Text 1"/>
          <p:cNvSpPr/>
          <p:nvPr/>
        </p:nvSpPr>
        <p:spPr>
          <a:xfrm>
            <a:off x="685800" y="2697480"/>
            <a:ext cx="1083564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Rooted in truth. Sent to lead.</a:t>
            </a:r>
            <a:endParaRPr lang="en-US" sz="3000" dirty="0"/>
          </a:p>
        </p:txBody>
      </p:sp>
      <p:sp>
        <p:nvSpPr>
          <p:cNvPr id="5" name="Text 2"/>
          <p:cNvSpPr/>
          <p:nvPr/>
        </p:nvSpPr>
        <p:spPr>
          <a:xfrm>
            <a:off x="685800" y="3337560"/>
            <a:ext cx="10835640" cy="457200"/>
          </a:xfrm>
          <a:prstGeom prst="rect">
            <a:avLst/>
          </a:prstGeom>
          <a:noFill/>
          <a:ln/>
        </p:spPr>
        <p:txBody>
          <a:bodyPr wrap="square" lIns="0" tIns="0" rIns="0" bIns="0" rtlCol="0" anchor="ctr"/>
          <a:lstStyle/>
          <a:p>
            <a:pPr algn="ctr" indent="0" marL="0">
              <a:buNone/>
            </a:pPr>
            <a:r>
              <a:rPr lang="en-US" sz="1500" i="1" dirty="0">
                <a:solidFill>
                  <a:srgbClr val="7CCBE6"/>
                </a:solidFill>
                <a:latin typeface="Calibri" pitchFamily="34" charset="0"/>
                <a:ea typeface="Calibri" pitchFamily="34" charset="-122"/>
                <a:cs typeface="Calibri" pitchFamily="34" charset="-120"/>
              </a:rPr>
              <a:t>Equipping Kingdom leaders to disrupt darkness and disciple nations.</a:t>
            </a:r>
            <a:endParaRPr lang="en-US" sz="1500" dirty="0"/>
          </a:p>
        </p:txBody>
      </p:sp>
      <p:sp>
        <p:nvSpPr>
          <p:cNvPr id="6" name="Text 3"/>
          <p:cNvSpPr/>
          <p:nvPr/>
        </p:nvSpPr>
        <p:spPr>
          <a:xfrm>
            <a:off x="685800" y="5989320"/>
            <a:ext cx="10835640" cy="320040"/>
          </a:xfrm>
          <a:prstGeom prst="rect">
            <a:avLst/>
          </a:prstGeom>
          <a:noFill/>
          <a:ln/>
        </p:spPr>
        <p:txBody>
          <a:bodyPr wrap="square" lIns="0" tIns="0" rIns="0" bIns="0" rtlCol="0" anchor="ctr"/>
          <a:lstStyle/>
          <a:p>
            <a:pPr algn="ctr" indent="0" marL="0">
              <a:buNone/>
            </a:pPr>
            <a:r>
              <a:rPr lang="en-US" sz="1100" dirty="0">
                <a:solidFill>
                  <a:srgbClr val="8FA6B8"/>
                </a:solidFill>
                <a:latin typeface="Calibri" pitchFamily="34" charset="0"/>
                <a:ea typeface="Calibri" pitchFamily="34" charset="-122"/>
                <a:cs typeface="Calibri" pitchFamily="34" charset="-120"/>
              </a:rPr>
              <a:t>Living Water Network Inc.  |  Georgia 501(c)(3)  |  EIN 93-1859873</a:t>
            </a:r>
            <a:endParaRPr lang="en-US" sz="1100" dirty="0"/>
          </a:p>
        </p:txBody>
      </p:sp>
      <p:sp>
        <p:nvSpPr>
          <p:cNvPr id="7" name="Text 4"/>
          <p:cNvSpPr/>
          <p:nvPr/>
        </p:nvSpPr>
        <p:spPr>
          <a:xfrm>
            <a:off x="685800" y="6263640"/>
            <a:ext cx="10835640" cy="320040"/>
          </a:xfrm>
          <a:prstGeom prst="rect">
            <a:avLst/>
          </a:prstGeom>
          <a:noFill/>
          <a:ln/>
        </p:spPr>
        <p:txBody>
          <a:bodyPr wrap="square" lIns="0" tIns="0" rIns="0" bIns="0" rtlCol="0" anchor="ctr"/>
          <a:lstStyle/>
          <a:p>
            <a:pPr algn="ctr" indent="0" marL="0">
              <a:buNone/>
            </a:pPr>
            <a:r>
              <a:rPr lang="en-US" sz="1100" dirty="0">
                <a:solidFill>
                  <a:srgbClr val="8FA6B8"/>
                </a:solidFill>
                <a:latin typeface="Calibri" pitchFamily="34" charset="0"/>
                <a:ea typeface="Calibri" pitchFamily="34" charset="-122"/>
                <a:cs typeface="Calibri" pitchFamily="34" charset="-120"/>
              </a:rPr>
              <a:t>lwnetwork.org  ·  ofandino@lwnetwork.org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LWN Referral Partnership Deck</dc:title>
  <dc:subject>PptxGenJS Presentation</dc:subject>
  <dc:creator>Living Water Network</dc:creator>
  <cp:lastModifiedBy>Living Water Network</cp:lastModifiedBy>
  <cp:revision>1</cp:revision>
  <dcterms:created xsi:type="dcterms:W3CDTF">2026-07-05T07:24:09Z</dcterms:created>
  <dcterms:modified xsi:type="dcterms:W3CDTF">2026-07-05T07:24:09Z</dcterms:modified>
</cp:coreProperties>
</file>